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140"/>
  </p:notesMasterIdLst>
  <p:sldIdLst>
    <p:sldId id="257" r:id="rId2"/>
    <p:sldId id="327" r:id="rId3"/>
    <p:sldId id="335" r:id="rId4"/>
    <p:sldId id="345" r:id="rId5"/>
    <p:sldId id="357" r:id="rId6"/>
    <p:sldId id="358" r:id="rId7"/>
    <p:sldId id="359" r:id="rId8"/>
    <p:sldId id="328" r:id="rId9"/>
    <p:sldId id="341" r:id="rId10"/>
    <p:sldId id="346" r:id="rId11"/>
    <p:sldId id="347" r:id="rId12"/>
    <p:sldId id="348" r:id="rId13"/>
    <p:sldId id="349" r:id="rId14"/>
    <p:sldId id="350" r:id="rId15"/>
    <p:sldId id="351" r:id="rId16"/>
    <p:sldId id="362" r:id="rId17"/>
    <p:sldId id="360" r:id="rId18"/>
    <p:sldId id="361" r:id="rId19"/>
    <p:sldId id="352" r:id="rId20"/>
    <p:sldId id="353" r:id="rId21"/>
    <p:sldId id="354" r:id="rId22"/>
    <p:sldId id="355" r:id="rId23"/>
    <p:sldId id="356" r:id="rId24"/>
    <p:sldId id="329" r:id="rId25"/>
    <p:sldId id="344" r:id="rId26"/>
    <p:sldId id="363" r:id="rId27"/>
    <p:sldId id="369" r:id="rId28"/>
    <p:sldId id="370" r:id="rId29"/>
    <p:sldId id="371" r:id="rId30"/>
    <p:sldId id="372"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373" r:id="rId49"/>
    <p:sldId id="456" r:id="rId50"/>
    <p:sldId id="457" r:id="rId51"/>
    <p:sldId id="458" r:id="rId52"/>
    <p:sldId id="374" r:id="rId53"/>
    <p:sldId id="417" r:id="rId54"/>
    <p:sldId id="375" r:id="rId55"/>
    <p:sldId id="418" r:id="rId56"/>
    <p:sldId id="376" r:id="rId57"/>
    <p:sldId id="419" r:id="rId58"/>
    <p:sldId id="377" r:id="rId59"/>
    <p:sldId id="420" r:id="rId60"/>
    <p:sldId id="378" r:id="rId61"/>
    <p:sldId id="421" r:id="rId62"/>
    <p:sldId id="379" r:id="rId63"/>
    <p:sldId id="465" r:id="rId64"/>
    <p:sldId id="467" r:id="rId65"/>
    <p:sldId id="466" r:id="rId66"/>
    <p:sldId id="468" r:id="rId67"/>
    <p:sldId id="380" r:id="rId68"/>
    <p:sldId id="463" r:id="rId69"/>
    <p:sldId id="464" r:id="rId70"/>
    <p:sldId id="469" r:id="rId71"/>
    <p:sldId id="381" r:id="rId72"/>
    <p:sldId id="382" r:id="rId73"/>
    <p:sldId id="470" r:id="rId74"/>
    <p:sldId id="383" r:id="rId75"/>
    <p:sldId id="471" r:id="rId76"/>
    <p:sldId id="472" r:id="rId77"/>
    <p:sldId id="473" r:id="rId78"/>
    <p:sldId id="474" r:id="rId79"/>
    <p:sldId id="384" r:id="rId80"/>
    <p:sldId id="392" r:id="rId81"/>
    <p:sldId id="385" r:id="rId82"/>
    <p:sldId id="460" r:id="rId83"/>
    <p:sldId id="461" r:id="rId84"/>
    <p:sldId id="462" r:id="rId85"/>
    <p:sldId id="393" r:id="rId86"/>
    <p:sldId id="394" r:id="rId87"/>
    <p:sldId id="386" r:id="rId88"/>
    <p:sldId id="396" r:id="rId89"/>
    <p:sldId id="422" r:id="rId90"/>
    <p:sldId id="431" r:id="rId91"/>
    <p:sldId id="395" r:id="rId92"/>
    <p:sldId id="387" r:id="rId93"/>
    <p:sldId id="423" r:id="rId94"/>
    <p:sldId id="432" r:id="rId95"/>
    <p:sldId id="388" r:id="rId96"/>
    <p:sldId id="424" r:id="rId97"/>
    <p:sldId id="433" r:id="rId98"/>
    <p:sldId id="389" r:id="rId99"/>
    <p:sldId id="434" r:id="rId100"/>
    <p:sldId id="435" r:id="rId101"/>
    <p:sldId id="425" r:id="rId102"/>
    <p:sldId id="397" r:id="rId103"/>
    <p:sldId id="398" r:id="rId104"/>
    <p:sldId id="399" r:id="rId105"/>
    <p:sldId id="400" r:id="rId106"/>
    <p:sldId id="426" r:id="rId107"/>
    <p:sldId id="436" r:id="rId108"/>
    <p:sldId id="437" r:id="rId109"/>
    <p:sldId id="438" r:id="rId110"/>
    <p:sldId id="390" r:id="rId111"/>
    <p:sldId id="401" r:id="rId112"/>
    <p:sldId id="402" r:id="rId113"/>
    <p:sldId id="403" r:id="rId114"/>
    <p:sldId id="427" r:id="rId115"/>
    <p:sldId id="404" r:id="rId116"/>
    <p:sldId id="405" r:id="rId117"/>
    <p:sldId id="406" r:id="rId118"/>
    <p:sldId id="407" r:id="rId119"/>
    <p:sldId id="391" r:id="rId120"/>
    <p:sldId id="428" r:id="rId121"/>
    <p:sldId id="409" r:id="rId122"/>
    <p:sldId id="410" r:id="rId123"/>
    <p:sldId id="411" r:id="rId124"/>
    <p:sldId id="412" r:id="rId125"/>
    <p:sldId id="413" r:id="rId126"/>
    <p:sldId id="414" r:id="rId127"/>
    <p:sldId id="415" r:id="rId128"/>
    <p:sldId id="429" r:id="rId129"/>
    <p:sldId id="416" r:id="rId130"/>
    <p:sldId id="430" r:id="rId131"/>
    <p:sldId id="330" r:id="rId132"/>
    <p:sldId id="364" r:id="rId133"/>
    <p:sldId id="365" r:id="rId134"/>
    <p:sldId id="366" r:id="rId135"/>
    <p:sldId id="367" r:id="rId136"/>
    <p:sldId id="368" r:id="rId137"/>
    <p:sldId id="408" r:id="rId138"/>
    <p:sldId id="459" r:id="rId139"/>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D03"/>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0239" autoAdjust="0"/>
  </p:normalViewPr>
  <p:slideViewPr>
    <p:cSldViewPr>
      <p:cViewPr varScale="1">
        <p:scale>
          <a:sx n="63" d="100"/>
          <a:sy n="63" d="100"/>
        </p:scale>
        <p:origin x="159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94019112-55DC-45E6-BEFC-4E046AC124EE}" type="datetimeFigureOut">
              <a:rPr lang="fa-IR" smtClean="0"/>
              <a:t>04/07/1447</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4B069EB2-F581-48C2-B5EF-E77B63A69A3B}" type="slidenum">
              <a:rPr lang="fa-IR" smtClean="0"/>
              <a:t>‹#›</a:t>
            </a:fld>
            <a:endParaRPr lang="fa-IR"/>
          </a:p>
        </p:txBody>
      </p:sp>
    </p:spTree>
    <p:extLst>
      <p:ext uri="{BB962C8B-B14F-4D97-AF65-F5344CB8AC3E}">
        <p14:creationId xmlns:p14="http://schemas.microsoft.com/office/powerpoint/2010/main" val="4918046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069EB2-F581-48C2-B5EF-E77B63A69A3B}" type="slidenum">
              <a:rPr lang="fa-IR" smtClean="0"/>
              <a:t>82</a:t>
            </a:fld>
            <a:endParaRPr lang="fa-IR"/>
          </a:p>
        </p:txBody>
      </p:sp>
    </p:spTree>
    <p:extLst>
      <p:ext uri="{BB962C8B-B14F-4D97-AF65-F5344CB8AC3E}">
        <p14:creationId xmlns:p14="http://schemas.microsoft.com/office/powerpoint/2010/main" val="2769317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793B6-2070-0FBC-AD07-81A34A4FF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12911-889C-CCC7-73D2-70F3BD9181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BBB252-A68F-28AF-7853-EF8B484352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42D81A-EDEF-CC05-6997-787137FA557C}"/>
              </a:ext>
            </a:extLst>
          </p:cNvPr>
          <p:cNvSpPr>
            <a:spLocks noGrp="1"/>
          </p:cNvSpPr>
          <p:nvPr>
            <p:ph type="sldNum" sz="quarter" idx="5"/>
          </p:nvPr>
        </p:nvSpPr>
        <p:spPr/>
        <p:txBody>
          <a:bodyPr/>
          <a:lstStyle/>
          <a:p>
            <a:fld id="{4B069EB2-F581-48C2-B5EF-E77B63A69A3B}" type="slidenum">
              <a:rPr lang="fa-IR" smtClean="0"/>
              <a:t>83</a:t>
            </a:fld>
            <a:endParaRPr lang="fa-IR"/>
          </a:p>
        </p:txBody>
      </p:sp>
    </p:spTree>
    <p:extLst>
      <p:ext uri="{BB962C8B-B14F-4D97-AF65-F5344CB8AC3E}">
        <p14:creationId xmlns:p14="http://schemas.microsoft.com/office/powerpoint/2010/main" val="1779779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B99BA-10D2-3587-7F03-6C61387E4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12F49-E63E-7349-309D-AD26FCE1B9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3512B3-C3A3-3972-425C-F24D9465E2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8D387A-4D6A-8119-A376-5267D65E7C51}"/>
              </a:ext>
            </a:extLst>
          </p:cNvPr>
          <p:cNvSpPr>
            <a:spLocks noGrp="1"/>
          </p:cNvSpPr>
          <p:nvPr>
            <p:ph type="sldNum" sz="quarter" idx="5"/>
          </p:nvPr>
        </p:nvSpPr>
        <p:spPr/>
        <p:txBody>
          <a:bodyPr/>
          <a:lstStyle/>
          <a:p>
            <a:fld id="{4B069EB2-F581-48C2-B5EF-E77B63A69A3B}" type="slidenum">
              <a:rPr lang="fa-IR" smtClean="0"/>
              <a:t>84</a:t>
            </a:fld>
            <a:endParaRPr lang="fa-IR"/>
          </a:p>
        </p:txBody>
      </p:sp>
    </p:spTree>
    <p:extLst>
      <p:ext uri="{BB962C8B-B14F-4D97-AF65-F5344CB8AC3E}">
        <p14:creationId xmlns:p14="http://schemas.microsoft.com/office/powerpoint/2010/main" val="339821749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標題投影片">
    <p:spTree>
      <p:nvGrpSpPr>
        <p:cNvPr id="1" name=""/>
        <p:cNvGrpSpPr/>
        <p:nvPr/>
      </p:nvGrpSpPr>
      <p:grpSpPr>
        <a:xfrm>
          <a:off x="0" y="0"/>
          <a:ext cx="0" cy="0"/>
          <a:chOff x="0" y="0"/>
          <a:chExt cx="0" cy="0"/>
        </a:xfrm>
      </p:grpSpPr>
      <p:sp>
        <p:nvSpPr>
          <p:cNvPr id="4" name="Rectangle 73"/>
          <p:cNvSpPr>
            <a:spLocks noChangeArrowheads="1"/>
          </p:cNvSpPr>
          <p:nvPr/>
        </p:nvSpPr>
        <p:spPr bwMode="gray">
          <a:xfrm>
            <a:off x="1698625" y="3705225"/>
            <a:ext cx="742950" cy="7429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5" name="Rectangle 44" descr="3"/>
          <p:cNvSpPr>
            <a:spLocks noChangeArrowheads="1"/>
          </p:cNvSpPr>
          <p:nvPr/>
        </p:nvSpPr>
        <p:spPr bwMode="gray">
          <a:xfrm>
            <a:off x="2492375" y="4510088"/>
            <a:ext cx="742950" cy="74453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6" name="Rectangle 34" descr="5"/>
          <p:cNvSpPr>
            <a:spLocks noChangeArrowheads="1"/>
          </p:cNvSpPr>
          <p:nvPr/>
        </p:nvSpPr>
        <p:spPr bwMode="gray">
          <a:xfrm>
            <a:off x="915988" y="4510088"/>
            <a:ext cx="742950" cy="7445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 name="Rectangle 59"/>
          <p:cNvSpPr>
            <a:spLocks noChangeArrowheads="1"/>
          </p:cNvSpPr>
          <p:nvPr/>
        </p:nvSpPr>
        <p:spPr bwMode="gray">
          <a:xfrm>
            <a:off x="1703388" y="5314950"/>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8" name="Rectangle 54"/>
          <p:cNvSpPr>
            <a:spLocks noChangeArrowheads="1"/>
          </p:cNvSpPr>
          <p:nvPr/>
        </p:nvSpPr>
        <p:spPr bwMode="gray">
          <a:xfrm>
            <a:off x="128588" y="3705225"/>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9" name="Rectangle 56"/>
          <p:cNvSpPr>
            <a:spLocks noChangeArrowheads="1"/>
          </p:cNvSpPr>
          <p:nvPr/>
        </p:nvSpPr>
        <p:spPr bwMode="gray">
          <a:xfrm>
            <a:off x="2492375" y="3705225"/>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grpSp>
        <p:nvGrpSpPr>
          <p:cNvPr id="10" name="Group 75"/>
          <p:cNvGrpSpPr>
            <a:grpSpLocks/>
          </p:cNvGrpSpPr>
          <p:nvPr/>
        </p:nvGrpSpPr>
        <p:grpSpPr bwMode="auto">
          <a:xfrm>
            <a:off x="112713" y="5954713"/>
            <a:ext cx="8936037" cy="631825"/>
            <a:chOff x="71" y="3751"/>
            <a:chExt cx="5629" cy="398"/>
          </a:xfrm>
        </p:grpSpPr>
        <p:sp>
          <p:nvSpPr>
            <p:cNvPr id="11" name="Freeform 24"/>
            <p:cNvSpPr>
              <a:spLocks/>
            </p:cNvSpPr>
            <p:nvPr userDrawn="1"/>
          </p:nvSpPr>
          <p:spPr bwMode="gray">
            <a:xfrm>
              <a:off x="71" y="3751"/>
              <a:ext cx="5626" cy="349"/>
            </a:xfrm>
            <a:custGeom>
              <a:avLst/>
              <a:gdLst>
                <a:gd name="T0" fmla="*/ 5626 w 5626"/>
                <a:gd name="T1" fmla="*/ 349 h 349"/>
                <a:gd name="T2" fmla="*/ 0 w 5626"/>
                <a:gd name="T3" fmla="*/ 349 h 349"/>
                <a:gd name="T4" fmla="*/ 0 w 5626"/>
                <a:gd name="T5" fmla="*/ 187 h 349"/>
                <a:gd name="T6" fmla="*/ 0 w 5626"/>
                <a:gd name="T7" fmla="*/ 114 h 349"/>
                <a:gd name="T8" fmla="*/ 4064 w 5626"/>
                <a:gd name="T9" fmla="*/ 118 h 349"/>
                <a:gd name="T10" fmla="*/ 4329 w 5626"/>
                <a:gd name="T11" fmla="*/ 0 h 349"/>
                <a:gd name="T12" fmla="*/ 5623 w 5626"/>
                <a:gd name="T13" fmla="*/ 0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78" y="103"/>
                    <a:pt x="3343" y="137"/>
                    <a:pt x="4064" y="118"/>
                  </a:cubicBezTo>
                  <a:lnTo>
                    <a:pt x="4329" y="0"/>
                  </a:lnTo>
                  <a:lnTo>
                    <a:pt x="5623" y="0"/>
                  </a:lnTo>
                  <a:lnTo>
                    <a:pt x="5626" y="3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2" name="Freeform 25"/>
            <p:cNvSpPr>
              <a:spLocks/>
            </p:cNvSpPr>
            <p:nvPr userDrawn="1"/>
          </p:nvSpPr>
          <p:spPr bwMode="gray">
            <a:xfrm>
              <a:off x="71" y="3800"/>
              <a:ext cx="5626" cy="349"/>
            </a:xfrm>
            <a:custGeom>
              <a:avLst/>
              <a:gdLst>
                <a:gd name="T0" fmla="*/ 5626 w 5626"/>
                <a:gd name="T1" fmla="*/ 349 h 349"/>
                <a:gd name="T2" fmla="*/ 0 w 5626"/>
                <a:gd name="T3" fmla="*/ 349 h 349"/>
                <a:gd name="T4" fmla="*/ 0 w 5626"/>
                <a:gd name="T5" fmla="*/ 187 h 349"/>
                <a:gd name="T6" fmla="*/ 0 w 5626"/>
                <a:gd name="T7" fmla="*/ 114 h 349"/>
                <a:gd name="T8" fmla="*/ 4082 w 5626"/>
                <a:gd name="T9" fmla="*/ 118 h 349"/>
                <a:gd name="T10" fmla="*/ 4345 w 5626"/>
                <a:gd name="T11" fmla="*/ 0 h 349"/>
                <a:gd name="T12" fmla="*/ 5623 w 5626"/>
                <a:gd name="T13" fmla="*/ 6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80" y="103"/>
                    <a:pt x="3358" y="137"/>
                    <a:pt x="4082" y="118"/>
                  </a:cubicBezTo>
                  <a:lnTo>
                    <a:pt x="4345" y="0"/>
                  </a:lnTo>
                  <a:lnTo>
                    <a:pt x="5623" y="6"/>
                  </a:lnTo>
                  <a:lnTo>
                    <a:pt x="5626" y="3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3" name="Freeform 26"/>
            <p:cNvSpPr>
              <a:spLocks/>
            </p:cNvSpPr>
            <p:nvPr userDrawn="1"/>
          </p:nvSpPr>
          <p:spPr bwMode="gray">
            <a:xfrm>
              <a:off x="4209" y="3833"/>
              <a:ext cx="1491" cy="88"/>
            </a:xfrm>
            <a:custGeom>
              <a:avLst/>
              <a:gdLst>
                <a:gd name="T0" fmla="*/ 0 w 1491"/>
                <a:gd name="T1" fmla="*/ 84 h 88"/>
                <a:gd name="T2" fmla="*/ 223 w 1491"/>
                <a:gd name="T3" fmla="*/ 0 h 88"/>
                <a:gd name="T4" fmla="*/ 1491 w 1491"/>
                <a:gd name="T5" fmla="*/ 0 h 88"/>
                <a:gd name="T6" fmla="*/ 1488 w 1491"/>
                <a:gd name="T7" fmla="*/ 60 h 88"/>
                <a:gd name="T8" fmla="*/ 383 w 1491"/>
                <a:gd name="T9" fmla="*/ 59 h 88"/>
                <a:gd name="T10" fmla="*/ 273 w 1491"/>
                <a:gd name="T11" fmla="*/ 88 h 88"/>
                <a:gd name="T12" fmla="*/ 0 w 1491"/>
                <a:gd name="T13" fmla="*/ 84 h 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91" h="88">
                  <a:moveTo>
                    <a:pt x="0" y="84"/>
                  </a:moveTo>
                  <a:lnTo>
                    <a:pt x="223" y="0"/>
                  </a:lnTo>
                  <a:lnTo>
                    <a:pt x="1491" y="0"/>
                  </a:lnTo>
                  <a:lnTo>
                    <a:pt x="1488" y="60"/>
                  </a:lnTo>
                  <a:lnTo>
                    <a:pt x="383" y="59"/>
                  </a:lnTo>
                  <a:lnTo>
                    <a:pt x="273" y="88"/>
                  </a:lnTo>
                  <a:lnTo>
                    <a:pt x="0" y="84"/>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grpSp>
        <p:nvGrpSpPr>
          <p:cNvPr id="14" name="Group 7"/>
          <p:cNvGrpSpPr>
            <a:grpSpLocks/>
          </p:cNvGrpSpPr>
          <p:nvPr/>
        </p:nvGrpSpPr>
        <p:grpSpPr bwMode="auto">
          <a:xfrm rot="10800000">
            <a:off x="6003925" y="1778000"/>
            <a:ext cx="2768600" cy="779463"/>
            <a:chOff x="1566" y="164"/>
            <a:chExt cx="1455" cy="425"/>
          </a:xfrm>
        </p:grpSpPr>
        <p:sp>
          <p:nvSpPr>
            <p:cNvPr id="15" name="Freeform 8"/>
            <p:cNvSpPr>
              <a:spLocks/>
            </p:cNvSpPr>
            <p:nvPr/>
          </p:nvSpPr>
          <p:spPr bwMode="gray">
            <a:xfrm>
              <a:off x="1894" y="468"/>
              <a:ext cx="38" cy="121"/>
            </a:xfrm>
            <a:custGeom>
              <a:avLst/>
              <a:gdLst>
                <a:gd name="T0" fmla="*/ 21 w 39"/>
                <a:gd name="T1" fmla="*/ 36 h 121"/>
                <a:gd name="T2" fmla="*/ 19 w 39"/>
                <a:gd name="T3" fmla="*/ 36 h 121"/>
                <a:gd name="T4" fmla="*/ 19 w 39"/>
                <a:gd name="T5" fmla="*/ 36 h 121"/>
                <a:gd name="T6" fmla="*/ 19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19 w 39"/>
                <a:gd name="T23" fmla="*/ 5 h 121"/>
                <a:gd name="T24" fmla="*/ 19 w 39"/>
                <a:gd name="T25" fmla="*/ 11 h 121"/>
                <a:gd name="T26" fmla="*/ 21 w 39"/>
                <a:gd name="T27" fmla="*/ 20 h 121"/>
                <a:gd name="T28" fmla="*/ 23 w 39"/>
                <a:gd name="T29" fmla="*/ 34 h 121"/>
                <a:gd name="T30" fmla="*/ 23 w 39"/>
                <a:gd name="T31" fmla="*/ 121 h 121"/>
                <a:gd name="T32" fmla="*/ 21 w 39"/>
                <a:gd name="T33" fmla="*/ 121 h 121"/>
                <a:gd name="T34" fmla="*/ 21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6" name="Freeform 9"/>
            <p:cNvSpPr>
              <a:spLocks/>
            </p:cNvSpPr>
            <p:nvPr/>
          </p:nvSpPr>
          <p:spPr bwMode="gray">
            <a:xfrm>
              <a:off x="2271" y="455"/>
              <a:ext cx="45" cy="138"/>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23 h 139"/>
                <a:gd name="T32" fmla="*/ 3 w 45"/>
                <a:gd name="T33" fmla="*/ 123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7" name="Freeform 10"/>
            <p:cNvSpPr>
              <a:spLocks/>
            </p:cNvSpPr>
            <p:nvPr/>
          </p:nvSpPr>
          <p:spPr bwMode="gray">
            <a:xfrm>
              <a:off x="1777"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8" name="Freeform 11"/>
            <p:cNvSpPr>
              <a:spLocks/>
            </p:cNvSpPr>
            <p:nvPr/>
          </p:nvSpPr>
          <p:spPr bwMode="gray">
            <a:xfrm>
              <a:off x="2795" y="378"/>
              <a:ext cx="143"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2 w 144"/>
                <a:gd name="T37" fmla="*/ 62 h 211"/>
                <a:gd name="T38" fmla="*/ 72 w 144"/>
                <a:gd name="T39" fmla="*/ 60 h 211"/>
                <a:gd name="T40" fmla="*/ 72 w 144"/>
                <a:gd name="T41" fmla="*/ 55 h 211"/>
                <a:gd name="T42" fmla="*/ 72 w 144"/>
                <a:gd name="T43" fmla="*/ 45 h 211"/>
                <a:gd name="T44" fmla="*/ 72 w 144"/>
                <a:gd name="T45" fmla="*/ 36 h 211"/>
                <a:gd name="T46" fmla="*/ 72 w 144"/>
                <a:gd name="T47" fmla="*/ 25 h 211"/>
                <a:gd name="T48" fmla="*/ 75 w 144"/>
                <a:gd name="T49" fmla="*/ 16 h 211"/>
                <a:gd name="T50" fmla="*/ 89 w 144"/>
                <a:gd name="T51" fmla="*/ 8 h 211"/>
                <a:gd name="T52" fmla="*/ 105 w 144"/>
                <a:gd name="T53" fmla="*/ 2 h 211"/>
                <a:gd name="T54" fmla="*/ 128 w 144"/>
                <a:gd name="T55" fmla="*/ 0 h 211"/>
                <a:gd name="T56" fmla="*/ 128 w 144"/>
                <a:gd name="T57" fmla="*/ 2 h 211"/>
                <a:gd name="T58" fmla="*/ 128 w 144"/>
                <a:gd name="T59" fmla="*/ 8 h 211"/>
                <a:gd name="T60" fmla="*/ 125 w 144"/>
                <a:gd name="T61" fmla="*/ 17 h 211"/>
                <a:gd name="T62" fmla="*/ 123 w 144"/>
                <a:gd name="T63" fmla="*/ 28 h 211"/>
                <a:gd name="T64" fmla="*/ 117 w 144"/>
                <a:gd name="T65" fmla="*/ 39 h 211"/>
                <a:gd name="T66" fmla="*/ 109 w 144"/>
                <a:gd name="T67" fmla="*/ 49 h 211"/>
                <a:gd name="T68" fmla="*/ 97 w 144"/>
                <a:gd name="T69" fmla="*/ 59 h 211"/>
                <a:gd name="T70" fmla="*/ 81 w 144"/>
                <a:gd name="T71" fmla="*/ 64 h 211"/>
                <a:gd name="T72" fmla="*/ 72 w 144"/>
                <a:gd name="T73" fmla="*/ 67 h 211"/>
                <a:gd name="T74" fmla="*/ 72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9" name="Freeform 12"/>
            <p:cNvSpPr>
              <a:spLocks/>
            </p:cNvSpPr>
            <p:nvPr/>
          </p:nvSpPr>
          <p:spPr bwMode="gray">
            <a:xfrm>
              <a:off x="2634" y="457"/>
              <a:ext cx="88"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4 w 89"/>
                <a:gd name="T31" fmla="*/ 39 h 132"/>
                <a:gd name="T32" fmla="*/ 44 w 89"/>
                <a:gd name="T33" fmla="*/ 38 h 132"/>
                <a:gd name="T34" fmla="*/ 44 w 89"/>
                <a:gd name="T35" fmla="*/ 34 h 132"/>
                <a:gd name="T36" fmla="*/ 44 w 89"/>
                <a:gd name="T37" fmla="*/ 27 h 132"/>
                <a:gd name="T38" fmla="*/ 44 w 89"/>
                <a:gd name="T39" fmla="*/ 20 h 132"/>
                <a:gd name="T40" fmla="*/ 44 w 89"/>
                <a:gd name="T41" fmla="*/ 14 h 132"/>
                <a:gd name="T42" fmla="*/ 46 w 89"/>
                <a:gd name="T43" fmla="*/ 7 h 132"/>
                <a:gd name="T44" fmla="*/ 57 w 89"/>
                <a:gd name="T45" fmla="*/ 3 h 132"/>
                <a:gd name="T46" fmla="*/ 73 w 89"/>
                <a:gd name="T47" fmla="*/ 0 h 132"/>
                <a:gd name="T48" fmla="*/ 73 w 89"/>
                <a:gd name="T49" fmla="*/ 3 h 132"/>
                <a:gd name="T50" fmla="*/ 72 w 89"/>
                <a:gd name="T51" fmla="*/ 10 h 132"/>
                <a:gd name="T52" fmla="*/ 71 w 89"/>
                <a:gd name="T53" fmla="*/ 18 h 132"/>
                <a:gd name="T54" fmla="*/ 65 w 89"/>
                <a:gd name="T55" fmla="*/ 26 h 132"/>
                <a:gd name="T56" fmla="*/ 58 w 89"/>
                <a:gd name="T57" fmla="*/ 34 h 132"/>
                <a:gd name="T58" fmla="*/ 48 w 89"/>
                <a:gd name="T59" fmla="*/ 41 h 132"/>
                <a:gd name="T60" fmla="*/ 44 w 89"/>
                <a:gd name="T61" fmla="*/ 43 h 132"/>
                <a:gd name="T62" fmla="*/ 44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0" name="Freeform 13"/>
            <p:cNvSpPr>
              <a:spLocks/>
            </p:cNvSpPr>
            <p:nvPr/>
          </p:nvSpPr>
          <p:spPr bwMode="gray">
            <a:xfrm>
              <a:off x="2433" y="405"/>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1" name="Freeform 14"/>
            <p:cNvSpPr>
              <a:spLocks/>
            </p:cNvSpPr>
            <p:nvPr/>
          </p:nvSpPr>
          <p:spPr bwMode="gray">
            <a:xfrm>
              <a:off x="1917" y="238"/>
              <a:ext cx="164" cy="357"/>
            </a:xfrm>
            <a:custGeom>
              <a:avLst/>
              <a:gdLst>
                <a:gd name="T0" fmla="*/ 69 w 166"/>
                <a:gd name="T1" fmla="*/ 84 h 356"/>
                <a:gd name="T2" fmla="*/ 85 w 166"/>
                <a:gd name="T3" fmla="*/ 81 h 356"/>
                <a:gd name="T4" fmla="*/ 108 w 166"/>
                <a:gd name="T5" fmla="*/ 73 h 356"/>
                <a:gd name="T6" fmla="*/ 120 w 166"/>
                <a:gd name="T7" fmla="*/ 56 h 356"/>
                <a:gd name="T8" fmla="*/ 131 w 166"/>
                <a:gd name="T9" fmla="*/ 23 h 356"/>
                <a:gd name="T10" fmla="*/ 131 w 166"/>
                <a:gd name="T11" fmla="*/ 0 h 356"/>
                <a:gd name="T12" fmla="*/ 120 w 166"/>
                <a:gd name="T13" fmla="*/ 0 h 356"/>
                <a:gd name="T14" fmla="*/ 108 w 166"/>
                <a:gd name="T15" fmla="*/ 6 h 356"/>
                <a:gd name="T16" fmla="*/ 85 w 166"/>
                <a:gd name="T17" fmla="*/ 22 h 356"/>
                <a:gd name="T18" fmla="*/ 66 w 166"/>
                <a:gd name="T19" fmla="*/ 54 h 356"/>
                <a:gd name="T20" fmla="*/ 61 w 166"/>
                <a:gd name="T21" fmla="*/ 173 h 356"/>
                <a:gd name="T22" fmla="*/ 61 w 166"/>
                <a:gd name="T23" fmla="*/ 165 h 356"/>
                <a:gd name="T24" fmla="*/ 55 w 166"/>
                <a:gd name="T25" fmla="*/ 146 h 356"/>
                <a:gd name="T26" fmla="*/ 44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41 w 166"/>
                <a:gd name="T41" fmla="*/ 177 h 356"/>
                <a:gd name="T42" fmla="*/ 61 w 166"/>
                <a:gd name="T43" fmla="*/ 372 h 356"/>
                <a:gd name="T44" fmla="*/ 66 w 166"/>
                <a:gd name="T45" fmla="*/ 290 h 356"/>
                <a:gd name="T46" fmla="*/ 75 w 166"/>
                <a:gd name="T47" fmla="*/ 289 h 356"/>
                <a:gd name="T48" fmla="*/ 96 w 166"/>
                <a:gd name="T49" fmla="*/ 283 h 356"/>
                <a:gd name="T50" fmla="*/ 113 w 166"/>
                <a:gd name="T51" fmla="*/ 268 h 356"/>
                <a:gd name="T52" fmla="*/ 121 w 166"/>
                <a:gd name="T53" fmla="*/ 240 h 356"/>
                <a:gd name="T54" fmla="*/ 122 w 166"/>
                <a:gd name="T55" fmla="*/ 219 h 356"/>
                <a:gd name="T56" fmla="*/ 114 w 166"/>
                <a:gd name="T57" fmla="*/ 220 h 356"/>
                <a:gd name="T58" fmla="*/ 101 w 166"/>
                <a:gd name="T59" fmla="*/ 227 h 356"/>
                <a:gd name="T60" fmla="*/ 81 w 166"/>
                <a:gd name="T61" fmla="*/ 247 h 356"/>
                <a:gd name="T62" fmla="*/ 66 w 166"/>
                <a:gd name="T63" fmla="*/ 283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2" name="Freeform 15"/>
            <p:cNvSpPr>
              <a:spLocks/>
            </p:cNvSpPr>
            <p:nvPr/>
          </p:nvSpPr>
          <p:spPr bwMode="gray">
            <a:xfrm>
              <a:off x="2515" y="384"/>
              <a:ext cx="93" cy="209"/>
            </a:xfrm>
            <a:custGeom>
              <a:avLst/>
              <a:gdLst>
                <a:gd name="T0" fmla="*/ 43 w 92"/>
                <a:gd name="T1" fmla="*/ 146 h 210"/>
                <a:gd name="T2" fmla="*/ 36 w 92"/>
                <a:gd name="T3" fmla="*/ 144 h 210"/>
                <a:gd name="T4" fmla="*/ 23 w 92"/>
                <a:gd name="T5" fmla="*/ 139 h 210"/>
                <a:gd name="T6" fmla="*/ 12 w 92"/>
                <a:gd name="T7" fmla="*/ 125 h 210"/>
                <a:gd name="T8" fmla="*/ 12 w 92"/>
                <a:gd name="T9" fmla="*/ 113 h 210"/>
                <a:gd name="T10" fmla="*/ 23 w 92"/>
                <a:gd name="T11" fmla="*/ 116 h 210"/>
                <a:gd name="T12" fmla="*/ 38 w 92"/>
                <a:gd name="T13" fmla="*/ 129 h 210"/>
                <a:gd name="T14" fmla="*/ 43 w 92"/>
                <a:gd name="T15" fmla="*/ 105 h 210"/>
                <a:gd name="T16" fmla="*/ 35 w 92"/>
                <a:gd name="T17" fmla="*/ 105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62 w 92"/>
                <a:gd name="T45" fmla="*/ 38 h 210"/>
                <a:gd name="T46" fmla="*/ 67 w 92"/>
                <a:gd name="T47" fmla="*/ 24 h 210"/>
                <a:gd name="T48" fmla="*/ 82 w 92"/>
                <a:gd name="T49" fmla="*/ 8 h 210"/>
                <a:gd name="T50" fmla="*/ 108 w 92"/>
                <a:gd name="T51" fmla="*/ 0 h 210"/>
                <a:gd name="T52" fmla="*/ 106 w 92"/>
                <a:gd name="T53" fmla="*/ 8 h 210"/>
                <a:gd name="T54" fmla="*/ 98 w 92"/>
                <a:gd name="T55" fmla="*/ 25 h 210"/>
                <a:gd name="T56" fmla="*/ 79 w 92"/>
                <a:gd name="T57" fmla="*/ 40 h 210"/>
                <a:gd name="T58" fmla="*/ 65 w 92"/>
                <a:gd name="T59" fmla="*/ 108 h 210"/>
                <a:gd name="T60" fmla="*/ 66 w 92"/>
                <a:gd name="T61" fmla="*/ 105 h 210"/>
                <a:gd name="T62" fmla="*/ 75 w 92"/>
                <a:gd name="T63" fmla="*/ 100 h 210"/>
                <a:gd name="T64" fmla="*/ 97 w 92"/>
                <a:gd name="T65" fmla="*/ 92 h 210"/>
                <a:gd name="T66" fmla="*/ 96 w 92"/>
                <a:gd name="T67" fmla="*/ 98 h 210"/>
                <a:gd name="T68" fmla="*/ 89 w 92"/>
                <a:gd name="T69" fmla="*/ 105 h 210"/>
                <a:gd name="T70" fmla="*/ 75 w 92"/>
                <a:gd name="T71" fmla="*/ 111 h 210"/>
                <a:gd name="T72" fmla="*/ 65 w 92"/>
                <a:gd name="T73" fmla="*/ 194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3" name="Freeform 16"/>
            <p:cNvSpPr>
              <a:spLocks/>
            </p:cNvSpPr>
            <p:nvPr/>
          </p:nvSpPr>
          <p:spPr bwMode="gray">
            <a:xfrm>
              <a:off x="1567" y="302"/>
              <a:ext cx="128" cy="293"/>
            </a:xfrm>
            <a:custGeom>
              <a:avLst/>
              <a:gdLst>
                <a:gd name="T0" fmla="*/ 61 w 128"/>
                <a:gd name="T1" fmla="*/ 241 h 292"/>
                <a:gd name="T2" fmla="*/ 54 w 128"/>
                <a:gd name="T3" fmla="*/ 241 h 292"/>
                <a:gd name="T4" fmla="*/ 38 w 128"/>
                <a:gd name="T5" fmla="*/ 235 h 292"/>
                <a:gd name="T6" fmla="*/ 23 w 128"/>
                <a:gd name="T7" fmla="*/ 222 h 292"/>
                <a:gd name="T8" fmla="*/ 15 w 128"/>
                <a:gd name="T9" fmla="*/ 196 h 292"/>
                <a:gd name="T10" fmla="*/ 23 w 128"/>
                <a:gd name="T11" fmla="*/ 196 h 292"/>
                <a:gd name="T12" fmla="*/ 38 w 128"/>
                <a:gd name="T13" fmla="*/ 202 h 292"/>
                <a:gd name="T14" fmla="*/ 54 w 128"/>
                <a:gd name="T15" fmla="*/ 221 h 292"/>
                <a:gd name="T16" fmla="*/ 61 w 128"/>
                <a:gd name="T17" fmla="*/ 167 h 292"/>
                <a:gd name="T18" fmla="*/ 52 w 128"/>
                <a:gd name="T19" fmla="*/ 165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63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86 h 292"/>
                <a:gd name="T70" fmla="*/ 73 w 128"/>
                <a:gd name="T71" fmla="*/ 171 h 292"/>
                <a:gd name="T72" fmla="*/ 86 w 128"/>
                <a:gd name="T73" fmla="*/ 136 h 292"/>
                <a:gd name="T74" fmla="*/ 113 w 128"/>
                <a:gd name="T75" fmla="*/ 128 h 292"/>
                <a:gd name="T76" fmla="*/ 112 w 128"/>
                <a:gd name="T77" fmla="*/ 136 h 292"/>
                <a:gd name="T78" fmla="*/ 105 w 128"/>
                <a:gd name="T79" fmla="*/ 169 h 292"/>
                <a:gd name="T80" fmla="*/ 92 w 128"/>
                <a:gd name="T81" fmla="*/ 188 h 292"/>
                <a:gd name="T82" fmla="*/ 67 w 128"/>
                <a:gd name="T83" fmla="*/ 196 h 292"/>
                <a:gd name="T84" fmla="*/ 61 w 128"/>
                <a:gd name="T85" fmla="*/ 308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4" name="Freeform 17"/>
            <p:cNvSpPr>
              <a:spLocks/>
            </p:cNvSpPr>
            <p:nvPr/>
          </p:nvSpPr>
          <p:spPr bwMode="gray">
            <a:xfrm>
              <a:off x="2599" y="339"/>
              <a:ext cx="68" cy="254"/>
            </a:xfrm>
            <a:custGeom>
              <a:avLst/>
              <a:gdLst>
                <a:gd name="T0" fmla="*/ 31 w 68"/>
                <a:gd name="T1" fmla="*/ 132 h 257"/>
                <a:gd name="T2" fmla="*/ 23 w 68"/>
                <a:gd name="T3" fmla="*/ 131 h 257"/>
                <a:gd name="T4" fmla="*/ 8 w 68"/>
                <a:gd name="T5" fmla="*/ 125 h 257"/>
                <a:gd name="T6" fmla="*/ 0 w 68"/>
                <a:gd name="T7" fmla="*/ 114 h 257"/>
                <a:gd name="T8" fmla="*/ 7 w 68"/>
                <a:gd name="T9" fmla="*/ 114 h 257"/>
                <a:gd name="T10" fmla="*/ 22 w 68"/>
                <a:gd name="T11" fmla="*/ 117 h 257"/>
                <a:gd name="T12" fmla="*/ 31 w 68"/>
                <a:gd name="T13" fmla="*/ 128 h 257"/>
                <a:gd name="T14" fmla="*/ 29 w 68"/>
                <a:gd name="T15" fmla="*/ 85 h 257"/>
                <a:gd name="T16" fmla="*/ 16 w 68"/>
                <a:gd name="T17" fmla="*/ 81 h 257"/>
                <a:gd name="T18" fmla="*/ 3 w 68"/>
                <a:gd name="T19" fmla="*/ 67 h 257"/>
                <a:gd name="T20" fmla="*/ 3 w 68"/>
                <a:gd name="T21" fmla="*/ 54 h 257"/>
                <a:gd name="T22" fmla="*/ 15 w 68"/>
                <a:gd name="T23" fmla="*/ 58 h 257"/>
                <a:gd name="T24" fmla="*/ 27 w 68"/>
                <a:gd name="T25" fmla="*/ 70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59 h 257"/>
                <a:gd name="T42" fmla="*/ 39 w 68"/>
                <a:gd name="T43" fmla="*/ 46 h 257"/>
                <a:gd name="T44" fmla="*/ 54 w 68"/>
                <a:gd name="T45" fmla="*/ 42 h 257"/>
                <a:gd name="T46" fmla="*/ 68 w 68"/>
                <a:gd name="T47" fmla="*/ 42 h 257"/>
                <a:gd name="T48" fmla="*/ 66 w 68"/>
                <a:gd name="T49" fmla="*/ 43 h 257"/>
                <a:gd name="T50" fmla="*/ 58 w 68"/>
                <a:gd name="T51" fmla="*/ 56 h 257"/>
                <a:gd name="T52" fmla="*/ 35 w 68"/>
                <a:gd name="T53" fmla="*/ 66 h 257"/>
                <a:gd name="T54" fmla="*/ 35 w 68"/>
                <a:gd name="T55" fmla="*/ 119 h 257"/>
                <a:gd name="T56" fmla="*/ 38 w 68"/>
                <a:gd name="T57" fmla="*/ 114 h 257"/>
                <a:gd name="T58" fmla="*/ 49 w 68"/>
                <a:gd name="T59" fmla="*/ 106 h 257"/>
                <a:gd name="T60" fmla="*/ 60 w 68"/>
                <a:gd name="T61" fmla="*/ 106 h 257"/>
                <a:gd name="T62" fmla="*/ 58 w 68"/>
                <a:gd name="T63" fmla="*/ 114 h 257"/>
                <a:gd name="T64" fmla="*/ 47 w 68"/>
                <a:gd name="T65" fmla="*/ 120 h 257"/>
                <a:gd name="T66" fmla="*/ 35 w 68"/>
                <a:gd name="T67" fmla="*/ 210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5" name="Freeform 18"/>
            <p:cNvSpPr>
              <a:spLocks/>
            </p:cNvSpPr>
            <p:nvPr/>
          </p:nvSpPr>
          <p:spPr bwMode="gray">
            <a:xfrm>
              <a:off x="1674" y="167"/>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6" name="Freeform 19"/>
            <p:cNvSpPr>
              <a:spLocks/>
            </p:cNvSpPr>
            <p:nvPr/>
          </p:nvSpPr>
          <p:spPr bwMode="gray">
            <a:xfrm>
              <a:off x="2065" y="367"/>
              <a:ext cx="100" cy="229"/>
            </a:xfrm>
            <a:custGeom>
              <a:avLst/>
              <a:gdLst>
                <a:gd name="T0" fmla="*/ 52 w 100"/>
                <a:gd name="T1" fmla="*/ 192 h 228"/>
                <a:gd name="T2" fmla="*/ 59 w 100"/>
                <a:gd name="T3" fmla="*/ 192 h 228"/>
                <a:gd name="T4" fmla="*/ 74 w 100"/>
                <a:gd name="T5" fmla="*/ 185 h 228"/>
                <a:gd name="T6" fmla="*/ 86 w 100"/>
                <a:gd name="T7" fmla="*/ 170 h 228"/>
                <a:gd name="T8" fmla="*/ 86 w 100"/>
                <a:gd name="T9" fmla="*/ 157 h 228"/>
                <a:gd name="T10" fmla="*/ 74 w 100"/>
                <a:gd name="T11" fmla="*/ 159 h 228"/>
                <a:gd name="T12" fmla="*/ 58 w 100"/>
                <a:gd name="T13" fmla="*/ 174 h 228"/>
                <a:gd name="T14" fmla="*/ 52 w 100"/>
                <a:gd name="T15" fmla="*/ 134 h 228"/>
                <a:gd name="T16" fmla="*/ 61 w 100"/>
                <a:gd name="T17" fmla="*/ 132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2 w 100"/>
                <a:gd name="T29" fmla="*/ 131 h 228"/>
                <a:gd name="T30" fmla="*/ 55 w 100"/>
                <a:gd name="T31" fmla="*/ 48 h 228"/>
                <a:gd name="T32" fmla="*/ 67 w 100"/>
                <a:gd name="T33" fmla="*/ 45 h 228"/>
                <a:gd name="T34" fmla="*/ 85 w 100"/>
                <a:gd name="T35" fmla="*/ 37 h 228"/>
                <a:gd name="T36" fmla="*/ 97 w 100"/>
                <a:gd name="T37" fmla="*/ 17 h 228"/>
                <a:gd name="T38" fmla="*/ 97 w 100"/>
                <a:gd name="T39" fmla="*/ 0 h 228"/>
                <a:gd name="T40" fmla="*/ 83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1 w 100"/>
                <a:gd name="T53" fmla="*/ 3 h 228"/>
                <a:gd name="T54" fmla="*/ 5 w 100"/>
                <a:gd name="T55" fmla="*/ 19 h 228"/>
                <a:gd name="T56" fmla="*/ 19 w 100"/>
                <a:gd name="T57" fmla="*/ 38 h 228"/>
                <a:gd name="T58" fmla="*/ 47 w 100"/>
                <a:gd name="T59" fmla="*/ 48 h 228"/>
                <a:gd name="T60" fmla="*/ 47 w 100"/>
                <a:gd name="T61" fmla="*/ 148 h 228"/>
                <a:gd name="T62" fmla="*/ 42 w 100"/>
                <a:gd name="T63" fmla="*/ 134 h 228"/>
                <a:gd name="T64" fmla="*/ 25 w 100"/>
                <a:gd name="T65" fmla="*/ 103 h 228"/>
                <a:gd name="T66" fmla="*/ 12 w 100"/>
                <a:gd name="T67" fmla="*/ 103 h 228"/>
                <a:gd name="T68" fmla="*/ 16 w 100"/>
                <a:gd name="T69" fmla="*/ 132 h 228"/>
                <a:gd name="T70" fmla="*/ 25 w 100"/>
                <a:gd name="T71" fmla="*/ 148 h 228"/>
                <a:gd name="T72" fmla="*/ 47 w 100"/>
                <a:gd name="T73" fmla="*/ 157 h 228"/>
                <a:gd name="T74" fmla="*/ 52 w 100"/>
                <a:gd name="T75" fmla="*/ 244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7" name="Freeform 20"/>
            <p:cNvSpPr>
              <a:spLocks/>
            </p:cNvSpPr>
            <p:nvPr/>
          </p:nvSpPr>
          <p:spPr bwMode="gray">
            <a:xfrm>
              <a:off x="2921" y="367"/>
              <a:ext cx="100" cy="229"/>
            </a:xfrm>
            <a:custGeom>
              <a:avLst/>
              <a:gdLst>
                <a:gd name="T0" fmla="*/ 53 w 100"/>
                <a:gd name="T1" fmla="*/ 192 h 228"/>
                <a:gd name="T2" fmla="*/ 60 w 100"/>
                <a:gd name="T3" fmla="*/ 192 h 228"/>
                <a:gd name="T4" fmla="*/ 74 w 100"/>
                <a:gd name="T5" fmla="*/ 185 h 228"/>
                <a:gd name="T6" fmla="*/ 87 w 100"/>
                <a:gd name="T7" fmla="*/ 170 h 228"/>
                <a:gd name="T8" fmla="*/ 87 w 100"/>
                <a:gd name="T9" fmla="*/ 157 h 228"/>
                <a:gd name="T10" fmla="*/ 74 w 100"/>
                <a:gd name="T11" fmla="*/ 159 h 228"/>
                <a:gd name="T12" fmla="*/ 60 w 100"/>
                <a:gd name="T13" fmla="*/ 174 h 228"/>
                <a:gd name="T14" fmla="*/ 53 w 100"/>
                <a:gd name="T15" fmla="*/ 134 h 228"/>
                <a:gd name="T16" fmla="*/ 61 w 100"/>
                <a:gd name="T17" fmla="*/ 132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31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48 h 228"/>
                <a:gd name="T62" fmla="*/ 42 w 100"/>
                <a:gd name="T63" fmla="*/ 134 h 228"/>
                <a:gd name="T64" fmla="*/ 26 w 100"/>
                <a:gd name="T65" fmla="*/ 103 h 228"/>
                <a:gd name="T66" fmla="*/ 12 w 100"/>
                <a:gd name="T67" fmla="*/ 103 h 228"/>
                <a:gd name="T68" fmla="*/ 16 w 100"/>
                <a:gd name="T69" fmla="*/ 132 h 228"/>
                <a:gd name="T70" fmla="*/ 26 w 100"/>
                <a:gd name="T71" fmla="*/ 148 h 228"/>
                <a:gd name="T72" fmla="*/ 47 w 100"/>
                <a:gd name="T73" fmla="*/ 157 h 228"/>
                <a:gd name="T74" fmla="*/ 53 w 100"/>
                <a:gd name="T75" fmla="*/ 244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8" name="Freeform 21"/>
            <p:cNvSpPr>
              <a:spLocks/>
            </p:cNvSpPr>
            <p:nvPr/>
          </p:nvSpPr>
          <p:spPr bwMode="gray">
            <a:xfrm>
              <a:off x="2273" y="187"/>
              <a:ext cx="175" cy="402"/>
            </a:xfrm>
            <a:custGeom>
              <a:avLst/>
              <a:gdLst>
                <a:gd name="T0" fmla="*/ 93 w 175"/>
                <a:gd name="T1" fmla="*/ 309 h 402"/>
                <a:gd name="T2" fmla="*/ 101 w 175"/>
                <a:gd name="T3" fmla="*/ 309 h 402"/>
                <a:gd name="T4" fmla="*/ 118 w 175"/>
                <a:gd name="T5" fmla="*/ 304 h 402"/>
                <a:gd name="T6" fmla="*/ 138 w 175"/>
                <a:gd name="T7" fmla="*/ 292 h 402"/>
                <a:gd name="T8" fmla="*/ 152 w 175"/>
                <a:gd name="T9" fmla="*/ 266 h 402"/>
                <a:gd name="T10" fmla="*/ 152 w 175"/>
                <a:gd name="T11" fmla="*/ 247 h 402"/>
                <a:gd name="T12" fmla="*/ 138 w 175"/>
                <a:gd name="T13" fmla="*/ 250 h 402"/>
                <a:gd name="T14" fmla="*/ 120 w 175"/>
                <a:gd name="T15" fmla="*/ 259 h 402"/>
                <a:gd name="T16" fmla="*/ 99 w 175"/>
                <a:gd name="T17" fmla="*/ 285 h 402"/>
                <a:gd name="T18" fmla="*/ 93 w 175"/>
                <a:gd name="T19" fmla="*/ 207 h 402"/>
                <a:gd name="T20" fmla="*/ 102 w 175"/>
                <a:gd name="T21" fmla="*/ 205 h 402"/>
                <a:gd name="T22" fmla="*/ 122 w 175"/>
                <a:gd name="T23" fmla="*/ 200 h 402"/>
                <a:gd name="T24" fmla="*/ 147 w 175"/>
                <a:gd name="T25" fmla="*/ 185 h 402"/>
                <a:gd name="T26" fmla="*/ 163 w 175"/>
                <a:gd name="T27" fmla="*/ 155 h 402"/>
                <a:gd name="T28" fmla="*/ 163 w 175"/>
                <a:gd name="T29" fmla="*/ 134 h 402"/>
                <a:gd name="T30" fmla="*/ 149 w 175"/>
                <a:gd name="T31" fmla="*/ 135 h 402"/>
                <a:gd name="T32" fmla="*/ 129 w 175"/>
                <a:gd name="T33" fmla="*/ 142 h 402"/>
                <a:gd name="T34" fmla="*/ 107 w 175"/>
                <a:gd name="T35" fmla="*/ 162 h 402"/>
                <a:gd name="T36" fmla="*/ 93 w 175"/>
                <a:gd name="T37" fmla="*/ 201 h 402"/>
                <a:gd name="T38" fmla="*/ 95 w 175"/>
                <a:gd name="T39" fmla="*/ 83 h 402"/>
                <a:gd name="T40" fmla="*/ 110 w 175"/>
                <a:gd name="T41" fmla="*/ 81 h 402"/>
                <a:gd name="T42" fmla="*/ 134 w 175"/>
                <a:gd name="T43" fmla="*/ 73 h 402"/>
                <a:gd name="T44" fmla="*/ 157 w 175"/>
                <a:gd name="T45" fmla="*/ 54 h 402"/>
                <a:gd name="T46" fmla="*/ 174 w 175"/>
                <a:gd name="T47" fmla="*/ 23 h 402"/>
                <a:gd name="T48" fmla="*/ 174 w 175"/>
                <a:gd name="T49" fmla="*/ 0 h 402"/>
                <a:gd name="T50" fmla="*/ 157 w 175"/>
                <a:gd name="T51" fmla="*/ 2 h 402"/>
                <a:gd name="T52" fmla="*/ 133 w 175"/>
                <a:gd name="T53" fmla="*/ 10 h 402"/>
                <a:gd name="T54" fmla="*/ 107 w 175"/>
                <a:gd name="T55" fmla="*/ 33 h 402"/>
                <a:gd name="T56" fmla="*/ 87 w 175"/>
                <a:gd name="T57" fmla="*/ 77 h 402"/>
                <a:gd name="T58" fmla="*/ 85 w 175"/>
                <a:gd name="T59" fmla="*/ 68 h 402"/>
                <a:gd name="T60" fmla="*/ 75 w 175"/>
                <a:gd name="T61" fmla="*/ 46 h 402"/>
                <a:gd name="T62" fmla="*/ 55 w 175"/>
                <a:gd name="T63" fmla="*/ 21 h 402"/>
                <a:gd name="T64" fmla="*/ 22 w 175"/>
                <a:gd name="T65" fmla="*/ 3 h 402"/>
                <a:gd name="T66" fmla="*/ 1 w 175"/>
                <a:gd name="T67" fmla="*/ 3 h 402"/>
                <a:gd name="T68" fmla="*/ 4 w 175"/>
                <a:gd name="T69" fmla="*/ 18 h 402"/>
                <a:gd name="T70" fmla="*/ 12 w 175"/>
                <a:gd name="T71" fmla="*/ 42 h 402"/>
                <a:gd name="T72" fmla="*/ 31 w 175"/>
                <a:gd name="T73" fmla="*/ 65 h 402"/>
                <a:gd name="T74" fmla="*/ 62 w 175"/>
                <a:gd name="T75" fmla="*/ 81 h 402"/>
                <a:gd name="T76" fmla="*/ 82 w 175"/>
                <a:gd name="T77" fmla="*/ 238 h 402"/>
                <a:gd name="T78" fmla="*/ 80 w 175"/>
                <a:gd name="T79" fmla="*/ 228 h 402"/>
                <a:gd name="T80" fmla="*/ 72 w 175"/>
                <a:gd name="T81" fmla="*/ 207 h 402"/>
                <a:gd name="T82" fmla="*/ 55 w 175"/>
                <a:gd name="T83" fmla="*/ 185 h 402"/>
                <a:gd name="T84" fmla="*/ 21 w 175"/>
                <a:gd name="T85" fmla="*/ 176 h 402"/>
                <a:gd name="T86" fmla="*/ 22 w 175"/>
                <a:gd name="T87" fmla="*/ 185 h 402"/>
                <a:gd name="T88" fmla="*/ 28 w 175"/>
                <a:gd name="T89" fmla="*/ 205 h 402"/>
                <a:gd name="T90" fmla="*/ 41 w 175"/>
                <a:gd name="T91" fmla="*/ 230 h 402"/>
                <a:gd name="T92" fmla="*/ 66 w 175"/>
                <a:gd name="T93" fmla="*/ 246 h 402"/>
                <a:gd name="T94" fmla="*/ 82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9" name="Freeform 22"/>
            <p:cNvSpPr>
              <a:spLocks/>
            </p:cNvSpPr>
            <p:nvPr/>
          </p:nvSpPr>
          <p:spPr bwMode="gray">
            <a:xfrm>
              <a:off x="2161" y="223"/>
              <a:ext cx="97" cy="370"/>
            </a:xfrm>
            <a:custGeom>
              <a:avLst/>
              <a:gdLst>
                <a:gd name="T0" fmla="*/ 52 w 97"/>
                <a:gd name="T1" fmla="*/ 205 h 373"/>
                <a:gd name="T2" fmla="*/ 59 w 97"/>
                <a:gd name="T3" fmla="*/ 205 h 373"/>
                <a:gd name="T4" fmla="*/ 74 w 97"/>
                <a:gd name="T5" fmla="*/ 200 h 373"/>
                <a:gd name="T6" fmla="*/ 90 w 97"/>
                <a:gd name="T7" fmla="*/ 186 h 373"/>
                <a:gd name="T8" fmla="*/ 97 w 97"/>
                <a:gd name="T9" fmla="*/ 173 h 373"/>
                <a:gd name="T10" fmla="*/ 89 w 97"/>
                <a:gd name="T11" fmla="*/ 173 h 373"/>
                <a:gd name="T12" fmla="*/ 71 w 97"/>
                <a:gd name="T13" fmla="*/ 175 h 373"/>
                <a:gd name="T14" fmla="*/ 56 w 97"/>
                <a:gd name="T15" fmla="*/ 184 h 373"/>
                <a:gd name="T16" fmla="*/ 52 w 97"/>
                <a:gd name="T17" fmla="*/ 131 h 373"/>
                <a:gd name="T18" fmla="*/ 59 w 97"/>
                <a:gd name="T19" fmla="*/ 131 h 373"/>
                <a:gd name="T20" fmla="*/ 74 w 97"/>
                <a:gd name="T21" fmla="*/ 125 h 373"/>
                <a:gd name="T22" fmla="*/ 90 w 97"/>
                <a:gd name="T23" fmla="*/ 112 h 373"/>
                <a:gd name="T24" fmla="*/ 97 w 97"/>
                <a:gd name="T25" fmla="*/ 86 h 373"/>
                <a:gd name="T26" fmla="*/ 89 w 97"/>
                <a:gd name="T27" fmla="*/ 86 h 373"/>
                <a:gd name="T28" fmla="*/ 71 w 97"/>
                <a:gd name="T29" fmla="*/ 93 h 373"/>
                <a:gd name="T30" fmla="*/ 56 w 97"/>
                <a:gd name="T31" fmla="*/ 110 h 373"/>
                <a:gd name="T32" fmla="*/ 52 w 97"/>
                <a:gd name="T33" fmla="*/ 46 h 373"/>
                <a:gd name="T34" fmla="*/ 51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97 h 373"/>
                <a:gd name="T50" fmla="*/ 45 w 97"/>
                <a:gd name="T51" fmla="*/ 90 h 373"/>
                <a:gd name="T52" fmla="*/ 40 w 97"/>
                <a:gd name="T53" fmla="*/ 74 h 373"/>
                <a:gd name="T54" fmla="*/ 27 w 97"/>
                <a:gd name="T55" fmla="*/ 62 h 373"/>
                <a:gd name="T56" fmla="*/ 1 w 97"/>
                <a:gd name="T57" fmla="*/ 62 h 373"/>
                <a:gd name="T58" fmla="*/ 0 w 97"/>
                <a:gd name="T59" fmla="*/ 62 h 373"/>
                <a:gd name="T60" fmla="*/ 2 w 97"/>
                <a:gd name="T61" fmla="*/ 75 h 373"/>
                <a:gd name="T62" fmla="*/ 14 w 97"/>
                <a:gd name="T63" fmla="*/ 93 h 373"/>
                <a:gd name="T64" fmla="*/ 45 w 97"/>
                <a:gd name="T65" fmla="*/ 102 h 373"/>
                <a:gd name="T66" fmla="*/ 45 w 97"/>
                <a:gd name="T67" fmla="*/ 180 h 373"/>
                <a:gd name="T68" fmla="*/ 43 w 97"/>
                <a:gd name="T69" fmla="*/ 174 h 373"/>
                <a:gd name="T70" fmla="*/ 33 w 97"/>
                <a:gd name="T71" fmla="*/ 166 h 373"/>
                <a:gd name="T72" fmla="*/ 12 w 97"/>
                <a:gd name="T73" fmla="*/ 159 h 373"/>
                <a:gd name="T74" fmla="*/ 10 w 97"/>
                <a:gd name="T75" fmla="*/ 166 h 373"/>
                <a:gd name="T76" fmla="*/ 13 w 97"/>
                <a:gd name="T77" fmla="*/ 175 h 373"/>
                <a:gd name="T78" fmla="*/ 29 w 97"/>
                <a:gd name="T79" fmla="*/ 182 h 373"/>
                <a:gd name="T80" fmla="*/ 45 w 97"/>
                <a:gd name="T81" fmla="*/ 325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0" name="Freeform 23"/>
            <p:cNvSpPr>
              <a:spLocks/>
            </p:cNvSpPr>
            <p:nvPr/>
          </p:nvSpPr>
          <p:spPr bwMode="gray">
            <a:xfrm>
              <a:off x="2708" y="223"/>
              <a:ext cx="97" cy="370"/>
            </a:xfrm>
            <a:custGeom>
              <a:avLst/>
              <a:gdLst>
                <a:gd name="T0" fmla="*/ 51 w 97"/>
                <a:gd name="T1" fmla="*/ 205 h 373"/>
                <a:gd name="T2" fmla="*/ 60 w 97"/>
                <a:gd name="T3" fmla="*/ 205 h 373"/>
                <a:gd name="T4" fmla="*/ 74 w 97"/>
                <a:gd name="T5" fmla="*/ 200 h 373"/>
                <a:gd name="T6" fmla="*/ 91 w 97"/>
                <a:gd name="T7" fmla="*/ 186 h 373"/>
                <a:gd name="T8" fmla="*/ 97 w 97"/>
                <a:gd name="T9" fmla="*/ 173 h 373"/>
                <a:gd name="T10" fmla="*/ 89 w 97"/>
                <a:gd name="T11" fmla="*/ 173 h 373"/>
                <a:gd name="T12" fmla="*/ 72 w 97"/>
                <a:gd name="T13" fmla="*/ 175 h 373"/>
                <a:gd name="T14" fmla="*/ 55 w 97"/>
                <a:gd name="T15" fmla="*/ 184 h 373"/>
                <a:gd name="T16" fmla="*/ 51 w 97"/>
                <a:gd name="T17" fmla="*/ 131 h 373"/>
                <a:gd name="T18" fmla="*/ 60 w 97"/>
                <a:gd name="T19" fmla="*/ 131 h 373"/>
                <a:gd name="T20" fmla="*/ 74 w 97"/>
                <a:gd name="T21" fmla="*/ 125 h 373"/>
                <a:gd name="T22" fmla="*/ 91 w 97"/>
                <a:gd name="T23" fmla="*/ 112 h 373"/>
                <a:gd name="T24" fmla="*/ 97 w 97"/>
                <a:gd name="T25" fmla="*/ 86 h 373"/>
                <a:gd name="T26" fmla="*/ 89 w 97"/>
                <a:gd name="T27" fmla="*/ 86 h 373"/>
                <a:gd name="T28" fmla="*/ 72 w 97"/>
                <a:gd name="T29" fmla="*/ 93 h 373"/>
                <a:gd name="T30" fmla="*/ 55 w 97"/>
                <a:gd name="T31" fmla="*/ 110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97 h 373"/>
                <a:gd name="T50" fmla="*/ 46 w 97"/>
                <a:gd name="T51" fmla="*/ 90 h 373"/>
                <a:gd name="T52" fmla="*/ 41 w 97"/>
                <a:gd name="T53" fmla="*/ 74 h 373"/>
                <a:gd name="T54" fmla="*/ 27 w 97"/>
                <a:gd name="T55" fmla="*/ 62 h 373"/>
                <a:gd name="T56" fmla="*/ 0 w 97"/>
                <a:gd name="T57" fmla="*/ 62 h 373"/>
                <a:gd name="T58" fmla="*/ 0 w 97"/>
                <a:gd name="T59" fmla="*/ 62 h 373"/>
                <a:gd name="T60" fmla="*/ 3 w 97"/>
                <a:gd name="T61" fmla="*/ 75 h 373"/>
                <a:gd name="T62" fmla="*/ 15 w 97"/>
                <a:gd name="T63" fmla="*/ 93 h 373"/>
                <a:gd name="T64" fmla="*/ 46 w 97"/>
                <a:gd name="T65" fmla="*/ 102 h 373"/>
                <a:gd name="T66" fmla="*/ 46 w 97"/>
                <a:gd name="T67" fmla="*/ 180 h 373"/>
                <a:gd name="T68" fmla="*/ 43 w 97"/>
                <a:gd name="T69" fmla="*/ 174 h 373"/>
                <a:gd name="T70" fmla="*/ 34 w 97"/>
                <a:gd name="T71" fmla="*/ 166 h 373"/>
                <a:gd name="T72" fmla="*/ 12 w 97"/>
                <a:gd name="T73" fmla="*/ 159 h 373"/>
                <a:gd name="T74" fmla="*/ 11 w 97"/>
                <a:gd name="T75" fmla="*/ 166 h 373"/>
                <a:gd name="T76" fmla="*/ 14 w 97"/>
                <a:gd name="T77" fmla="*/ 175 h 373"/>
                <a:gd name="T78" fmla="*/ 30 w 97"/>
                <a:gd name="T79" fmla="*/ 182 h 373"/>
                <a:gd name="T80" fmla="*/ 46 w 97"/>
                <a:gd name="T81" fmla="*/ 325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31" name="Freeform 27" descr="Dark upward diagonal"/>
          <p:cNvSpPr>
            <a:spLocks/>
          </p:cNvSpPr>
          <p:nvPr/>
        </p:nvSpPr>
        <p:spPr bwMode="gray">
          <a:xfrm>
            <a:off x="85725" y="76200"/>
            <a:ext cx="8977313" cy="500063"/>
          </a:xfrm>
          <a:custGeom>
            <a:avLst/>
            <a:gdLst>
              <a:gd name="T0" fmla="*/ 0 w 5655"/>
              <a:gd name="T1" fmla="*/ 2147483646 h 315"/>
              <a:gd name="T2" fmla="*/ 2147483646 w 5655"/>
              <a:gd name="T3" fmla="*/ 0 h 315"/>
              <a:gd name="T4" fmla="*/ 2147483646 w 5655"/>
              <a:gd name="T5" fmla="*/ 2147483646 h 315"/>
              <a:gd name="T6" fmla="*/ 2147483646 w 5655"/>
              <a:gd name="T7" fmla="*/ 2147483646 h 315"/>
              <a:gd name="T8" fmla="*/ 2147483646 w 5655"/>
              <a:gd name="T9" fmla="*/ 2147483646 h 315"/>
              <a:gd name="T10" fmla="*/ 0 w 5655"/>
              <a:gd name="T11" fmla="*/ 2147483646 h 3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55" h="315">
                <a:moveTo>
                  <a:pt x="0" y="1"/>
                </a:moveTo>
                <a:lnTo>
                  <a:pt x="5546" y="0"/>
                </a:lnTo>
                <a:cubicBezTo>
                  <a:pt x="5652" y="0"/>
                  <a:pt x="5655" y="84"/>
                  <a:pt x="5655" y="84"/>
                </a:cubicBezTo>
                <a:lnTo>
                  <a:pt x="5649" y="315"/>
                </a:lnTo>
                <a:lnTo>
                  <a:pt x="1" y="314"/>
                </a:lnTo>
                <a:lnTo>
                  <a:pt x="0" y="1"/>
                </a:lnTo>
                <a:close/>
              </a:path>
            </a:pathLst>
          </a:custGeom>
          <a:pattFill prst="dkUpDiag">
            <a:fgClr>
              <a:schemeClr val="bg1">
                <a:alpha val="76862"/>
              </a:schemeClr>
            </a:fgClr>
            <a:bgClr>
              <a:schemeClr val="tx1">
                <a:alpha val="76862"/>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2" name="Rectangle 28"/>
          <p:cNvSpPr>
            <a:spLocks noChangeArrowheads="1"/>
          </p:cNvSpPr>
          <p:nvPr/>
        </p:nvSpPr>
        <p:spPr bwMode="gray">
          <a:xfrm>
            <a:off x="114300" y="6610350"/>
            <a:ext cx="8931275" cy="163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grpSp>
        <p:nvGrpSpPr>
          <p:cNvPr id="33" name="Group 74"/>
          <p:cNvGrpSpPr>
            <a:grpSpLocks/>
          </p:cNvGrpSpPr>
          <p:nvPr/>
        </p:nvGrpSpPr>
        <p:grpSpPr bwMode="auto">
          <a:xfrm>
            <a:off x="85725" y="854075"/>
            <a:ext cx="8982075" cy="1131888"/>
            <a:chOff x="54" y="538"/>
            <a:chExt cx="5658" cy="713"/>
          </a:xfrm>
        </p:grpSpPr>
        <p:sp>
          <p:nvSpPr>
            <p:cNvPr id="34" name="Freeform 30"/>
            <p:cNvSpPr>
              <a:spLocks/>
            </p:cNvSpPr>
            <p:nvPr userDrawn="1"/>
          </p:nvSpPr>
          <p:spPr bwMode="gray">
            <a:xfrm>
              <a:off x="54" y="736"/>
              <a:ext cx="5658" cy="515"/>
            </a:xfrm>
            <a:custGeom>
              <a:avLst/>
              <a:gdLst>
                <a:gd name="T0" fmla="*/ 0 w 5446"/>
                <a:gd name="T1" fmla="*/ 0 h 590"/>
                <a:gd name="T2" fmla="*/ 10035 w 5446"/>
                <a:gd name="T3" fmla="*/ 0 h 590"/>
                <a:gd name="T4" fmla="*/ 10035 w 5446"/>
                <a:gd name="T5" fmla="*/ 35 h 590"/>
                <a:gd name="T6" fmla="*/ 10035 w 5446"/>
                <a:gd name="T7" fmla="*/ 52 h 590"/>
                <a:gd name="T8" fmla="*/ 2787 w 5446"/>
                <a:gd name="T9" fmla="*/ 50 h 590"/>
                <a:gd name="T10" fmla="*/ 2370 w 5446"/>
                <a:gd name="T11" fmla="*/ 65 h 590"/>
                <a:gd name="T12" fmla="*/ 0 w 5446"/>
                <a:gd name="T13" fmla="*/ 67 h 590"/>
                <a:gd name="T14" fmla="*/ 0 w 5446"/>
                <a:gd name="T15" fmla="*/ 0 h 5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46" h="590">
                  <a:moveTo>
                    <a:pt x="0" y="0"/>
                  </a:moveTo>
                  <a:lnTo>
                    <a:pt x="5446" y="0"/>
                  </a:lnTo>
                  <a:lnTo>
                    <a:pt x="5446" y="312"/>
                  </a:lnTo>
                  <a:lnTo>
                    <a:pt x="5446" y="451"/>
                  </a:lnTo>
                  <a:cubicBezTo>
                    <a:pt x="4790" y="473"/>
                    <a:pt x="2205" y="421"/>
                    <a:pt x="1512" y="443"/>
                  </a:cubicBezTo>
                  <a:lnTo>
                    <a:pt x="1288" y="584"/>
                  </a:lnTo>
                  <a:lnTo>
                    <a:pt x="0" y="59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5" name="Freeform 31"/>
            <p:cNvSpPr>
              <a:spLocks/>
            </p:cNvSpPr>
            <p:nvPr userDrawn="1"/>
          </p:nvSpPr>
          <p:spPr bwMode="gray">
            <a:xfrm>
              <a:off x="54" y="538"/>
              <a:ext cx="5658" cy="655"/>
            </a:xfrm>
            <a:custGeom>
              <a:avLst/>
              <a:gdLst>
                <a:gd name="T0" fmla="*/ 1 w 5658"/>
                <a:gd name="T1" fmla="*/ 0 h 655"/>
                <a:gd name="T2" fmla="*/ 5657 w 5658"/>
                <a:gd name="T3" fmla="*/ 0 h 655"/>
                <a:gd name="T4" fmla="*/ 5658 w 5658"/>
                <a:gd name="T5" fmla="*/ 534 h 655"/>
                <a:gd name="T6" fmla="*/ 1553 w 5658"/>
                <a:gd name="T7" fmla="*/ 528 h 655"/>
                <a:gd name="T8" fmla="*/ 1317 w 5658"/>
                <a:gd name="T9" fmla="*/ 651 h 655"/>
                <a:gd name="T10" fmla="*/ 0 w 5658"/>
                <a:gd name="T11" fmla="*/ 655 h 655"/>
                <a:gd name="T12" fmla="*/ 1 w 5658"/>
                <a:gd name="T13" fmla="*/ 0 h 6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8" h="655">
                  <a:moveTo>
                    <a:pt x="1" y="0"/>
                  </a:moveTo>
                  <a:lnTo>
                    <a:pt x="5657" y="0"/>
                  </a:lnTo>
                  <a:lnTo>
                    <a:pt x="5658" y="534"/>
                  </a:lnTo>
                  <a:lnTo>
                    <a:pt x="1553" y="528"/>
                  </a:lnTo>
                  <a:lnTo>
                    <a:pt x="1317" y="651"/>
                  </a:lnTo>
                  <a:lnTo>
                    <a:pt x="0" y="655"/>
                  </a:lnTo>
                  <a:lnTo>
                    <a:pt x="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6" name="Freeform 32"/>
            <p:cNvSpPr>
              <a:spLocks/>
            </p:cNvSpPr>
            <p:nvPr userDrawn="1"/>
          </p:nvSpPr>
          <p:spPr bwMode="gray">
            <a:xfrm>
              <a:off x="54" y="1062"/>
              <a:ext cx="1496" cy="98"/>
            </a:xfrm>
            <a:custGeom>
              <a:avLst/>
              <a:gdLst>
                <a:gd name="T0" fmla="*/ 2649 w 1440"/>
                <a:gd name="T1" fmla="*/ 1 h 112"/>
                <a:gd name="T2" fmla="*/ 2324 w 1440"/>
                <a:gd name="T3" fmla="*/ 14 h 112"/>
                <a:gd name="T4" fmla="*/ 0 w 1440"/>
                <a:gd name="T5" fmla="*/ 14 h 112"/>
                <a:gd name="T6" fmla="*/ 0 w 1440"/>
                <a:gd name="T7" fmla="*/ 6 h 112"/>
                <a:gd name="T8" fmla="*/ 1968 w 1440"/>
                <a:gd name="T9" fmla="*/ 7 h 112"/>
                <a:gd name="T10" fmla="*/ 2104 w 1440"/>
                <a:gd name="T11" fmla="*/ 0 h 112"/>
                <a:gd name="T12" fmla="*/ 2649 w 1440"/>
                <a:gd name="T13" fmla="*/ 1 h 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0" h="112">
                  <a:moveTo>
                    <a:pt x="1440" y="1"/>
                  </a:moveTo>
                  <a:lnTo>
                    <a:pt x="1261" y="112"/>
                  </a:lnTo>
                  <a:lnTo>
                    <a:pt x="0" y="110"/>
                  </a:lnTo>
                  <a:lnTo>
                    <a:pt x="0" y="49"/>
                  </a:lnTo>
                  <a:lnTo>
                    <a:pt x="1069" y="50"/>
                  </a:lnTo>
                  <a:lnTo>
                    <a:pt x="1142" y="0"/>
                  </a:lnTo>
                  <a:lnTo>
                    <a:pt x="1440" y="1"/>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37" name="Rectangle 33"/>
          <p:cNvSpPr>
            <a:spLocks noChangeArrowheads="1"/>
          </p:cNvSpPr>
          <p:nvPr/>
        </p:nvSpPr>
        <p:spPr bwMode="gray">
          <a:xfrm>
            <a:off x="85725" y="609600"/>
            <a:ext cx="8982075" cy="1857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8" name="Rectangle 38" descr="1"/>
          <p:cNvSpPr>
            <a:spLocks noChangeArrowheads="1"/>
          </p:cNvSpPr>
          <p:nvPr/>
        </p:nvSpPr>
        <p:spPr bwMode="gray">
          <a:xfrm>
            <a:off x="4067175" y="4497388"/>
            <a:ext cx="741363" cy="7429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9" name="Rectangle 40" descr="7"/>
          <p:cNvSpPr>
            <a:spLocks noChangeArrowheads="1"/>
          </p:cNvSpPr>
          <p:nvPr/>
        </p:nvSpPr>
        <p:spPr bwMode="gray">
          <a:xfrm>
            <a:off x="3275013" y="5314950"/>
            <a:ext cx="742950" cy="7429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0" name="Rectangle 42"/>
          <p:cNvSpPr>
            <a:spLocks noChangeArrowheads="1"/>
          </p:cNvSpPr>
          <p:nvPr/>
        </p:nvSpPr>
        <p:spPr bwMode="gray">
          <a:xfrm>
            <a:off x="3282950" y="4510088"/>
            <a:ext cx="741363" cy="744537"/>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1" name="Rectangle 37" descr="6"/>
          <p:cNvSpPr>
            <a:spLocks noChangeArrowheads="1"/>
          </p:cNvSpPr>
          <p:nvPr/>
        </p:nvSpPr>
        <p:spPr bwMode="gray">
          <a:xfrm>
            <a:off x="1703388" y="5314950"/>
            <a:ext cx="742950" cy="74295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2" name="Rectangle 49"/>
          <p:cNvSpPr>
            <a:spLocks noChangeArrowheads="1"/>
          </p:cNvSpPr>
          <p:nvPr/>
        </p:nvSpPr>
        <p:spPr bwMode="gray">
          <a:xfrm>
            <a:off x="1703388" y="4511675"/>
            <a:ext cx="742950" cy="7429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3" name="Rectangle 50"/>
          <p:cNvSpPr>
            <a:spLocks noChangeArrowheads="1"/>
          </p:cNvSpPr>
          <p:nvPr/>
        </p:nvSpPr>
        <p:spPr bwMode="gray">
          <a:xfrm>
            <a:off x="128588" y="4511675"/>
            <a:ext cx="741362" cy="74295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4" name="Rectangle 52"/>
          <p:cNvSpPr>
            <a:spLocks noChangeArrowheads="1"/>
          </p:cNvSpPr>
          <p:nvPr/>
        </p:nvSpPr>
        <p:spPr bwMode="gray">
          <a:xfrm>
            <a:off x="2492375" y="5314950"/>
            <a:ext cx="742950" cy="7429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pic>
        <p:nvPicPr>
          <p:cNvPr id="45" name="Picture 43" descr="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130175" y="2911475"/>
            <a:ext cx="134778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Rectangle 70" descr="2"/>
          <p:cNvSpPr>
            <a:spLocks noChangeArrowheads="1"/>
          </p:cNvSpPr>
          <p:nvPr/>
        </p:nvSpPr>
        <p:spPr bwMode="gray">
          <a:xfrm>
            <a:off x="1701800" y="3705225"/>
            <a:ext cx="744538" cy="74295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075" name="Rectangle 3"/>
          <p:cNvSpPr>
            <a:spLocks noGrp="1" noChangeArrowheads="1"/>
          </p:cNvSpPr>
          <p:nvPr>
            <p:ph type="subTitle" idx="1"/>
          </p:nvPr>
        </p:nvSpPr>
        <p:spPr>
          <a:xfrm>
            <a:off x="4114800" y="6196013"/>
            <a:ext cx="4811713" cy="403225"/>
          </a:xfrm>
        </p:spPr>
        <p:txBody>
          <a:bodyPr/>
          <a:lstStyle>
            <a:lvl1pPr marL="0" indent="0" algn="r">
              <a:buFontTx/>
              <a:buNone/>
              <a:defRPr sz="1600" i="1">
                <a:solidFill>
                  <a:srgbClr val="FFFFFF"/>
                </a:solidFill>
                <a:latin typeface="Times New Roman" pitchFamily="18" charset="0"/>
              </a:defRPr>
            </a:lvl1pPr>
          </a:lstStyle>
          <a:p>
            <a:r>
              <a:rPr lang="en-US" altLang="zh-CN"/>
              <a:t>Click to edit Master subtitle style</a:t>
            </a:r>
            <a:endParaRPr lang="zh-CN" altLang="en-US"/>
          </a:p>
        </p:txBody>
      </p:sp>
      <p:sp>
        <p:nvSpPr>
          <p:cNvPr id="3074" name="Rectangle 2"/>
          <p:cNvSpPr>
            <a:spLocks noGrp="1" noChangeArrowheads="1"/>
          </p:cNvSpPr>
          <p:nvPr>
            <p:ph type="ctrTitle"/>
          </p:nvPr>
        </p:nvSpPr>
        <p:spPr>
          <a:xfrm>
            <a:off x="2819400" y="2819400"/>
            <a:ext cx="6019800" cy="1470025"/>
          </a:xfrm>
        </p:spPr>
        <p:txBody>
          <a:bodyPr/>
          <a:lstStyle>
            <a:lvl1pPr algn="r">
              <a:defRPr sz="4800">
                <a:solidFill>
                  <a:srgbClr val="000000"/>
                </a:solidFill>
              </a:defRPr>
            </a:lvl1pPr>
          </a:lstStyle>
          <a:p>
            <a:r>
              <a:rPr lang="en-US" altLang="zh-CN"/>
              <a:t>Click to edit Master title style</a:t>
            </a:r>
            <a:endParaRPr lang="zh-CN" altLang="en-US"/>
          </a:p>
        </p:txBody>
      </p:sp>
      <p:sp>
        <p:nvSpPr>
          <p:cNvPr id="47" name="Rectangle 4"/>
          <p:cNvSpPr>
            <a:spLocks noGrp="1" noChangeArrowheads="1"/>
          </p:cNvSpPr>
          <p:nvPr>
            <p:ph type="dt" sz="half" idx="10"/>
          </p:nvPr>
        </p:nvSpPr>
        <p:spPr>
          <a:xfrm>
            <a:off x="231775" y="6445250"/>
            <a:ext cx="2205038" cy="317500"/>
          </a:xfrm>
        </p:spPr>
        <p:txBody>
          <a:bodyPr/>
          <a:lstStyle>
            <a:lvl1pPr fontAlgn="auto">
              <a:spcBef>
                <a:spcPts val="0"/>
              </a:spcBef>
              <a:spcAft>
                <a:spcPts val="0"/>
              </a:spcAft>
              <a:defRPr/>
            </a:lvl1pPr>
          </a:lstStyle>
          <a:p>
            <a:pPr>
              <a:defRPr/>
            </a:pPr>
            <a:fld id="{0008631F-7F2D-4BC3-876B-66A99698722E}" type="datetime1">
              <a:rPr lang="zh-TW" altLang="en-US"/>
              <a:pPr>
                <a:defRPr/>
              </a:pPr>
              <a:t>2025/12/23</a:t>
            </a:fld>
            <a:endParaRPr lang="en-US" altLang="zh-CN"/>
          </a:p>
        </p:txBody>
      </p:sp>
      <p:sp>
        <p:nvSpPr>
          <p:cNvPr id="48" name="Rectangle 5"/>
          <p:cNvSpPr>
            <a:spLocks noGrp="1" noChangeArrowheads="1"/>
          </p:cNvSpPr>
          <p:nvPr>
            <p:ph type="ftr" sz="quarter" idx="11"/>
          </p:nvPr>
        </p:nvSpPr>
        <p:spPr>
          <a:xfrm>
            <a:off x="2574925" y="6445250"/>
            <a:ext cx="2990850" cy="317500"/>
          </a:xfrm>
        </p:spPr>
        <p:txBody>
          <a:bodyPr/>
          <a:lstStyle>
            <a:lvl1pPr fontAlgn="auto">
              <a:spcBef>
                <a:spcPts val="0"/>
              </a:spcBef>
              <a:spcAft>
                <a:spcPts val="0"/>
              </a:spcAft>
              <a:defRPr/>
            </a:lvl1pPr>
          </a:lstStyle>
          <a:p>
            <a:pPr>
              <a:defRPr/>
            </a:pPr>
            <a:endParaRPr lang="en-US" altLang="zh-CN"/>
          </a:p>
        </p:txBody>
      </p:sp>
      <p:sp>
        <p:nvSpPr>
          <p:cNvPr id="49" name="Rectangle 6"/>
          <p:cNvSpPr>
            <a:spLocks noGrp="1" noChangeArrowheads="1"/>
          </p:cNvSpPr>
          <p:nvPr>
            <p:ph type="sldNum" sz="quarter" idx="12"/>
          </p:nvPr>
        </p:nvSpPr>
        <p:spPr>
          <a:xfrm>
            <a:off x="5700713" y="6445250"/>
            <a:ext cx="2205037" cy="317500"/>
          </a:xfrm>
        </p:spPr>
        <p:txBody>
          <a:bodyPr/>
          <a:lstStyle>
            <a:lvl1pPr>
              <a:defRPr/>
            </a:lvl1pPr>
          </a:lstStyle>
          <a:p>
            <a:fld id="{940352E0-3AE4-4311-8340-2E2BF166B30D}" type="slidenum">
              <a:rPr lang="zh-CN" altLang="en-US"/>
              <a:pPr/>
              <a:t>‹#›</a:t>
            </a:fld>
            <a:endParaRPr lang="en-US" altLang="zh-CN"/>
          </a:p>
        </p:txBody>
      </p:sp>
    </p:spTree>
    <p:extLst>
      <p:ext uri="{BB962C8B-B14F-4D97-AF65-F5344CB8AC3E}">
        <p14:creationId xmlns:p14="http://schemas.microsoft.com/office/powerpoint/2010/main" val="113220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ppt_x</p:attrName>
                                        </p:attrNameLst>
                                      </p:cBhvr>
                                      <p:tavLst>
                                        <p:tav tm="0">
                                          <p:val>
                                            <p:strVal val="#ppt_x-.2"/>
                                          </p:val>
                                        </p:tav>
                                        <p:tav tm="100000">
                                          <p:val>
                                            <p:strVal val="#ppt_x"/>
                                          </p:val>
                                        </p:tav>
                                      </p:tavLst>
                                    </p:anim>
                                    <p:anim calcmode="lin" valueType="num">
                                      <p:cBhvr>
                                        <p:cTn id="8" dur="1000" fill="hold"/>
                                        <p:tgtEl>
                                          <p:spTgt spid="31"/>
                                        </p:tgtEl>
                                        <p:attrNameLst>
                                          <p:attrName>ppt_y</p:attrName>
                                        </p:attrNameLst>
                                      </p:cBhvr>
                                      <p:tavLst>
                                        <p:tav tm="0">
                                          <p:val>
                                            <p:strVal val="#ppt_y"/>
                                          </p:val>
                                        </p:tav>
                                        <p:tav tm="100000">
                                          <p:val>
                                            <p:strVal val="#ppt_y"/>
                                          </p:val>
                                        </p:tav>
                                      </p:tavLst>
                                    </p:anim>
                                    <p:animEffect transition="in" filter="wipe(right)" prLst="gradientSize: 0.1">
                                      <p:cBhvr>
                                        <p:cTn id="9" dur="1000"/>
                                        <p:tgtEl>
                                          <p:spTgt spid="31"/>
                                        </p:tgtEl>
                                      </p:cBhvr>
                                    </p:animEffect>
                                  </p:childTnLst>
                                </p:cTn>
                              </p:par>
                            </p:childTnLst>
                          </p:cTn>
                        </p:par>
                        <p:par>
                          <p:cTn id="10" fill="hold">
                            <p:stCondLst>
                              <p:cond delay="1000"/>
                            </p:stCondLst>
                            <p:childTnLst>
                              <p:par>
                                <p:cTn id="11" presetID="22" presetClass="entr" presetSubtype="2"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right)">
                                      <p:cBhvr>
                                        <p:cTn id="13" dur="500"/>
                                        <p:tgtEl>
                                          <p:spTgt spid="37"/>
                                        </p:tgtEl>
                                      </p:cBhvr>
                                    </p:animEffect>
                                  </p:childTnLst>
                                </p:cTn>
                              </p:par>
                              <p:par>
                                <p:cTn id="14" presetID="22" presetClass="entr" presetSubtype="8"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1000"/>
                                        <p:tgtEl>
                                          <p:spTgt spid="32"/>
                                        </p:tgtEl>
                                      </p:cBhvr>
                                    </p:animEffect>
                                  </p:childTnLst>
                                </p:cTn>
                              </p:par>
                              <p:par>
                                <p:cTn id="20" presetID="22" presetClass="entr" presetSubtype="2"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right)">
                                      <p:cBhvr>
                                        <p:cTn id="22" dur="500"/>
                                        <p:tgtEl>
                                          <p:spTgt spid="10"/>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1000"/>
                                        <p:tgtEl>
                                          <p:spTgt spid="46"/>
                                        </p:tgtEl>
                                      </p:cBhvr>
                                    </p:animEffect>
                                  </p:childTnLst>
                                </p:cTn>
                              </p:par>
                            </p:childTnLst>
                          </p:cTn>
                        </p:par>
                        <p:par>
                          <p:cTn id="31" fill="hold">
                            <p:stCondLst>
                              <p:cond delay="350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childTnLst>
                                </p:cTn>
                              </p:par>
                            </p:childTnLst>
                          </p:cTn>
                        </p:par>
                        <p:par>
                          <p:cTn id="35" fill="hold">
                            <p:stCondLst>
                              <p:cond delay="4500"/>
                            </p:stCondLst>
                            <p:childTnLst>
                              <p:par>
                                <p:cTn id="36" presetID="10" presetClass="exit" presetSubtype="0" fill="hold" grpId="0" nodeType="afterEffect">
                                  <p:stCondLst>
                                    <p:cond delay="0"/>
                                  </p:stCondLst>
                                  <p:childTnLst>
                                    <p:animEffect transition="out" filter="fade">
                                      <p:cBhvr>
                                        <p:cTn id="37" dur="1000"/>
                                        <p:tgtEl>
                                          <p:spTgt spid="9"/>
                                        </p:tgtEl>
                                      </p:cBhvr>
                                    </p:animEffect>
                                    <p:set>
                                      <p:cBhvr>
                                        <p:cTn id="38" dur="1" fill="hold">
                                          <p:stCondLst>
                                            <p:cond delay="999"/>
                                          </p:stCondLst>
                                        </p:cTn>
                                        <p:tgtEl>
                                          <p:spTgt spid="9"/>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1000"/>
                                        <p:tgtEl>
                                          <p:spTgt spid="41"/>
                                        </p:tgtEl>
                                      </p:cBhvr>
                                    </p:animEffect>
                                  </p:childTnLst>
                                </p:cTn>
                              </p:par>
                              <p:par>
                                <p:cTn id="42" presetID="10" presetClass="entr" presetSubtype="0" fill="hold"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1000"/>
                                        <p:tgtEl>
                                          <p:spTgt spid="45"/>
                                        </p:tgtEl>
                                      </p:cBhvr>
                                    </p:animEffect>
                                  </p:childTnLst>
                                </p:cTn>
                              </p:par>
                            </p:childTnLst>
                          </p:cTn>
                        </p:par>
                        <p:par>
                          <p:cTn id="45" fill="hold">
                            <p:stCondLst>
                              <p:cond delay="5500"/>
                            </p:stCondLst>
                            <p:childTnLst>
                              <p:par>
                                <p:cTn id="46" presetID="10" presetClass="exit" presetSubtype="0" fill="hold" grpId="0" nodeType="afterEffect">
                                  <p:stCondLst>
                                    <p:cond delay="0"/>
                                  </p:stCondLst>
                                  <p:childTnLst>
                                    <p:animEffect transition="out" filter="fade">
                                      <p:cBhvr>
                                        <p:cTn id="47" dur="1000"/>
                                        <p:tgtEl>
                                          <p:spTgt spid="42"/>
                                        </p:tgtEl>
                                      </p:cBhvr>
                                    </p:animEffect>
                                    <p:set>
                                      <p:cBhvr>
                                        <p:cTn id="48" dur="1" fill="hold">
                                          <p:stCondLst>
                                            <p:cond delay="9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31" grpId="0" animBg="1"/>
      <p:bldP spid="32" grpId="0" animBg="1"/>
      <p:bldP spid="37" grpId="0" animBg="1"/>
      <p:bldP spid="41" grpId="0" animBg="1"/>
      <p:bldP spid="42" grpId="0" animBg="1"/>
      <p:bldP spid="46"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468AD67D-76B8-4342-B950-C27D7FAFBC24}"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A38FFA64-2514-4DD8-A37A-C44B06AFDC2F}" type="slidenum">
              <a:rPr lang="zh-CN" altLang="en-US"/>
              <a:pPr/>
              <a:t>‹#›</a:t>
            </a:fld>
            <a:endParaRPr lang="en-US" altLang="zh-CN"/>
          </a:p>
        </p:txBody>
      </p:sp>
    </p:spTree>
    <p:extLst>
      <p:ext uri="{BB962C8B-B14F-4D97-AF65-F5344CB8AC3E}">
        <p14:creationId xmlns:p14="http://schemas.microsoft.com/office/powerpoint/2010/main" val="1524328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Click to edit Master text styles</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ADCD929C-1FEA-40E5-B6EE-190233DF8F33}"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AE28FE4A-BCB5-4B83-9990-6D0BF5A60DB4}" type="slidenum">
              <a:rPr lang="zh-CN" altLang="en-US"/>
              <a:pPr/>
              <a:t>‹#›</a:t>
            </a:fld>
            <a:endParaRPr lang="en-US" altLang="zh-CN"/>
          </a:p>
        </p:txBody>
      </p:sp>
    </p:spTree>
    <p:extLst>
      <p:ext uri="{BB962C8B-B14F-4D97-AF65-F5344CB8AC3E}">
        <p14:creationId xmlns:p14="http://schemas.microsoft.com/office/powerpoint/2010/main" val="1518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B70B9258-DFC0-4EB9-9593-F2A9DD68B02B}" type="datetime1">
              <a:rPr lang="zh-TW" altLang="en-US"/>
              <a:pPr>
                <a:defRPr/>
              </a:pPr>
              <a:t>2025/12/23</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39B6EEB5-46C2-4635-968B-56A690229C7A}" type="slidenum">
              <a:rPr lang="zh-CN" altLang="en-US"/>
              <a:pPr/>
              <a:t>‹#›</a:t>
            </a:fld>
            <a:endParaRPr lang="en-US" altLang="zh-CN"/>
          </a:p>
        </p:txBody>
      </p:sp>
    </p:spTree>
    <p:extLst>
      <p:ext uri="{BB962C8B-B14F-4D97-AF65-F5344CB8AC3E}">
        <p14:creationId xmlns:p14="http://schemas.microsoft.com/office/powerpoint/2010/main" val="59374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63B38B82-D1B2-41C6-B211-7326FFF75994}" type="datetime1">
              <a:rPr lang="zh-TW" altLang="en-US"/>
              <a:pPr>
                <a:defRPr/>
              </a:pPr>
              <a:t>2025/12/23</a:t>
            </a:fld>
            <a:endParaRPr lang="en-US" altLang="zh-CN"/>
          </a:p>
        </p:txBody>
      </p:sp>
      <p:sp>
        <p:nvSpPr>
          <p:cNvPr id="8"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13954BF1-0763-4062-BB73-1A210FDED480}" type="slidenum">
              <a:rPr lang="zh-CN" altLang="en-US"/>
              <a:pPr/>
              <a:t>‹#›</a:t>
            </a:fld>
            <a:endParaRPr lang="en-US" altLang="zh-CN"/>
          </a:p>
        </p:txBody>
      </p:sp>
    </p:spTree>
    <p:extLst>
      <p:ext uri="{BB962C8B-B14F-4D97-AF65-F5344CB8AC3E}">
        <p14:creationId xmlns:p14="http://schemas.microsoft.com/office/powerpoint/2010/main" val="1723613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FA0C2C24-447D-482F-AD8A-256988C728AE}" type="datetime1">
              <a:rPr lang="zh-TW" altLang="en-US"/>
              <a:pPr>
                <a:defRPr/>
              </a:pPr>
              <a:t>2025/12/23</a:t>
            </a:fld>
            <a:endParaRPr lang="en-US" altLang="zh-CN"/>
          </a:p>
        </p:txBody>
      </p:sp>
      <p:sp>
        <p:nvSpPr>
          <p:cNvPr id="4"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44579AF1-A9A3-4318-A439-B14B7DCF669B}" type="slidenum">
              <a:rPr lang="zh-CN" altLang="en-US"/>
              <a:pPr/>
              <a:t>‹#›</a:t>
            </a:fld>
            <a:endParaRPr lang="en-US" altLang="zh-CN"/>
          </a:p>
        </p:txBody>
      </p:sp>
    </p:spTree>
    <p:extLst>
      <p:ext uri="{BB962C8B-B14F-4D97-AF65-F5344CB8AC3E}">
        <p14:creationId xmlns:p14="http://schemas.microsoft.com/office/powerpoint/2010/main" val="3489184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7D299202-F86D-488E-9943-8D94F27F077C}" type="datetime1">
              <a:rPr lang="zh-TW" altLang="en-US"/>
              <a:pPr>
                <a:defRPr/>
              </a:pPr>
              <a:t>2025/12/23</a:t>
            </a:fld>
            <a:endParaRPr lang="en-US" altLang="zh-CN"/>
          </a:p>
        </p:txBody>
      </p:sp>
      <p:sp>
        <p:nvSpPr>
          <p:cNvPr id="3"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5A7D26C0-E06E-469A-9353-7AC9DA196587}" type="slidenum">
              <a:rPr lang="zh-CN" altLang="en-US"/>
              <a:pPr/>
              <a:t>‹#›</a:t>
            </a:fld>
            <a:endParaRPr lang="en-US" altLang="zh-CN"/>
          </a:p>
        </p:txBody>
      </p:sp>
    </p:spTree>
    <p:extLst>
      <p:ext uri="{BB962C8B-B14F-4D97-AF65-F5344CB8AC3E}">
        <p14:creationId xmlns:p14="http://schemas.microsoft.com/office/powerpoint/2010/main" val="49209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29C01313-9DB4-4FBA-BD66-6B094B4FA32C}" type="datetime1">
              <a:rPr lang="zh-TW" altLang="en-US"/>
              <a:pPr>
                <a:defRPr/>
              </a:pPr>
              <a:t>2025/12/23</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7A59706-F68E-48ED-B883-B81A49D7F925}" type="slidenum">
              <a:rPr lang="zh-CN" altLang="en-US"/>
              <a:pPr/>
              <a:t>‹#›</a:t>
            </a:fld>
            <a:endParaRPr lang="en-US" altLang="zh-CN"/>
          </a:p>
        </p:txBody>
      </p:sp>
    </p:spTree>
    <p:extLst>
      <p:ext uri="{BB962C8B-B14F-4D97-AF65-F5344CB8AC3E}">
        <p14:creationId xmlns:p14="http://schemas.microsoft.com/office/powerpoint/2010/main" val="535310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FE193DC-F83E-465E-8156-D986EDE45A43}" type="datetime1">
              <a:rPr lang="zh-TW" altLang="en-US"/>
              <a:pPr>
                <a:defRPr/>
              </a:pPr>
              <a:t>2025/12/23</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E11C7CFB-8B63-4E66-8FFC-A57A090E5508}" type="slidenum">
              <a:rPr lang="zh-CN" altLang="en-US"/>
              <a:pPr/>
              <a:t>‹#›</a:t>
            </a:fld>
            <a:endParaRPr lang="en-US" altLang="zh-CN"/>
          </a:p>
        </p:txBody>
      </p:sp>
    </p:spTree>
    <p:extLst>
      <p:ext uri="{BB962C8B-B14F-4D97-AF65-F5344CB8AC3E}">
        <p14:creationId xmlns:p14="http://schemas.microsoft.com/office/powerpoint/2010/main" val="254481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4A364CF-D3AD-4F55-97E3-829973451423}"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702AED7B-36EA-47EC-A969-DC722CA4C1D4}" type="slidenum">
              <a:rPr lang="zh-CN" altLang="en-US"/>
              <a:pPr/>
              <a:t>‹#›</a:t>
            </a:fld>
            <a:endParaRPr lang="en-US" altLang="zh-CN"/>
          </a:p>
        </p:txBody>
      </p:sp>
    </p:spTree>
    <p:extLst>
      <p:ext uri="{BB962C8B-B14F-4D97-AF65-F5344CB8AC3E}">
        <p14:creationId xmlns:p14="http://schemas.microsoft.com/office/powerpoint/2010/main" val="234073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38125"/>
            <a:ext cx="2057400" cy="5934075"/>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38125"/>
            <a:ext cx="6019800" cy="5934075"/>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060EE440-6B16-4BE6-A466-1DF209EE46D3}"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3087C34-C2FC-4E65-9448-1FB42CF0E358}" type="slidenum">
              <a:rPr lang="zh-CN" altLang="en-US"/>
              <a:pPr/>
              <a:t>‹#›</a:t>
            </a:fld>
            <a:endParaRPr lang="en-US" altLang="zh-CN"/>
          </a:p>
        </p:txBody>
      </p:sp>
    </p:spTree>
    <p:extLst>
      <p:ext uri="{BB962C8B-B14F-4D97-AF65-F5344CB8AC3E}">
        <p14:creationId xmlns:p14="http://schemas.microsoft.com/office/powerpoint/2010/main" val="1457049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438275"/>
            <a:ext cx="4038600" cy="473392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438275"/>
            <a:ext cx="4038600" cy="473392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41AAA475-3A45-4C71-840E-1FA45EF4E76E}" type="datetime1">
              <a:rPr lang="zh-TW" altLang="en-US"/>
              <a:pPr>
                <a:defRPr/>
              </a:pPr>
              <a:t>2025/12/23</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60352BC-5F24-485F-9F6A-8E15DA13BF37}" type="slidenum">
              <a:rPr lang="zh-CN" altLang="en-US"/>
              <a:pPr/>
              <a:t>‹#›</a:t>
            </a:fld>
            <a:endParaRPr lang="en-US" altLang="zh-CN"/>
          </a:p>
        </p:txBody>
      </p:sp>
    </p:spTree>
    <p:extLst>
      <p:ext uri="{BB962C8B-B14F-4D97-AF65-F5344CB8AC3E}">
        <p14:creationId xmlns:p14="http://schemas.microsoft.com/office/powerpoint/2010/main" val="2080584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表格版面配置區 2"/>
          <p:cNvSpPr>
            <a:spLocks noGrp="1"/>
          </p:cNvSpPr>
          <p:nvPr>
            <p:ph type="tbl" idx="1"/>
          </p:nvPr>
        </p:nvSpPr>
        <p:spPr>
          <a:xfrm>
            <a:off x="457200" y="1438275"/>
            <a:ext cx="8229600" cy="4733925"/>
          </a:xfrm>
        </p:spPr>
        <p:txBody>
          <a:bodyPr/>
          <a:lstStyle/>
          <a:p>
            <a:pPr lvl="0"/>
            <a:r>
              <a:rPr lang="en-US" altLang="zh-TW" noProof="0"/>
              <a:t>Click icon to add table</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EEAAD236-8915-4732-809F-E30966216F16}"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70D9D40-0596-4611-88F3-8D7B084590D5}" type="slidenum">
              <a:rPr lang="zh-CN" altLang="en-US"/>
              <a:pPr/>
              <a:t>‹#›</a:t>
            </a:fld>
            <a:endParaRPr lang="en-US" altLang="zh-CN"/>
          </a:p>
        </p:txBody>
      </p:sp>
    </p:spTree>
    <p:extLst>
      <p:ext uri="{BB962C8B-B14F-4D97-AF65-F5344CB8AC3E}">
        <p14:creationId xmlns:p14="http://schemas.microsoft.com/office/powerpoint/2010/main" val="2114484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標題及圖表">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圖表版面配置區 2"/>
          <p:cNvSpPr>
            <a:spLocks noGrp="1"/>
          </p:cNvSpPr>
          <p:nvPr>
            <p:ph type="chart" idx="1"/>
          </p:nvPr>
        </p:nvSpPr>
        <p:spPr>
          <a:xfrm>
            <a:off x="457200" y="1438275"/>
            <a:ext cx="8229600" cy="4733925"/>
          </a:xfrm>
        </p:spPr>
        <p:txBody>
          <a:bodyPr/>
          <a:lstStyle/>
          <a:p>
            <a:pPr lvl="0"/>
            <a:r>
              <a:rPr lang="en-US" altLang="zh-TW" noProof="0"/>
              <a:t>Click icon to add chart</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F0AAB77-7D3D-4A4E-853D-84377DA8FF5A}"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CC219FA-6E5D-4CA3-B34E-880C0B60F362}" type="slidenum">
              <a:rPr lang="zh-CN" altLang="en-US"/>
              <a:pPr/>
              <a:t>‹#›</a:t>
            </a:fld>
            <a:endParaRPr lang="en-US" altLang="zh-CN"/>
          </a:p>
        </p:txBody>
      </p:sp>
    </p:spTree>
    <p:extLst>
      <p:ext uri="{BB962C8B-B14F-4D97-AF65-F5344CB8AC3E}">
        <p14:creationId xmlns:p14="http://schemas.microsoft.com/office/powerpoint/2010/main" val="29327632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標題及圖表或組織圖">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SmartArt 版面配置區 2"/>
          <p:cNvSpPr>
            <a:spLocks noGrp="1"/>
          </p:cNvSpPr>
          <p:nvPr>
            <p:ph type="dgm" idx="1"/>
          </p:nvPr>
        </p:nvSpPr>
        <p:spPr>
          <a:xfrm>
            <a:off x="457200" y="1438275"/>
            <a:ext cx="8229600" cy="4733925"/>
          </a:xfrm>
        </p:spPr>
        <p:txBody>
          <a:bodyPr/>
          <a:lstStyle/>
          <a:p>
            <a:pPr lvl="0"/>
            <a:r>
              <a:rPr lang="en-US" altLang="zh-TW" noProof="0"/>
              <a:t>Click icon to add SmartArt graphic</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76D167D3-21FF-4A9B-B77D-D2E2EEFC1568}" type="datetime1">
              <a:rPr lang="zh-TW" altLang="en-US"/>
              <a:pPr>
                <a:defRPr/>
              </a:pPr>
              <a:t>2025/12/23</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6A52AE8-BA4B-4BAC-8E0A-9443A71F26DA}" type="slidenum">
              <a:rPr lang="zh-CN" altLang="en-US"/>
              <a:pPr/>
              <a:t>‹#›</a:t>
            </a:fld>
            <a:endParaRPr lang="en-US" altLang="zh-CN"/>
          </a:p>
        </p:txBody>
      </p:sp>
    </p:spTree>
    <p:extLst>
      <p:ext uri="{BB962C8B-B14F-4D97-AF65-F5344CB8AC3E}">
        <p14:creationId xmlns:p14="http://schemas.microsoft.com/office/powerpoint/2010/main" val="382026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170" name="Group 7"/>
          <p:cNvGrpSpPr>
            <a:grpSpLocks/>
          </p:cNvGrpSpPr>
          <p:nvPr/>
        </p:nvGrpSpPr>
        <p:grpSpPr bwMode="auto">
          <a:xfrm>
            <a:off x="6553200" y="6013450"/>
            <a:ext cx="2392363" cy="563563"/>
            <a:chOff x="1566" y="164"/>
            <a:chExt cx="1455" cy="425"/>
          </a:xfrm>
        </p:grpSpPr>
        <p:sp>
          <p:nvSpPr>
            <p:cNvPr id="7187" name="Freeform 8"/>
            <p:cNvSpPr>
              <a:spLocks/>
            </p:cNvSpPr>
            <p:nvPr/>
          </p:nvSpPr>
          <p:spPr bwMode="gray">
            <a:xfrm>
              <a:off x="1892" y="468"/>
              <a:ext cx="39" cy="121"/>
            </a:xfrm>
            <a:custGeom>
              <a:avLst/>
              <a:gdLst>
                <a:gd name="T0" fmla="*/ 37 w 39"/>
                <a:gd name="T1" fmla="*/ 36 h 121"/>
                <a:gd name="T2" fmla="*/ 35 w 39"/>
                <a:gd name="T3" fmla="*/ 36 h 121"/>
                <a:gd name="T4" fmla="*/ 30 w 39"/>
                <a:gd name="T5" fmla="*/ 36 h 121"/>
                <a:gd name="T6" fmla="*/ 22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23 w 39"/>
                <a:gd name="T23" fmla="*/ 5 h 121"/>
                <a:gd name="T24" fmla="*/ 30 w 39"/>
                <a:gd name="T25" fmla="*/ 11 h 121"/>
                <a:gd name="T26" fmla="*/ 37 w 39"/>
                <a:gd name="T27" fmla="*/ 20 h 121"/>
                <a:gd name="T28" fmla="*/ 39 w 39"/>
                <a:gd name="T29" fmla="*/ 34 h 121"/>
                <a:gd name="T30" fmla="*/ 39 w 39"/>
                <a:gd name="T31" fmla="*/ 121 h 121"/>
                <a:gd name="T32" fmla="*/ 37 w 39"/>
                <a:gd name="T33" fmla="*/ 121 h 121"/>
                <a:gd name="T34" fmla="*/ 37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88" name="Freeform 9"/>
            <p:cNvSpPr>
              <a:spLocks/>
            </p:cNvSpPr>
            <p:nvPr/>
          </p:nvSpPr>
          <p:spPr bwMode="gray">
            <a:xfrm>
              <a:off x="2271" y="450"/>
              <a:ext cx="45" cy="139"/>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39 h 139"/>
                <a:gd name="T32" fmla="*/ 3 w 45"/>
                <a:gd name="T33" fmla="*/ 139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89" name="Freeform 10"/>
            <p:cNvSpPr>
              <a:spLocks/>
            </p:cNvSpPr>
            <p:nvPr/>
          </p:nvSpPr>
          <p:spPr bwMode="gray">
            <a:xfrm>
              <a:off x="1765"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0" name="Freeform 11"/>
            <p:cNvSpPr>
              <a:spLocks/>
            </p:cNvSpPr>
            <p:nvPr/>
          </p:nvSpPr>
          <p:spPr bwMode="gray">
            <a:xfrm>
              <a:off x="2792" y="378"/>
              <a:ext cx="144"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3 w 144"/>
                <a:gd name="T37" fmla="*/ 62 h 211"/>
                <a:gd name="T38" fmla="*/ 73 w 144"/>
                <a:gd name="T39" fmla="*/ 60 h 211"/>
                <a:gd name="T40" fmla="*/ 73 w 144"/>
                <a:gd name="T41" fmla="*/ 55 h 211"/>
                <a:gd name="T42" fmla="*/ 74 w 144"/>
                <a:gd name="T43" fmla="*/ 45 h 211"/>
                <a:gd name="T44" fmla="*/ 77 w 144"/>
                <a:gd name="T45" fmla="*/ 36 h 211"/>
                <a:gd name="T46" fmla="*/ 82 w 144"/>
                <a:gd name="T47" fmla="*/ 25 h 211"/>
                <a:gd name="T48" fmla="*/ 91 w 144"/>
                <a:gd name="T49" fmla="*/ 16 h 211"/>
                <a:gd name="T50" fmla="*/ 105 w 144"/>
                <a:gd name="T51" fmla="*/ 8 h 211"/>
                <a:gd name="T52" fmla="*/ 121 w 144"/>
                <a:gd name="T53" fmla="*/ 2 h 211"/>
                <a:gd name="T54" fmla="*/ 144 w 144"/>
                <a:gd name="T55" fmla="*/ 0 h 211"/>
                <a:gd name="T56" fmla="*/ 144 w 144"/>
                <a:gd name="T57" fmla="*/ 2 h 211"/>
                <a:gd name="T58" fmla="*/ 144 w 144"/>
                <a:gd name="T59" fmla="*/ 8 h 211"/>
                <a:gd name="T60" fmla="*/ 141 w 144"/>
                <a:gd name="T61" fmla="*/ 17 h 211"/>
                <a:gd name="T62" fmla="*/ 139 w 144"/>
                <a:gd name="T63" fmla="*/ 28 h 211"/>
                <a:gd name="T64" fmla="*/ 133 w 144"/>
                <a:gd name="T65" fmla="*/ 39 h 211"/>
                <a:gd name="T66" fmla="*/ 125 w 144"/>
                <a:gd name="T67" fmla="*/ 49 h 211"/>
                <a:gd name="T68" fmla="*/ 113 w 144"/>
                <a:gd name="T69" fmla="*/ 59 h 211"/>
                <a:gd name="T70" fmla="*/ 97 w 144"/>
                <a:gd name="T71" fmla="*/ 64 h 211"/>
                <a:gd name="T72" fmla="*/ 77 w 144"/>
                <a:gd name="T73" fmla="*/ 67 h 211"/>
                <a:gd name="T74" fmla="*/ 77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1" name="Freeform 12"/>
            <p:cNvSpPr>
              <a:spLocks/>
            </p:cNvSpPr>
            <p:nvPr/>
          </p:nvSpPr>
          <p:spPr bwMode="gray">
            <a:xfrm>
              <a:off x="2631" y="457"/>
              <a:ext cx="89"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5 w 89"/>
                <a:gd name="T31" fmla="*/ 39 h 132"/>
                <a:gd name="T32" fmla="*/ 45 w 89"/>
                <a:gd name="T33" fmla="*/ 38 h 132"/>
                <a:gd name="T34" fmla="*/ 45 w 89"/>
                <a:gd name="T35" fmla="*/ 34 h 132"/>
                <a:gd name="T36" fmla="*/ 46 w 89"/>
                <a:gd name="T37" fmla="*/ 27 h 132"/>
                <a:gd name="T38" fmla="*/ 49 w 89"/>
                <a:gd name="T39" fmla="*/ 20 h 132"/>
                <a:gd name="T40" fmla="*/ 54 w 89"/>
                <a:gd name="T41" fmla="*/ 14 h 132"/>
                <a:gd name="T42" fmla="*/ 62 w 89"/>
                <a:gd name="T43" fmla="*/ 7 h 132"/>
                <a:gd name="T44" fmla="*/ 73 w 89"/>
                <a:gd name="T45" fmla="*/ 3 h 132"/>
                <a:gd name="T46" fmla="*/ 89 w 89"/>
                <a:gd name="T47" fmla="*/ 0 h 132"/>
                <a:gd name="T48" fmla="*/ 89 w 89"/>
                <a:gd name="T49" fmla="*/ 3 h 132"/>
                <a:gd name="T50" fmla="*/ 88 w 89"/>
                <a:gd name="T51" fmla="*/ 10 h 132"/>
                <a:gd name="T52" fmla="*/ 87 w 89"/>
                <a:gd name="T53" fmla="*/ 18 h 132"/>
                <a:gd name="T54" fmla="*/ 81 w 89"/>
                <a:gd name="T55" fmla="*/ 26 h 132"/>
                <a:gd name="T56" fmla="*/ 74 w 89"/>
                <a:gd name="T57" fmla="*/ 34 h 132"/>
                <a:gd name="T58" fmla="*/ 64 w 89"/>
                <a:gd name="T59" fmla="*/ 41 h 132"/>
                <a:gd name="T60" fmla="*/ 47 w 89"/>
                <a:gd name="T61" fmla="*/ 43 h 132"/>
                <a:gd name="T62" fmla="*/ 47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2" name="Freeform 13"/>
            <p:cNvSpPr>
              <a:spLocks/>
            </p:cNvSpPr>
            <p:nvPr/>
          </p:nvSpPr>
          <p:spPr bwMode="gray">
            <a:xfrm>
              <a:off x="2430" y="403"/>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3" name="Freeform 14"/>
            <p:cNvSpPr>
              <a:spLocks/>
            </p:cNvSpPr>
            <p:nvPr/>
          </p:nvSpPr>
          <p:spPr bwMode="gray">
            <a:xfrm>
              <a:off x="1914" y="233"/>
              <a:ext cx="166" cy="356"/>
            </a:xfrm>
            <a:custGeom>
              <a:avLst/>
              <a:gdLst>
                <a:gd name="T0" fmla="*/ 85 w 166"/>
                <a:gd name="T1" fmla="*/ 84 h 356"/>
                <a:gd name="T2" fmla="*/ 101 w 166"/>
                <a:gd name="T3" fmla="*/ 81 h 356"/>
                <a:gd name="T4" fmla="*/ 124 w 166"/>
                <a:gd name="T5" fmla="*/ 73 h 356"/>
                <a:gd name="T6" fmla="*/ 148 w 166"/>
                <a:gd name="T7" fmla="*/ 56 h 356"/>
                <a:gd name="T8" fmla="*/ 163 w 166"/>
                <a:gd name="T9" fmla="*/ 23 h 356"/>
                <a:gd name="T10" fmla="*/ 163 w 166"/>
                <a:gd name="T11" fmla="*/ 0 h 356"/>
                <a:gd name="T12" fmla="*/ 148 w 166"/>
                <a:gd name="T13" fmla="*/ 0 h 356"/>
                <a:gd name="T14" fmla="*/ 125 w 166"/>
                <a:gd name="T15" fmla="*/ 6 h 356"/>
                <a:gd name="T16" fmla="*/ 101 w 166"/>
                <a:gd name="T17" fmla="*/ 22 h 356"/>
                <a:gd name="T18" fmla="*/ 82 w 166"/>
                <a:gd name="T19" fmla="*/ 54 h 356"/>
                <a:gd name="T20" fmla="*/ 77 w 166"/>
                <a:gd name="T21" fmla="*/ 173 h 356"/>
                <a:gd name="T22" fmla="*/ 77 w 166"/>
                <a:gd name="T23" fmla="*/ 165 h 356"/>
                <a:gd name="T24" fmla="*/ 71 w 166"/>
                <a:gd name="T25" fmla="*/ 146 h 356"/>
                <a:gd name="T26" fmla="*/ 60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55 w 166"/>
                <a:gd name="T41" fmla="*/ 177 h 356"/>
                <a:gd name="T42" fmla="*/ 77 w 166"/>
                <a:gd name="T43" fmla="*/ 356 h 356"/>
                <a:gd name="T44" fmla="*/ 82 w 166"/>
                <a:gd name="T45" fmla="*/ 274 h 356"/>
                <a:gd name="T46" fmla="*/ 91 w 166"/>
                <a:gd name="T47" fmla="*/ 273 h 356"/>
                <a:gd name="T48" fmla="*/ 112 w 166"/>
                <a:gd name="T49" fmla="*/ 267 h 356"/>
                <a:gd name="T50" fmla="*/ 135 w 166"/>
                <a:gd name="T51" fmla="*/ 252 h 356"/>
                <a:gd name="T52" fmla="*/ 151 w 166"/>
                <a:gd name="T53" fmla="*/ 224 h 356"/>
                <a:gd name="T54" fmla="*/ 152 w 166"/>
                <a:gd name="T55" fmla="*/ 203 h 356"/>
                <a:gd name="T56" fmla="*/ 137 w 166"/>
                <a:gd name="T57" fmla="*/ 204 h 356"/>
                <a:gd name="T58" fmla="*/ 117 w 166"/>
                <a:gd name="T59" fmla="*/ 211 h 356"/>
                <a:gd name="T60" fmla="*/ 97 w 166"/>
                <a:gd name="T61" fmla="*/ 231 h 356"/>
                <a:gd name="T62" fmla="*/ 82 w 166"/>
                <a:gd name="T63" fmla="*/ 267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4" name="Freeform 15"/>
            <p:cNvSpPr>
              <a:spLocks/>
            </p:cNvSpPr>
            <p:nvPr/>
          </p:nvSpPr>
          <p:spPr bwMode="gray">
            <a:xfrm>
              <a:off x="2514" y="379"/>
              <a:ext cx="92" cy="210"/>
            </a:xfrm>
            <a:custGeom>
              <a:avLst/>
              <a:gdLst>
                <a:gd name="T0" fmla="*/ 43 w 92"/>
                <a:gd name="T1" fmla="*/ 162 h 210"/>
                <a:gd name="T2" fmla="*/ 36 w 92"/>
                <a:gd name="T3" fmla="*/ 160 h 210"/>
                <a:gd name="T4" fmla="*/ 23 w 92"/>
                <a:gd name="T5" fmla="*/ 155 h 210"/>
                <a:gd name="T6" fmla="*/ 12 w 92"/>
                <a:gd name="T7" fmla="*/ 141 h 210"/>
                <a:gd name="T8" fmla="*/ 12 w 92"/>
                <a:gd name="T9" fmla="*/ 129 h 210"/>
                <a:gd name="T10" fmla="*/ 23 w 92"/>
                <a:gd name="T11" fmla="*/ 132 h 210"/>
                <a:gd name="T12" fmla="*/ 38 w 92"/>
                <a:gd name="T13" fmla="*/ 145 h 210"/>
                <a:gd name="T14" fmla="*/ 43 w 92"/>
                <a:gd name="T15" fmla="*/ 108 h 210"/>
                <a:gd name="T16" fmla="*/ 35 w 92"/>
                <a:gd name="T17" fmla="*/ 106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46 w 92"/>
                <a:gd name="T45" fmla="*/ 38 h 210"/>
                <a:gd name="T46" fmla="*/ 51 w 92"/>
                <a:gd name="T47" fmla="*/ 24 h 210"/>
                <a:gd name="T48" fmla="*/ 66 w 92"/>
                <a:gd name="T49" fmla="*/ 8 h 210"/>
                <a:gd name="T50" fmla="*/ 92 w 92"/>
                <a:gd name="T51" fmla="*/ 0 h 210"/>
                <a:gd name="T52" fmla="*/ 90 w 92"/>
                <a:gd name="T53" fmla="*/ 8 h 210"/>
                <a:gd name="T54" fmla="*/ 82 w 92"/>
                <a:gd name="T55" fmla="*/ 25 h 210"/>
                <a:gd name="T56" fmla="*/ 63 w 92"/>
                <a:gd name="T57" fmla="*/ 40 h 210"/>
                <a:gd name="T58" fmla="*/ 49 w 92"/>
                <a:gd name="T59" fmla="*/ 124 h 210"/>
                <a:gd name="T60" fmla="*/ 50 w 92"/>
                <a:gd name="T61" fmla="*/ 116 h 210"/>
                <a:gd name="T62" fmla="*/ 59 w 92"/>
                <a:gd name="T63" fmla="*/ 100 h 210"/>
                <a:gd name="T64" fmla="*/ 81 w 92"/>
                <a:gd name="T65" fmla="*/ 92 h 210"/>
                <a:gd name="T66" fmla="*/ 80 w 92"/>
                <a:gd name="T67" fmla="*/ 98 h 210"/>
                <a:gd name="T68" fmla="*/ 73 w 92"/>
                <a:gd name="T69" fmla="*/ 114 h 210"/>
                <a:gd name="T70" fmla="*/ 59 w 92"/>
                <a:gd name="T71" fmla="*/ 127 h 210"/>
                <a:gd name="T72" fmla="*/ 49 w 92"/>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5" name="Freeform 16"/>
            <p:cNvSpPr>
              <a:spLocks/>
            </p:cNvSpPr>
            <p:nvPr/>
          </p:nvSpPr>
          <p:spPr bwMode="gray">
            <a:xfrm>
              <a:off x="1566" y="297"/>
              <a:ext cx="128" cy="292"/>
            </a:xfrm>
            <a:custGeom>
              <a:avLst/>
              <a:gdLst>
                <a:gd name="T0" fmla="*/ 61 w 128"/>
                <a:gd name="T1" fmla="*/ 225 h 292"/>
                <a:gd name="T2" fmla="*/ 54 w 128"/>
                <a:gd name="T3" fmla="*/ 225 h 292"/>
                <a:gd name="T4" fmla="*/ 38 w 128"/>
                <a:gd name="T5" fmla="*/ 219 h 292"/>
                <a:gd name="T6" fmla="*/ 23 w 128"/>
                <a:gd name="T7" fmla="*/ 206 h 292"/>
                <a:gd name="T8" fmla="*/ 15 w 128"/>
                <a:gd name="T9" fmla="*/ 180 h 292"/>
                <a:gd name="T10" fmla="*/ 23 w 128"/>
                <a:gd name="T11" fmla="*/ 180 h 292"/>
                <a:gd name="T12" fmla="*/ 38 w 128"/>
                <a:gd name="T13" fmla="*/ 186 h 292"/>
                <a:gd name="T14" fmla="*/ 54 w 128"/>
                <a:gd name="T15" fmla="*/ 205 h 292"/>
                <a:gd name="T16" fmla="*/ 61 w 128"/>
                <a:gd name="T17" fmla="*/ 151 h 292"/>
                <a:gd name="T18" fmla="*/ 52 w 128"/>
                <a:gd name="T19" fmla="*/ 149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47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70 h 292"/>
                <a:gd name="T70" fmla="*/ 73 w 128"/>
                <a:gd name="T71" fmla="*/ 155 h 292"/>
                <a:gd name="T72" fmla="*/ 86 w 128"/>
                <a:gd name="T73" fmla="*/ 136 h 292"/>
                <a:gd name="T74" fmla="*/ 113 w 128"/>
                <a:gd name="T75" fmla="*/ 128 h 292"/>
                <a:gd name="T76" fmla="*/ 112 w 128"/>
                <a:gd name="T77" fmla="*/ 136 h 292"/>
                <a:gd name="T78" fmla="*/ 105 w 128"/>
                <a:gd name="T79" fmla="*/ 153 h 292"/>
                <a:gd name="T80" fmla="*/ 92 w 128"/>
                <a:gd name="T81" fmla="*/ 172 h 292"/>
                <a:gd name="T82" fmla="*/ 67 w 128"/>
                <a:gd name="T83" fmla="*/ 180 h 292"/>
                <a:gd name="T84" fmla="*/ 61 w 128"/>
                <a:gd name="T85" fmla="*/ 292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6" name="Freeform 17"/>
            <p:cNvSpPr>
              <a:spLocks/>
            </p:cNvSpPr>
            <p:nvPr/>
          </p:nvSpPr>
          <p:spPr bwMode="gray">
            <a:xfrm>
              <a:off x="2596" y="332"/>
              <a:ext cx="68" cy="257"/>
            </a:xfrm>
            <a:custGeom>
              <a:avLst/>
              <a:gdLst>
                <a:gd name="T0" fmla="*/ 31 w 68"/>
                <a:gd name="T1" fmla="*/ 164 h 257"/>
                <a:gd name="T2" fmla="*/ 23 w 68"/>
                <a:gd name="T3" fmla="*/ 163 h 257"/>
                <a:gd name="T4" fmla="*/ 8 w 68"/>
                <a:gd name="T5" fmla="*/ 155 h 257"/>
                <a:gd name="T6" fmla="*/ 0 w 68"/>
                <a:gd name="T7" fmla="*/ 132 h 257"/>
                <a:gd name="T8" fmla="*/ 7 w 68"/>
                <a:gd name="T9" fmla="*/ 132 h 257"/>
                <a:gd name="T10" fmla="*/ 22 w 68"/>
                <a:gd name="T11" fmla="*/ 139 h 257"/>
                <a:gd name="T12" fmla="*/ 31 w 68"/>
                <a:gd name="T13" fmla="*/ 160 h 257"/>
                <a:gd name="T14" fmla="*/ 29 w 68"/>
                <a:gd name="T15" fmla="*/ 101 h 257"/>
                <a:gd name="T16" fmla="*/ 16 w 68"/>
                <a:gd name="T17" fmla="*/ 97 h 257"/>
                <a:gd name="T18" fmla="*/ 3 w 68"/>
                <a:gd name="T19" fmla="*/ 83 h 257"/>
                <a:gd name="T20" fmla="*/ 3 w 68"/>
                <a:gd name="T21" fmla="*/ 70 h 257"/>
                <a:gd name="T22" fmla="*/ 15 w 68"/>
                <a:gd name="T23" fmla="*/ 74 h 257"/>
                <a:gd name="T24" fmla="*/ 27 w 68"/>
                <a:gd name="T25" fmla="*/ 86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75 h 257"/>
                <a:gd name="T42" fmla="*/ 39 w 68"/>
                <a:gd name="T43" fmla="*/ 62 h 257"/>
                <a:gd name="T44" fmla="*/ 54 w 68"/>
                <a:gd name="T45" fmla="*/ 48 h 257"/>
                <a:gd name="T46" fmla="*/ 68 w 68"/>
                <a:gd name="T47" fmla="*/ 48 h 257"/>
                <a:gd name="T48" fmla="*/ 66 w 68"/>
                <a:gd name="T49" fmla="*/ 59 h 257"/>
                <a:gd name="T50" fmla="*/ 58 w 68"/>
                <a:gd name="T51" fmla="*/ 72 h 257"/>
                <a:gd name="T52" fmla="*/ 35 w 68"/>
                <a:gd name="T53" fmla="*/ 82 h 257"/>
                <a:gd name="T54" fmla="*/ 35 w 68"/>
                <a:gd name="T55" fmla="*/ 143 h 257"/>
                <a:gd name="T56" fmla="*/ 38 w 68"/>
                <a:gd name="T57" fmla="*/ 132 h 257"/>
                <a:gd name="T58" fmla="*/ 49 w 68"/>
                <a:gd name="T59" fmla="*/ 122 h 257"/>
                <a:gd name="T60" fmla="*/ 60 w 68"/>
                <a:gd name="T61" fmla="*/ 122 h 257"/>
                <a:gd name="T62" fmla="*/ 58 w 68"/>
                <a:gd name="T63" fmla="*/ 133 h 257"/>
                <a:gd name="T64" fmla="*/ 47 w 68"/>
                <a:gd name="T65" fmla="*/ 144 h 257"/>
                <a:gd name="T66" fmla="*/ 35 w 68"/>
                <a:gd name="T67" fmla="*/ 257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7" name="Freeform 18"/>
            <p:cNvSpPr>
              <a:spLocks/>
            </p:cNvSpPr>
            <p:nvPr/>
          </p:nvSpPr>
          <p:spPr bwMode="gray">
            <a:xfrm>
              <a:off x="1672" y="164"/>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8" name="Freeform 19"/>
            <p:cNvSpPr>
              <a:spLocks/>
            </p:cNvSpPr>
            <p:nvPr/>
          </p:nvSpPr>
          <p:spPr bwMode="gray">
            <a:xfrm>
              <a:off x="2065" y="362"/>
              <a:ext cx="98" cy="227"/>
            </a:xfrm>
            <a:custGeom>
              <a:avLst/>
              <a:gdLst>
                <a:gd name="T0" fmla="*/ 36 w 100"/>
                <a:gd name="T1" fmla="*/ 160 h 228"/>
                <a:gd name="T2" fmla="*/ 43 w 100"/>
                <a:gd name="T3" fmla="*/ 160 h 228"/>
                <a:gd name="T4" fmla="*/ 58 w 100"/>
                <a:gd name="T5" fmla="*/ 153 h 228"/>
                <a:gd name="T6" fmla="*/ 64 w 100"/>
                <a:gd name="T7" fmla="*/ 138 h 228"/>
                <a:gd name="T8" fmla="*/ 64 w 100"/>
                <a:gd name="T9" fmla="*/ 125 h 228"/>
                <a:gd name="T10" fmla="*/ 58 w 100"/>
                <a:gd name="T11" fmla="*/ 127 h 228"/>
                <a:gd name="T12" fmla="*/ 42 w 100"/>
                <a:gd name="T13" fmla="*/ 142 h 228"/>
                <a:gd name="T14" fmla="*/ 36 w 100"/>
                <a:gd name="T15" fmla="*/ 114 h 228"/>
                <a:gd name="T16" fmla="*/ 45 w 100"/>
                <a:gd name="T17" fmla="*/ 114 h 228"/>
                <a:gd name="T18" fmla="*/ 60 w 100"/>
                <a:gd name="T19" fmla="*/ 110 h 228"/>
                <a:gd name="T20" fmla="*/ 67 w 100"/>
                <a:gd name="T21" fmla="*/ 92 h 228"/>
                <a:gd name="T22" fmla="*/ 67 w 100"/>
                <a:gd name="T23" fmla="*/ 77 h 228"/>
                <a:gd name="T24" fmla="*/ 62 w 100"/>
                <a:gd name="T25" fmla="*/ 79 h 228"/>
                <a:gd name="T26" fmla="*/ 49 w 100"/>
                <a:gd name="T27" fmla="*/ 88 h 228"/>
                <a:gd name="T28" fmla="*/ 36 w 100"/>
                <a:gd name="T29" fmla="*/ 114 h 228"/>
                <a:gd name="T30" fmla="*/ 39 w 100"/>
                <a:gd name="T31" fmla="*/ 48 h 228"/>
                <a:gd name="T32" fmla="*/ 51 w 100"/>
                <a:gd name="T33" fmla="*/ 45 h 228"/>
                <a:gd name="T34" fmla="*/ 64 w 100"/>
                <a:gd name="T35" fmla="*/ 37 h 228"/>
                <a:gd name="T36" fmla="*/ 70 w 100"/>
                <a:gd name="T37" fmla="*/ 17 h 228"/>
                <a:gd name="T38" fmla="*/ 70 w 100"/>
                <a:gd name="T39" fmla="*/ 0 h 228"/>
                <a:gd name="T40" fmla="*/ 63 w 100"/>
                <a:gd name="T41" fmla="*/ 3 h 228"/>
                <a:gd name="T42" fmla="*/ 49 w 100"/>
                <a:gd name="T43" fmla="*/ 14 h 228"/>
                <a:gd name="T44" fmla="*/ 34 w 100"/>
                <a:gd name="T45" fmla="*/ 45 h 228"/>
                <a:gd name="T46" fmla="*/ 31 w 100"/>
                <a:gd name="T47" fmla="*/ 35 h 228"/>
                <a:gd name="T48" fmla="*/ 25 w 100"/>
                <a:gd name="T49" fmla="*/ 18 h 228"/>
                <a:gd name="T50" fmla="*/ 16 w 100"/>
                <a:gd name="T51" fmla="*/ 3 h 228"/>
                <a:gd name="T52" fmla="*/ 1 w 100"/>
                <a:gd name="T53" fmla="*/ 3 h 228"/>
                <a:gd name="T54" fmla="*/ 5 w 100"/>
                <a:gd name="T55" fmla="*/ 19 h 228"/>
                <a:gd name="T56" fmla="*/ 19 w 100"/>
                <a:gd name="T57" fmla="*/ 38 h 228"/>
                <a:gd name="T58" fmla="*/ 31 w 100"/>
                <a:gd name="T59" fmla="*/ 48 h 228"/>
                <a:gd name="T60" fmla="*/ 31 w 100"/>
                <a:gd name="T61" fmla="*/ 116 h 228"/>
                <a:gd name="T62" fmla="*/ 26 w 100"/>
                <a:gd name="T63" fmla="*/ 114 h 228"/>
                <a:gd name="T64" fmla="*/ 25 w 100"/>
                <a:gd name="T65" fmla="*/ 103 h 228"/>
                <a:gd name="T66" fmla="*/ 12 w 100"/>
                <a:gd name="T67" fmla="*/ 103 h 228"/>
                <a:gd name="T68" fmla="*/ 16 w 100"/>
                <a:gd name="T69" fmla="*/ 114 h 228"/>
                <a:gd name="T70" fmla="*/ 25 w 100"/>
                <a:gd name="T71" fmla="*/ 116 h 228"/>
                <a:gd name="T72" fmla="*/ 31 w 100"/>
                <a:gd name="T73" fmla="*/ 125 h 228"/>
                <a:gd name="T74" fmla="*/ 36 w 100"/>
                <a:gd name="T75" fmla="*/ 212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9" name="Freeform 20"/>
            <p:cNvSpPr>
              <a:spLocks/>
            </p:cNvSpPr>
            <p:nvPr/>
          </p:nvSpPr>
          <p:spPr bwMode="gray">
            <a:xfrm>
              <a:off x="2921" y="362"/>
              <a:ext cx="100" cy="227"/>
            </a:xfrm>
            <a:custGeom>
              <a:avLst/>
              <a:gdLst>
                <a:gd name="T0" fmla="*/ 53 w 100"/>
                <a:gd name="T1" fmla="*/ 160 h 228"/>
                <a:gd name="T2" fmla="*/ 60 w 100"/>
                <a:gd name="T3" fmla="*/ 160 h 228"/>
                <a:gd name="T4" fmla="*/ 74 w 100"/>
                <a:gd name="T5" fmla="*/ 153 h 228"/>
                <a:gd name="T6" fmla="*/ 87 w 100"/>
                <a:gd name="T7" fmla="*/ 138 h 228"/>
                <a:gd name="T8" fmla="*/ 87 w 100"/>
                <a:gd name="T9" fmla="*/ 125 h 228"/>
                <a:gd name="T10" fmla="*/ 74 w 100"/>
                <a:gd name="T11" fmla="*/ 127 h 228"/>
                <a:gd name="T12" fmla="*/ 60 w 100"/>
                <a:gd name="T13" fmla="*/ 142 h 228"/>
                <a:gd name="T14" fmla="*/ 53 w 100"/>
                <a:gd name="T15" fmla="*/ 114 h 228"/>
                <a:gd name="T16" fmla="*/ 61 w 100"/>
                <a:gd name="T17" fmla="*/ 114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14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16 h 228"/>
                <a:gd name="T62" fmla="*/ 42 w 100"/>
                <a:gd name="T63" fmla="*/ 114 h 228"/>
                <a:gd name="T64" fmla="*/ 26 w 100"/>
                <a:gd name="T65" fmla="*/ 103 h 228"/>
                <a:gd name="T66" fmla="*/ 12 w 100"/>
                <a:gd name="T67" fmla="*/ 103 h 228"/>
                <a:gd name="T68" fmla="*/ 16 w 100"/>
                <a:gd name="T69" fmla="*/ 114 h 228"/>
                <a:gd name="T70" fmla="*/ 26 w 100"/>
                <a:gd name="T71" fmla="*/ 116 h 228"/>
                <a:gd name="T72" fmla="*/ 47 w 100"/>
                <a:gd name="T73" fmla="*/ 125 h 228"/>
                <a:gd name="T74" fmla="*/ 53 w 100"/>
                <a:gd name="T75" fmla="*/ 212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0" name="Freeform 21"/>
            <p:cNvSpPr>
              <a:spLocks/>
            </p:cNvSpPr>
            <p:nvPr/>
          </p:nvSpPr>
          <p:spPr bwMode="gray">
            <a:xfrm>
              <a:off x="2273" y="187"/>
              <a:ext cx="182" cy="402"/>
            </a:xfrm>
            <a:custGeom>
              <a:avLst/>
              <a:gdLst>
                <a:gd name="T0" fmla="*/ 175 w 175"/>
                <a:gd name="T1" fmla="*/ 309 h 402"/>
                <a:gd name="T2" fmla="*/ 189 w 175"/>
                <a:gd name="T3" fmla="*/ 309 h 402"/>
                <a:gd name="T4" fmla="*/ 222 w 175"/>
                <a:gd name="T5" fmla="*/ 304 h 402"/>
                <a:gd name="T6" fmla="*/ 260 w 175"/>
                <a:gd name="T7" fmla="*/ 292 h 402"/>
                <a:gd name="T8" fmla="*/ 285 w 175"/>
                <a:gd name="T9" fmla="*/ 266 h 402"/>
                <a:gd name="T10" fmla="*/ 285 w 175"/>
                <a:gd name="T11" fmla="*/ 247 h 402"/>
                <a:gd name="T12" fmla="*/ 260 w 175"/>
                <a:gd name="T13" fmla="*/ 250 h 402"/>
                <a:gd name="T14" fmla="*/ 225 w 175"/>
                <a:gd name="T15" fmla="*/ 259 h 402"/>
                <a:gd name="T16" fmla="*/ 185 w 175"/>
                <a:gd name="T17" fmla="*/ 285 h 402"/>
                <a:gd name="T18" fmla="*/ 175 w 175"/>
                <a:gd name="T19" fmla="*/ 207 h 402"/>
                <a:gd name="T20" fmla="*/ 191 w 175"/>
                <a:gd name="T21" fmla="*/ 205 h 402"/>
                <a:gd name="T22" fmla="*/ 227 w 175"/>
                <a:gd name="T23" fmla="*/ 200 h 402"/>
                <a:gd name="T24" fmla="*/ 275 w 175"/>
                <a:gd name="T25" fmla="*/ 185 h 402"/>
                <a:gd name="T26" fmla="*/ 306 w 175"/>
                <a:gd name="T27" fmla="*/ 155 h 402"/>
                <a:gd name="T28" fmla="*/ 306 w 175"/>
                <a:gd name="T29" fmla="*/ 134 h 402"/>
                <a:gd name="T30" fmla="*/ 279 w 175"/>
                <a:gd name="T31" fmla="*/ 135 h 402"/>
                <a:gd name="T32" fmla="*/ 242 w 175"/>
                <a:gd name="T33" fmla="*/ 142 h 402"/>
                <a:gd name="T34" fmla="*/ 200 w 175"/>
                <a:gd name="T35" fmla="*/ 162 h 402"/>
                <a:gd name="T36" fmla="*/ 175 w 175"/>
                <a:gd name="T37" fmla="*/ 201 h 402"/>
                <a:gd name="T38" fmla="*/ 178 w 175"/>
                <a:gd name="T39" fmla="*/ 83 h 402"/>
                <a:gd name="T40" fmla="*/ 207 w 175"/>
                <a:gd name="T41" fmla="*/ 81 h 402"/>
                <a:gd name="T42" fmla="*/ 252 w 175"/>
                <a:gd name="T43" fmla="*/ 73 h 402"/>
                <a:gd name="T44" fmla="*/ 294 w 175"/>
                <a:gd name="T45" fmla="*/ 54 h 402"/>
                <a:gd name="T46" fmla="*/ 327 w 175"/>
                <a:gd name="T47" fmla="*/ 23 h 402"/>
                <a:gd name="T48" fmla="*/ 327 w 175"/>
                <a:gd name="T49" fmla="*/ 0 h 402"/>
                <a:gd name="T50" fmla="*/ 294 w 175"/>
                <a:gd name="T51" fmla="*/ 2 h 402"/>
                <a:gd name="T52" fmla="*/ 250 w 175"/>
                <a:gd name="T53" fmla="*/ 10 h 402"/>
                <a:gd name="T54" fmla="*/ 200 w 175"/>
                <a:gd name="T55" fmla="*/ 33 h 402"/>
                <a:gd name="T56" fmla="*/ 163 w 175"/>
                <a:gd name="T57" fmla="*/ 77 h 402"/>
                <a:gd name="T58" fmla="*/ 159 w 175"/>
                <a:gd name="T59" fmla="*/ 68 h 402"/>
                <a:gd name="T60" fmla="*/ 139 w 175"/>
                <a:gd name="T61" fmla="*/ 46 h 402"/>
                <a:gd name="T62" fmla="*/ 102 w 175"/>
                <a:gd name="T63" fmla="*/ 21 h 402"/>
                <a:gd name="T64" fmla="*/ 38 w 175"/>
                <a:gd name="T65" fmla="*/ 3 h 402"/>
                <a:gd name="T66" fmla="*/ 1 w 175"/>
                <a:gd name="T67" fmla="*/ 3 h 402"/>
                <a:gd name="T68" fmla="*/ 4 w 175"/>
                <a:gd name="T69" fmla="*/ 18 h 402"/>
                <a:gd name="T70" fmla="*/ 12 w 175"/>
                <a:gd name="T71" fmla="*/ 42 h 402"/>
                <a:gd name="T72" fmla="*/ 56 w 175"/>
                <a:gd name="T73" fmla="*/ 65 h 402"/>
                <a:gd name="T74" fmla="*/ 116 w 175"/>
                <a:gd name="T75" fmla="*/ 81 h 402"/>
                <a:gd name="T76" fmla="*/ 153 w 175"/>
                <a:gd name="T77" fmla="*/ 238 h 402"/>
                <a:gd name="T78" fmla="*/ 150 w 175"/>
                <a:gd name="T79" fmla="*/ 228 h 402"/>
                <a:gd name="T80" fmla="*/ 134 w 175"/>
                <a:gd name="T81" fmla="*/ 207 h 402"/>
                <a:gd name="T82" fmla="*/ 102 w 175"/>
                <a:gd name="T83" fmla="*/ 185 h 402"/>
                <a:gd name="T84" fmla="*/ 37 w 175"/>
                <a:gd name="T85" fmla="*/ 176 h 402"/>
                <a:gd name="T86" fmla="*/ 38 w 175"/>
                <a:gd name="T87" fmla="*/ 185 h 402"/>
                <a:gd name="T88" fmla="*/ 50 w 175"/>
                <a:gd name="T89" fmla="*/ 205 h 402"/>
                <a:gd name="T90" fmla="*/ 78 w 175"/>
                <a:gd name="T91" fmla="*/ 230 h 402"/>
                <a:gd name="T92" fmla="*/ 124 w 175"/>
                <a:gd name="T93" fmla="*/ 246 h 402"/>
                <a:gd name="T94" fmla="*/ 153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1" name="Freeform 22"/>
            <p:cNvSpPr>
              <a:spLocks/>
            </p:cNvSpPr>
            <p:nvPr/>
          </p:nvSpPr>
          <p:spPr bwMode="gray">
            <a:xfrm>
              <a:off x="2161" y="215"/>
              <a:ext cx="98" cy="374"/>
            </a:xfrm>
            <a:custGeom>
              <a:avLst/>
              <a:gdLst>
                <a:gd name="T0" fmla="*/ 68 w 97"/>
                <a:gd name="T1" fmla="*/ 253 h 373"/>
                <a:gd name="T2" fmla="*/ 75 w 97"/>
                <a:gd name="T3" fmla="*/ 253 h 373"/>
                <a:gd name="T4" fmla="*/ 90 w 97"/>
                <a:gd name="T5" fmla="*/ 248 h 373"/>
                <a:gd name="T6" fmla="*/ 106 w 97"/>
                <a:gd name="T7" fmla="*/ 234 h 373"/>
                <a:gd name="T8" fmla="*/ 113 w 97"/>
                <a:gd name="T9" fmla="*/ 209 h 373"/>
                <a:gd name="T10" fmla="*/ 105 w 97"/>
                <a:gd name="T11" fmla="*/ 209 h 373"/>
                <a:gd name="T12" fmla="*/ 87 w 97"/>
                <a:gd name="T13" fmla="*/ 213 h 373"/>
                <a:gd name="T14" fmla="*/ 72 w 97"/>
                <a:gd name="T15" fmla="*/ 231 h 373"/>
                <a:gd name="T16" fmla="*/ 68 w 97"/>
                <a:gd name="T17" fmla="*/ 147 h 373"/>
                <a:gd name="T18" fmla="*/ 75 w 97"/>
                <a:gd name="T19" fmla="*/ 147 h 373"/>
                <a:gd name="T20" fmla="*/ 90 w 97"/>
                <a:gd name="T21" fmla="*/ 141 h 373"/>
                <a:gd name="T22" fmla="*/ 106 w 97"/>
                <a:gd name="T23" fmla="*/ 128 h 373"/>
                <a:gd name="T24" fmla="*/ 113 w 97"/>
                <a:gd name="T25" fmla="*/ 102 h 373"/>
                <a:gd name="T26" fmla="*/ 105 w 97"/>
                <a:gd name="T27" fmla="*/ 102 h 373"/>
                <a:gd name="T28" fmla="*/ 87 w 97"/>
                <a:gd name="T29" fmla="*/ 109 h 373"/>
                <a:gd name="T30" fmla="*/ 72 w 97"/>
                <a:gd name="T31" fmla="*/ 126 h 373"/>
                <a:gd name="T32" fmla="*/ 68 w 97"/>
                <a:gd name="T33" fmla="*/ 46 h 373"/>
                <a:gd name="T34" fmla="*/ 67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113 h 373"/>
                <a:gd name="T50" fmla="*/ 45 w 97"/>
                <a:gd name="T51" fmla="*/ 106 h 373"/>
                <a:gd name="T52" fmla="*/ 40 w 97"/>
                <a:gd name="T53" fmla="*/ 90 h 373"/>
                <a:gd name="T54" fmla="*/ 27 w 97"/>
                <a:gd name="T55" fmla="*/ 75 h 373"/>
                <a:gd name="T56" fmla="*/ 1 w 97"/>
                <a:gd name="T57" fmla="*/ 67 h 373"/>
                <a:gd name="T58" fmla="*/ 0 w 97"/>
                <a:gd name="T59" fmla="*/ 75 h 373"/>
                <a:gd name="T60" fmla="*/ 2 w 97"/>
                <a:gd name="T61" fmla="*/ 91 h 373"/>
                <a:gd name="T62" fmla="*/ 14 w 97"/>
                <a:gd name="T63" fmla="*/ 109 h 373"/>
                <a:gd name="T64" fmla="*/ 45 w 97"/>
                <a:gd name="T65" fmla="*/ 118 h 373"/>
                <a:gd name="T66" fmla="*/ 45 w 97"/>
                <a:gd name="T67" fmla="*/ 223 h 373"/>
                <a:gd name="T68" fmla="*/ 43 w 97"/>
                <a:gd name="T69" fmla="*/ 211 h 373"/>
                <a:gd name="T70" fmla="*/ 33 w 97"/>
                <a:gd name="T71" fmla="*/ 182 h 373"/>
                <a:gd name="T72" fmla="*/ 12 w 97"/>
                <a:gd name="T73" fmla="*/ 175 h 373"/>
                <a:gd name="T74" fmla="*/ 10 w 97"/>
                <a:gd name="T75" fmla="*/ 182 h 373"/>
                <a:gd name="T76" fmla="*/ 13 w 97"/>
                <a:gd name="T77" fmla="*/ 213 h 373"/>
                <a:gd name="T78" fmla="*/ 29 w 97"/>
                <a:gd name="T79" fmla="*/ 227 h 373"/>
                <a:gd name="T80" fmla="*/ 45 w 97"/>
                <a:gd name="T81" fmla="*/ 389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2" name="Freeform 23"/>
            <p:cNvSpPr>
              <a:spLocks/>
            </p:cNvSpPr>
            <p:nvPr/>
          </p:nvSpPr>
          <p:spPr bwMode="gray">
            <a:xfrm>
              <a:off x="2708" y="215"/>
              <a:ext cx="97" cy="374"/>
            </a:xfrm>
            <a:custGeom>
              <a:avLst/>
              <a:gdLst>
                <a:gd name="T0" fmla="*/ 51 w 97"/>
                <a:gd name="T1" fmla="*/ 253 h 373"/>
                <a:gd name="T2" fmla="*/ 60 w 97"/>
                <a:gd name="T3" fmla="*/ 253 h 373"/>
                <a:gd name="T4" fmla="*/ 74 w 97"/>
                <a:gd name="T5" fmla="*/ 248 h 373"/>
                <a:gd name="T6" fmla="*/ 91 w 97"/>
                <a:gd name="T7" fmla="*/ 234 h 373"/>
                <a:gd name="T8" fmla="*/ 97 w 97"/>
                <a:gd name="T9" fmla="*/ 209 h 373"/>
                <a:gd name="T10" fmla="*/ 89 w 97"/>
                <a:gd name="T11" fmla="*/ 209 h 373"/>
                <a:gd name="T12" fmla="*/ 72 w 97"/>
                <a:gd name="T13" fmla="*/ 213 h 373"/>
                <a:gd name="T14" fmla="*/ 55 w 97"/>
                <a:gd name="T15" fmla="*/ 231 h 373"/>
                <a:gd name="T16" fmla="*/ 51 w 97"/>
                <a:gd name="T17" fmla="*/ 147 h 373"/>
                <a:gd name="T18" fmla="*/ 60 w 97"/>
                <a:gd name="T19" fmla="*/ 147 h 373"/>
                <a:gd name="T20" fmla="*/ 74 w 97"/>
                <a:gd name="T21" fmla="*/ 141 h 373"/>
                <a:gd name="T22" fmla="*/ 91 w 97"/>
                <a:gd name="T23" fmla="*/ 128 h 373"/>
                <a:gd name="T24" fmla="*/ 97 w 97"/>
                <a:gd name="T25" fmla="*/ 102 h 373"/>
                <a:gd name="T26" fmla="*/ 89 w 97"/>
                <a:gd name="T27" fmla="*/ 102 h 373"/>
                <a:gd name="T28" fmla="*/ 72 w 97"/>
                <a:gd name="T29" fmla="*/ 109 h 373"/>
                <a:gd name="T30" fmla="*/ 55 w 97"/>
                <a:gd name="T31" fmla="*/ 126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113 h 373"/>
                <a:gd name="T50" fmla="*/ 46 w 97"/>
                <a:gd name="T51" fmla="*/ 106 h 373"/>
                <a:gd name="T52" fmla="*/ 41 w 97"/>
                <a:gd name="T53" fmla="*/ 90 h 373"/>
                <a:gd name="T54" fmla="*/ 27 w 97"/>
                <a:gd name="T55" fmla="*/ 75 h 373"/>
                <a:gd name="T56" fmla="*/ 0 w 97"/>
                <a:gd name="T57" fmla="*/ 67 h 373"/>
                <a:gd name="T58" fmla="*/ 0 w 97"/>
                <a:gd name="T59" fmla="*/ 75 h 373"/>
                <a:gd name="T60" fmla="*/ 3 w 97"/>
                <a:gd name="T61" fmla="*/ 91 h 373"/>
                <a:gd name="T62" fmla="*/ 15 w 97"/>
                <a:gd name="T63" fmla="*/ 109 h 373"/>
                <a:gd name="T64" fmla="*/ 46 w 97"/>
                <a:gd name="T65" fmla="*/ 118 h 373"/>
                <a:gd name="T66" fmla="*/ 46 w 97"/>
                <a:gd name="T67" fmla="*/ 223 h 373"/>
                <a:gd name="T68" fmla="*/ 43 w 97"/>
                <a:gd name="T69" fmla="*/ 211 h 373"/>
                <a:gd name="T70" fmla="*/ 34 w 97"/>
                <a:gd name="T71" fmla="*/ 182 h 373"/>
                <a:gd name="T72" fmla="*/ 12 w 97"/>
                <a:gd name="T73" fmla="*/ 175 h 373"/>
                <a:gd name="T74" fmla="*/ 11 w 97"/>
                <a:gd name="T75" fmla="*/ 182 h 373"/>
                <a:gd name="T76" fmla="*/ 14 w 97"/>
                <a:gd name="T77" fmla="*/ 213 h 373"/>
                <a:gd name="T78" fmla="*/ 30 w 97"/>
                <a:gd name="T79" fmla="*/ 227 h 373"/>
                <a:gd name="T80" fmla="*/ 46 w 97"/>
                <a:gd name="T81" fmla="*/ 389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7171" name="Freeform 25"/>
          <p:cNvSpPr>
            <a:spLocks/>
          </p:cNvSpPr>
          <p:nvPr/>
        </p:nvSpPr>
        <p:spPr bwMode="gray">
          <a:xfrm>
            <a:off x="95250" y="6446838"/>
            <a:ext cx="8970963" cy="314325"/>
          </a:xfrm>
          <a:custGeom>
            <a:avLst/>
            <a:gdLst>
              <a:gd name="T0" fmla="*/ 2147483646 w 5651"/>
              <a:gd name="T1" fmla="*/ 2147483646 h 198"/>
              <a:gd name="T2" fmla="*/ 2147483646 w 5651"/>
              <a:gd name="T3" fmla="*/ 2147483646 h 198"/>
              <a:gd name="T4" fmla="*/ 2147483646 w 5651"/>
              <a:gd name="T5" fmla="*/ 2147483646 h 198"/>
              <a:gd name="T6" fmla="*/ 2147483646 w 5651"/>
              <a:gd name="T7" fmla="*/ 2147483646 h 198"/>
              <a:gd name="T8" fmla="*/ 2147483646 w 5651"/>
              <a:gd name="T9" fmla="*/ 2147483646 h 198"/>
              <a:gd name="T10" fmla="*/ 0 w 5651"/>
              <a:gd name="T11" fmla="*/ 0 h 198"/>
              <a:gd name="T12" fmla="*/ 2147483646 w 5651"/>
              <a:gd name="T13" fmla="*/ 2147483646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1" h="198">
                <a:moveTo>
                  <a:pt x="4" y="198"/>
                </a:moveTo>
                <a:lnTo>
                  <a:pt x="5651" y="198"/>
                </a:lnTo>
                <a:lnTo>
                  <a:pt x="5646" y="94"/>
                </a:lnTo>
                <a:lnTo>
                  <a:pt x="1491" y="94"/>
                </a:lnTo>
                <a:lnTo>
                  <a:pt x="1343" y="2"/>
                </a:lnTo>
                <a:lnTo>
                  <a:pt x="0" y="0"/>
                </a:lnTo>
                <a:lnTo>
                  <a:pt x="4" y="19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2" name="Freeform 26"/>
          <p:cNvSpPr>
            <a:spLocks/>
          </p:cNvSpPr>
          <p:nvPr/>
        </p:nvSpPr>
        <p:spPr bwMode="gray">
          <a:xfrm>
            <a:off x="95250" y="6491288"/>
            <a:ext cx="8975725" cy="279400"/>
          </a:xfrm>
          <a:custGeom>
            <a:avLst/>
            <a:gdLst>
              <a:gd name="T0" fmla="*/ 0 w 5650"/>
              <a:gd name="T1" fmla="*/ 2147483646 h 176"/>
              <a:gd name="T2" fmla="*/ 2147483646 w 5650"/>
              <a:gd name="T3" fmla="*/ 2147483646 h 176"/>
              <a:gd name="T4" fmla="*/ 2147483646 w 5650"/>
              <a:gd name="T5" fmla="*/ 2147483646 h 176"/>
              <a:gd name="T6" fmla="*/ 2147483646 w 5650"/>
              <a:gd name="T7" fmla="*/ 2147483646 h 176"/>
              <a:gd name="T8" fmla="*/ 2147483646 w 5650"/>
              <a:gd name="T9" fmla="*/ 2147483646 h 176"/>
              <a:gd name="T10" fmla="*/ 0 w 5650"/>
              <a:gd name="T11" fmla="*/ 0 h 176"/>
              <a:gd name="T12" fmla="*/ 0 w 5650"/>
              <a:gd name="T13" fmla="*/ 2147483646 h 1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0" h="176">
                <a:moveTo>
                  <a:pt x="0" y="176"/>
                </a:moveTo>
                <a:lnTo>
                  <a:pt x="5650" y="169"/>
                </a:lnTo>
                <a:lnTo>
                  <a:pt x="5646" y="95"/>
                </a:lnTo>
                <a:lnTo>
                  <a:pt x="1478" y="95"/>
                </a:lnTo>
                <a:lnTo>
                  <a:pt x="1317" y="3"/>
                </a:lnTo>
                <a:lnTo>
                  <a:pt x="0" y="0"/>
                </a:lnTo>
                <a:lnTo>
                  <a:pt x="0" y="1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3" name="Freeform 27" descr="Dark upward diagonal"/>
          <p:cNvSpPr>
            <a:spLocks/>
          </p:cNvSpPr>
          <p:nvPr/>
        </p:nvSpPr>
        <p:spPr bwMode="gray">
          <a:xfrm>
            <a:off x="92075" y="98425"/>
            <a:ext cx="8956675" cy="179388"/>
          </a:xfrm>
          <a:custGeom>
            <a:avLst/>
            <a:gdLst>
              <a:gd name="T0" fmla="*/ 0 w 5639"/>
              <a:gd name="T1" fmla="*/ 0 h 113"/>
              <a:gd name="T2" fmla="*/ 2147483646 w 5639"/>
              <a:gd name="T3" fmla="*/ 0 h 113"/>
              <a:gd name="T4" fmla="*/ 2147483646 w 5639"/>
              <a:gd name="T5" fmla="*/ 2147483646 h 113"/>
              <a:gd name="T6" fmla="*/ 2147483646 w 5639"/>
              <a:gd name="T7" fmla="*/ 2147483646 h 113"/>
              <a:gd name="T8" fmla="*/ 0 w 5639"/>
              <a:gd name="T9" fmla="*/ 2147483646 h 113"/>
              <a:gd name="T10" fmla="*/ 0 w 5639"/>
              <a:gd name="T11" fmla="*/ 0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39" h="113">
                <a:moveTo>
                  <a:pt x="0" y="0"/>
                </a:moveTo>
                <a:lnTo>
                  <a:pt x="5582" y="0"/>
                </a:lnTo>
                <a:cubicBezTo>
                  <a:pt x="5630" y="3"/>
                  <a:pt x="5639" y="45"/>
                  <a:pt x="5639" y="45"/>
                </a:cubicBezTo>
                <a:lnTo>
                  <a:pt x="5636" y="113"/>
                </a:lnTo>
                <a:lnTo>
                  <a:pt x="0" y="113"/>
                </a:lnTo>
                <a:lnTo>
                  <a:pt x="0" y="0"/>
                </a:lnTo>
                <a:close/>
              </a:path>
            </a:pathLst>
          </a:custGeom>
          <a:pattFill prst="dkUpDiag">
            <a:fgClr>
              <a:schemeClr val="accent1"/>
            </a:fgClr>
            <a:bgClr>
              <a:schemeClr val="bg1"/>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4" name="Freeform 28"/>
          <p:cNvSpPr>
            <a:spLocks/>
          </p:cNvSpPr>
          <p:nvPr/>
        </p:nvSpPr>
        <p:spPr bwMode="gray">
          <a:xfrm>
            <a:off x="92075" y="307975"/>
            <a:ext cx="8955088" cy="938213"/>
          </a:xfrm>
          <a:custGeom>
            <a:avLst/>
            <a:gdLst>
              <a:gd name="T0" fmla="*/ 2147483646 w 5446"/>
              <a:gd name="T1" fmla="*/ 0 h 531"/>
              <a:gd name="T2" fmla="*/ 0 w 5446"/>
              <a:gd name="T3" fmla="*/ 0 h 531"/>
              <a:gd name="T4" fmla="*/ 2147483646 w 5446"/>
              <a:gd name="T5" fmla="*/ 2147483646 h 531"/>
              <a:gd name="T6" fmla="*/ 2147483646 w 5446"/>
              <a:gd name="T7" fmla="*/ 2147483646 h 531"/>
              <a:gd name="T8" fmla="*/ 2147483646 w 5446"/>
              <a:gd name="T9" fmla="*/ 2147483646 h 531"/>
              <a:gd name="T10" fmla="*/ 2147483646 w 5446"/>
              <a:gd name="T11" fmla="*/ 2147483646 h 531"/>
              <a:gd name="T12" fmla="*/ 2147483646 w 5446"/>
              <a:gd name="T13" fmla="*/ 0 h 5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46" h="531">
                <a:moveTo>
                  <a:pt x="5446" y="0"/>
                </a:moveTo>
                <a:lnTo>
                  <a:pt x="0" y="0"/>
                </a:lnTo>
                <a:lnTo>
                  <a:pt x="2" y="470"/>
                </a:lnTo>
                <a:lnTo>
                  <a:pt x="4078" y="474"/>
                </a:lnTo>
                <a:lnTo>
                  <a:pt x="4178" y="527"/>
                </a:lnTo>
                <a:lnTo>
                  <a:pt x="5446" y="531"/>
                </a:lnTo>
                <a:lnTo>
                  <a:pt x="544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053" name="Freeform 29"/>
          <p:cNvSpPr>
            <a:spLocks/>
          </p:cNvSpPr>
          <p:nvPr/>
        </p:nvSpPr>
        <p:spPr bwMode="gray">
          <a:xfrm>
            <a:off x="92075" y="306388"/>
            <a:ext cx="8955088" cy="836612"/>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gradFill rotWithShape="0">
            <a:gsLst>
              <a:gs pos="0">
                <a:schemeClr val="bg1"/>
              </a:gs>
              <a:gs pos="100000">
                <a:schemeClr val="bg1">
                  <a:gamma/>
                  <a:tint val="66667"/>
                  <a:invGamma/>
                </a:schemeClr>
              </a:gs>
            </a:gsLst>
            <a:lin ang="0" scaled="1"/>
          </a:gradFill>
          <a:ln w="9525">
            <a:noFill/>
            <a:round/>
            <a:headEnd/>
            <a:tailEnd/>
          </a:ln>
          <a:effectLst/>
        </p:spPr>
        <p:txBody>
          <a:bodyPr/>
          <a:lstStyle/>
          <a:p>
            <a:pPr algn="l" rtl="0" fontAlgn="base">
              <a:spcBef>
                <a:spcPct val="0"/>
              </a:spcBef>
              <a:spcAft>
                <a:spcPct val="0"/>
              </a:spcAft>
              <a:defRPr/>
            </a:pPr>
            <a:endParaRPr lang="zh-TW" altLang="en-US">
              <a:solidFill>
                <a:srgbClr val="DDE89A"/>
              </a:solidFill>
              <a:cs typeface="B Mitra" pitchFamily="2" charset="-78"/>
            </a:endParaRPr>
          </a:p>
        </p:txBody>
      </p:sp>
      <p:sp>
        <p:nvSpPr>
          <p:cNvPr id="7176" name="Rectangle 32"/>
          <p:cNvSpPr>
            <a:spLocks noChangeArrowheads="1"/>
          </p:cNvSpPr>
          <p:nvPr/>
        </p:nvSpPr>
        <p:spPr bwMode="gray">
          <a:xfrm flipV="1">
            <a:off x="95250" y="6723063"/>
            <a:ext cx="8977313" cy="555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77" name="Freeform 35"/>
          <p:cNvSpPr>
            <a:spLocks/>
          </p:cNvSpPr>
          <p:nvPr/>
        </p:nvSpPr>
        <p:spPr bwMode="gray">
          <a:xfrm>
            <a:off x="6896100" y="1047750"/>
            <a:ext cx="2155825" cy="52388"/>
          </a:xfrm>
          <a:custGeom>
            <a:avLst/>
            <a:gdLst>
              <a:gd name="T0" fmla="*/ 0 w 1358"/>
              <a:gd name="T1" fmla="*/ 2147483646 h 33"/>
              <a:gd name="T2" fmla="*/ 2147483646 w 1358"/>
              <a:gd name="T3" fmla="*/ 0 h 33"/>
              <a:gd name="T4" fmla="*/ 2147483646 w 1358"/>
              <a:gd name="T5" fmla="*/ 2147483646 h 33"/>
              <a:gd name="T6" fmla="*/ 2147483646 w 1358"/>
              <a:gd name="T7" fmla="*/ 2147483646 h 33"/>
              <a:gd name="T8" fmla="*/ 0 w 1358"/>
              <a:gd name="T9" fmla="*/ 2147483646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8" h="33">
                <a:moveTo>
                  <a:pt x="0" y="2"/>
                </a:moveTo>
                <a:lnTo>
                  <a:pt x="1358" y="0"/>
                </a:lnTo>
                <a:lnTo>
                  <a:pt x="1356" y="32"/>
                </a:lnTo>
                <a:lnTo>
                  <a:pt x="60" y="33"/>
                </a:lnTo>
                <a:lnTo>
                  <a:pt x="0" y="2"/>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8" name="Rectangle 2"/>
          <p:cNvSpPr>
            <a:spLocks noGrp="1" noChangeArrowheads="1"/>
          </p:cNvSpPr>
          <p:nvPr>
            <p:ph type="title"/>
          </p:nvPr>
        </p:nvSpPr>
        <p:spPr bwMode="gray">
          <a:xfrm>
            <a:off x="457200" y="238125"/>
            <a:ext cx="64770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9" name="Rectangle 3"/>
          <p:cNvSpPr>
            <a:spLocks noGrp="1" noChangeArrowheads="1"/>
          </p:cNvSpPr>
          <p:nvPr>
            <p:ph type="body" idx="1"/>
          </p:nvPr>
        </p:nvSpPr>
        <p:spPr bwMode="gray">
          <a:xfrm>
            <a:off x="457200" y="1438275"/>
            <a:ext cx="82296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gray">
          <a:xfrm>
            <a:off x="3048000" y="6311900"/>
            <a:ext cx="1712913" cy="290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hangingPunct="1">
              <a:defRPr sz="1000">
                <a:solidFill>
                  <a:srgbClr val="000000"/>
                </a:solidFill>
                <a:latin typeface="Arial" charset="0"/>
                <a:ea typeface="SimSun" pitchFamily="2" charset="-122"/>
                <a:cs typeface="+mn-cs"/>
              </a:defRPr>
            </a:lvl1pPr>
          </a:lstStyle>
          <a:p>
            <a:pPr fontAlgn="base">
              <a:spcBef>
                <a:spcPct val="0"/>
              </a:spcBef>
              <a:spcAft>
                <a:spcPct val="0"/>
              </a:spcAft>
              <a:defRPr/>
            </a:pPr>
            <a:fld id="{C190AA9D-AB6F-4E2D-97B8-B36297FC6603}" type="datetime1">
              <a:rPr lang="zh-TW" altLang="en-US"/>
              <a:pPr fontAlgn="base">
                <a:spcBef>
                  <a:spcPct val="0"/>
                </a:spcBef>
                <a:spcAft>
                  <a:spcPct val="0"/>
                </a:spcAft>
                <a:defRPr/>
              </a:pPr>
              <a:t>2025/12/23</a:t>
            </a:fld>
            <a:endParaRPr lang="en-US" altLang="zh-CN"/>
          </a:p>
        </p:txBody>
      </p:sp>
      <p:sp>
        <p:nvSpPr>
          <p:cNvPr id="1029" name="Rectangle 5"/>
          <p:cNvSpPr>
            <a:spLocks noGrp="1" noChangeArrowheads="1"/>
          </p:cNvSpPr>
          <p:nvPr>
            <p:ph type="ftr" sz="quarter" idx="3"/>
          </p:nvPr>
        </p:nvSpPr>
        <p:spPr bwMode="gray">
          <a:xfrm>
            <a:off x="4830763" y="6323013"/>
            <a:ext cx="2311400"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eaLnBrk="1" hangingPunct="1">
              <a:defRPr sz="1000">
                <a:solidFill>
                  <a:srgbClr val="000000"/>
                </a:solidFill>
                <a:latin typeface="Arial" charset="0"/>
                <a:ea typeface="SimSun" pitchFamily="2" charset="-122"/>
                <a:cs typeface="+mn-cs"/>
              </a:defRPr>
            </a:lvl1pPr>
          </a:lstStyle>
          <a:p>
            <a:pPr fontAlgn="base">
              <a:spcBef>
                <a:spcPct val="0"/>
              </a:spcBef>
              <a:spcAft>
                <a:spcPct val="0"/>
              </a:spcAft>
              <a:defRPr/>
            </a:pPr>
            <a:endParaRPr lang="en-US" altLang="zh-CN"/>
          </a:p>
        </p:txBody>
      </p:sp>
      <p:sp>
        <p:nvSpPr>
          <p:cNvPr id="1030" name="Rectangle 6"/>
          <p:cNvSpPr>
            <a:spLocks noGrp="1" noChangeArrowheads="1"/>
          </p:cNvSpPr>
          <p:nvPr>
            <p:ph type="sldNum" sz="quarter" idx="4"/>
          </p:nvPr>
        </p:nvSpPr>
        <p:spPr bwMode="gray">
          <a:xfrm>
            <a:off x="7116763" y="6323013"/>
            <a:ext cx="1616075"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rgbClr val="000000"/>
                </a:solidFill>
                <a:latin typeface="Arial" pitchFamily="34" charset="0"/>
                <a:ea typeface="SimSun" pitchFamily="2" charset="-122"/>
              </a:defRPr>
            </a:lvl1pPr>
          </a:lstStyle>
          <a:p>
            <a:pPr rtl="0" fontAlgn="base">
              <a:spcBef>
                <a:spcPct val="0"/>
              </a:spcBef>
              <a:spcAft>
                <a:spcPct val="0"/>
              </a:spcAft>
            </a:pPr>
            <a:fld id="{65E2C72D-077E-4321-A938-193DAA24D98B}" type="slidenum">
              <a:rPr lang="zh-CN" altLang="en-US">
                <a:cs typeface="B Mitra" pitchFamily="2" charset="-78"/>
              </a:rPr>
              <a:pPr rtl="0" fontAlgn="base">
                <a:spcBef>
                  <a:spcPct val="0"/>
                </a:spcBef>
                <a:spcAft>
                  <a:spcPct val="0"/>
                </a:spcAft>
              </a:pPr>
              <a:t>‹#›</a:t>
            </a:fld>
            <a:endParaRPr lang="en-US" altLang="zh-CN">
              <a:cs typeface="B Mitra" pitchFamily="2" charset="-78"/>
            </a:endParaRPr>
          </a:p>
        </p:txBody>
      </p:sp>
      <p:sp>
        <p:nvSpPr>
          <p:cNvPr id="7183" name="Text Box 37"/>
          <p:cNvSpPr txBox="1">
            <a:spLocks noChangeArrowheads="1"/>
          </p:cNvSpPr>
          <p:nvPr/>
        </p:nvSpPr>
        <p:spPr bwMode="gray">
          <a:xfrm>
            <a:off x="144463" y="6443663"/>
            <a:ext cx="1841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rtl="0">
              <a:defRPr>
                <a:solidFill>
                  <a:schemeClr val="tx1"/>
                </a:solidFill>
                <a:latin typeface="Calibri" pitchFamily="34" charset="0"/>
                <a:cs typeface="B Mitra" pitchFamily="2" charset="-78"/>
              </a:defRPr>
            </a:lvl1pPr>
            <a:lvl2pPr marL="742950" indent="-285750" algn="l" rtl="0">
              <a:defRPr>
                <a:solidFill>
                  <a:schemeClr val="tx1"/>
                </a:solidFill>
                <a:latin typeface="Calibri" pitchFamily="34" charset="0"/>
                <a:cs typeface="B Mitra" pitchFamily="2" charset="-78"/>
              </a:defRPr>
            </a:lvl2pPr>
            <a:lvl3pPr marL="1143000" indent="-228600" algn="l" rtl="0">
              <a:defRPr>
                <a:solidFill>
                  <a:schemeClr val="tx1"/>
                </a:solidFill>
                <a:latin typeface="Calibri" pitchFamily="34" charset="0"/>
                <a:cs typeface="B Mitra" pitchFamily="2" charset="-78"/>
              </a:defRPr>
            </a:lvl3pPr>
            <a:lvl4pPr marL="1600200" indent="-228600" algn="l" rtl="0">
              <a:defRPr>
                <a:solidFill>
                  <a:schemeClr val="tx1"/>
                </a:solidFill>
                <a:latin typeface="Calibri" pitchFamily="34" charset="0"/>
                <a:cs typeface="B Mitra" pitchFamily="2" charset="-78"/>
              </a:defRPr>
            </a:lvl4pPr>
            <a:lvl5pPr marL="2057400" indent="-228600" algn="l" rtl="0">
              <a:defRPr>
                <a:solidFill>
                  <a:schemeClr val="tx1"/>
                </a:solidFill>
                <a:latin typeface="Calibri" pitchFamily="34" charset="0"/>
                <a:cs typeface="B Mitra" pitchFamily="2" charset="-78"/>
              </a:defRPr>
            </a:lvl5pPr>
            <a:lvl6pPr marL="2514600" indent="-228600" fontAlgn="base">
              <a:spcBef>
                <a:spcPct val="0"/>
              </a:spcBef>
              <a:spcAft>
                <a:spcPct val="0"/>
              </a:spcAft>
              <a:defRPr>
                <a:solidFill>
                  <a:schemeClr val="tx1"/>
                </a:solidFill>
                <a:latin typeface="Calibri" pitchFamily="34" charset="0"/>
                <a:cs typeface="B Mitra" pitchFamily="2" charset="-78"/>
              </a:defRPr>
            </a:lvl6pPr>
            <a:lvl7pPr marL="2971800" indent="-228600" fontAlgn="base">
              <a:spcBef>
                <a:spcPct val="0"/>
              </a:spcBef>
              <a:spcAft>
                <a:spcPct val="0"/>
              </a:spcAft>
              <a:defRPr>
                <a:solidFill>
                  <a:schemeClr val="tx1"/>
                </a:solidFill>
                <a:latin typeface="Calibri" pitchFamily="34" charset="0"/>
                <a:cs typeface="B Mitra" pitchFamily="2" charset="-78"/>
              </a:defRPr>
            </a:lvl7pPr>
            <a:lvl8pPr marL="3429000" indent="-228600" fontAlgn="base">
              <a:spcBef>
                <a:spcPct val="0"/>
              </a:spcBef>
              <a:spcAft>
                <a:spcPct val="0"/>
              </a:spcAft>
              <a:defRPr>
                <a:solidFill>
                  <a:schemeClr val="tx1"/>
                </a:solidFill>
                <a:latin typeface="Calibri" pitchFamily="34" charset="0"/>
                <a:cs typeface="B Mitra" pitchFamily="2" charset="-78"/>
              </a:defRPr>
            </a:lvl8pPr>
            <a:lvl9pPr marL="3886200" indent="-228600" fontAlgn="base">
              <a:spcBef>
                <a:spcPct val="0"/>
              </a:spcBef>
              <a:spcAft>
                <a:spcPct val="0"/>
              </a:spcAft>
              <a:defRPr>
                <a:solidFill>
                  <a:schemeClr val="tx1"/>
                </a:solidFill>
                <a:latin typeface="Calibri" pitchFamily="34" charset="0"/>
                <a:cs typeface="B Mitra" pitchFamily="2" charset="-78"/>
              </a:defRPr>
            </a:lvl9pPr>
          </a:lstStyle>
          <a:p>
            <a:pPr fontAlgn="base">
              <a:spcBef>
                <a:spcPct val="0"/>
              </a:spcBef>
              <a:spcAft>
                <a:spcPct val="0"/>
              </a:spcAft>
              <a:defRPr/>
            </a:pPr>
            <a:endParaRPr lang="en-US" altLang="zh-CN" sz="1100" i="1">
              <a:solidFill>
                <a:srgbClr val="FFFFFF"/>
              </a:solidFill>
              <a:latin typeface="Times New Roman" pitchFamily="18" charset="0"/>
              <a:ea typeface="SimSun" pitchFamily="2" charset="-122"/>
            </a:endParaRPr>
          </a:p>
        </p:txBody>
      </p:sp>
      <p:sp>
        <p:nvSpPr>
          <p:cNvPr id="7184" name="Rectangle 30" descr="7"/>
          <p:cNvSpPr>
            <a:spLocks noChangeArrowheads="1"/>
          </p:cNvSpPr>
          <p:nvPr/>
        </p:nvSpPr>
        <p:spPr bwMode="gray">
          <a:xfrm>
            <a:off x="8245475" y="415925"/>
            <a:ext cx="534988" cy="546100"/>
          </a:xfrm>
          <a:prstGeom prst="rect">
            <a:avLst/>
          </a:prstGeom>
          <a:blipFill dpi="0" rotWithShape="1">
            <a:blip r:embed="rId17"/>
            <a:srcRect/>
            <a:stretch>
              <a:fillRect/>
            </a:stretch>
          </a:blip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85" name="Rectangle 31" descr="4"/>
          <p:cNvSpPr>
            <a:spLocks noChangeArrowheads="1"/>
          </p:cNvSpPr>
          <p:nvPr/>
        </p:nvSpPr>
        <p:spPr bwMode="gray">
          <a:xfrm>
            <a:off x="7620000" y="415925"/>
            <a:ext cx="534988" cy="546100"/>
          </a:xfrm>
          <a:prstGeom prst="rect">
            <a:avLst/>
          </a:prstGeom>
          <a:blipFill dpi="0" rotWithShape="1">
            <a:blip r:embed="rId18"/>
            <a:srcRect/>
            <a:stretch>
              <a:fillRect/>
            </a:stretch>
          </a:blip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86" name="Rectangle 36"/>
          <p:cNvSpPr>
            <a:spLocks noChangeArrowheads="1"/>
          </p:cNvSpPr>
          <p:nvPr/>
        </p:nvSpPr>
        <p:spPr bwMode="gray">
          <a:xfrm>
            <a:off x="7000875" y="415925"/>
            <a:ext cx="534988" cy="546100"/>
          </a:xfrm>
          <a:prstGeom prst="rect">
            <a:avLst/>
          </a:prstGeom>
          <a:solidFill>
            <a:srgbClr val="FFFFFF">
              <a:alpha val="30196"/>
            </a:srgbClr>
          </a:solid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Tree>
    <p:extLst>
      <p:ext uri="{BB962C8B-B14F-4D97-AF65-F5344CB8AC3E}">
        <p14:creationId xmlns:p14="http://schemas.microsoft.com/office/powerpoint/2010/main" val="1968298701"/>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lvl1pPr algn="l" rtl="0" eaLnBrk="0" fontAlgn="base" hangingPunct="0">
        <a:spcBef>
          <a:spcPct val="0"/>
        </a:spcBef>
        <a:spcAft>
          <a:spcPct val="0"/>
        </a:spcAft>
        <a:defRPr sz="4400" b="1">
          <a:solidFill>
            <a:srgbClr val="FFFFFF"/>
          </a:solidFill>
          <a:latin typeface="+mj-lt"/>
          <a:ea typeface="DFKai-SB" pitchFamily="65" charset="-120"/>
          <a:cs typeface="+mj-cs"/>
        </a:defRPr>
      </a:lvl1pPr>
      <a:lvl2pPr algn="l" rtl="0" eaLnBrk="0" fontAlgn="base" hangingPunct="0">
        <a:spcBef>
          <a:spcPct val="0"/>
        </a:spcBef>
        <a:spcAft>
          <a:spcPct val="0"/>
        </a:spcAft>
        <a:defRPr sz="4400" b="1">
          <a:solidFill>
            <a:srgbClr val="FFFFFF"/>
          </a:solidFill>
          <a:latin typeface="Arial" pitchFamily="34" charset="0"/>
          <a:ea typeface="DFKai-SB" pitchFamily="65" charset="-120"/>
        </a:defRPr>
      </a:lvl2pPr>
      <a:lvl3pPr algn="l" rtl="0" eaLnBrk="0" fontAlgn="base" hangingPunct="0">
        <a:spcBef>
          <a:spcPct val="0"/>
        </a:spcBef>
        <a:spcAft>
          <a:spcPct val="0"/>
        </a:spcAft>
        <a:defRPr sz="4400" b="1">
          <a:solidFill>
            <a:srgbClr val="FFFFFF"/>
          </a:solidFill>
          <a:latin typeface="Arial" pitchFamily="34" charset="0"/>
          <a:ea typeface="DFKai-SB" pitchFamily="65" charset="-120"/>
        </a:defRPr>
      </a:lvl3pPr>
      <a:lvl4pPr algn="l" rtl="0" eaLnBrk="0" fontAlgn="base" hangingPunct="0">
        <a:spcBef>
          <a:spcPct val="0"/>
        </a:spcBef>
        <a:spcAft>
          <a:spcPct val="0"/>
        </a:spcAft>
        <a:defRPr sz="4400" b="1">
          <a:solidFill>
            <a:srgbClr val="FFFFFF"/>
          </a:solidFill>
          <a:latin typeface="Arial" pitchFamily="34" charset="0"/>
          <a:ea typeface="DFKai-SB" pitchFamily="65" charset="-120"/>
        </a:defRPr>
      </a:lvl4pPr>
      <a:lvl5pPr algn="l" rtl="0" eaLnBrk="0" fontAlgn="base" hangingPunct="0">
        <a:spcBef>
          <a:spcPct val="0"/>
        </a:spcBef>
        <a:spcAft>
          <a:spcPct val="0"/>
        </a:spcAft>
        <a:defRPr sz="4400" b="1">
          <a:solidFill>
            <a:srgbClr val="FFFFFF"/>
          </a:solidFill>
          <a:latin typeface="Arial" pitchFamily="34" charset="0"/>
          <a:ea typeface="DFKai-SB" pitchFamily="65" charset="-120"/>
        </a:defRPr>
      </a:lvl5pPr>
      <a:lvl6pPr marL="457200" algn="l" rtl="0" eaLnBrk="1" fontAlgn="base" hangingPunct="1">
        <a:spcBef>
          <a:spcPct val="0"/>
        </a:spcBef>
        <a:spcAft>
          <a:spcPct val="0"/>
        </a:spcAft>
        <a:defRPr sz="4400" b="1">
          <a:solidFill>
            <a:srgbClr val="FFFFFF"/>
          </a:solidFill>
          <a:latin typeface="Arial" pitchFamily="34" charset="0"/>
        </a:defRPr>
      </a:lvl6pPr>
      <a:lvl7pPr marL="914400" algn="l" rtl="0" eaLnBrk="1" fontAlgn="base" hangingPunct="1">
        <a:spcBef>
          <a:spcPct val="0"/>
        </a:spcBef>
        <a:spcAft>
          <a:spcPct val="0"/>
        </a:spcAft>
        <a:defRPr sz="4400" b="1">
          <a:solidFill>
            <a:srgbClr val="FFFFFF"/>
          </a:solidFill>
          <a:latin typeface="Arial" pitchFamily="34" charset="0"/>
        </a:defRPr>
      </a:lvl7pPr>
      <a:lvl8pPr marL="1371600" algn="l" rtl="0" eaLnBrk="1" fontAlgn="base" hangingPunct="1">
        <a:spcBef>
          <a:spcPct val="0"/>
        </a:spcBef>
        <a:spcAft>
          <a:spcPct val="0"/>
        </a:spcAft>
        <a:defRPr sz="4400" b="1">
          <a:solidFill>
            <a:srgbClr val="FFFFFF"/>
          </a:solidFill>
          <a:latin typeface="Arial" pitchFamily="34" charset="0"/>
        </a:defRPr>
      </a:lvl8pPr>
      <a:lvl9pPr marL="1828800" algn="l" rtl="0" eaLnBrk="1" fontAlgn="base" hangingPunct="1">
        <a:spcBef>
          <a:spcPct val="0"/>
        </a:spcBef>
        <a:spcAft>
          <a:spcPct val="0"/>
        </a:spcAft>
        <a:defRPr sz="4400" b="1">
          <a:solidFill>
            <a:srgbClr val="FFFFFF"/>
          </a:solidFill>
          <a:latin typeface="Arial" pitchFamily="34" charset="0"/>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DFKai-SB" pitchFamily="65" charset="-120"/>
          <a:cs typeface="+mn-cs"/>
        </a:defRPr>
      </a:lvl1pPr>
      <a:lvl2pPr marL="742950" indent="-285750" algn="l" rtl="0" eaLnBrk="0" fontAlgn="base" hangingPunct="0">
        <a:spcBef>
          <a:spcPct val="20000"/>
        </a:spcBef>
        <a:spcAft>
          <a:spcPct val="0"/>
        </a:spcAft>
        <a:buChar char="–"/>
        <a:defRPr sz="2800">
          <a:solidFill>
            <a:srgbClr val="000000"/>
          </a:solidFill>
          <a:latin typeface="+mn-lt"/>
          <a:ea typeface="DFKai-SB" pitchFamily="65" charset="-120"/>
        </a:defRPr>
      </a:lvl2pPr>
      <a:lvl3pPr marL="1143000" indent="-228600" algn="l" rtl="0" eaLnBrk="0" fontAlgn="base" hangingPunct="0">
        <a:spcBef>
          <a:spcPct val="20000"/>
        </a:spcBef>
        <a:spcAft>
          <a:spcPct val="0"/>
        </a:spcAft>
        <a:buChar char="•"/>
        <a:defRPr sz="2400">
          <a:solidFill>
            <a:srgbClr val="000000"/>
          </a:solidFill>
          <a:latin typeface="+mn-lt"/>
          <a:ea typeface="DFKai-SB" pitchFamily="65" charset="-120"/>
        </a:defRPr>
      </a:lvl3pPr>
      <a:lvl4pPr marL="1600200" indent="-228600" algn="l" rtl="0" eaLnBrk="0" fontAlgn="base" hangingPunct="0">
        <a:spcBef>
          <a:spcPct val="20000"/>
        </a:spcBef>
        <a:spcAft>
          <a:spcPct val="0"/>
        </a:spcAft>
        <a:buChar char="–"/>
        <a:defRPr sz="2000">
          <a:solidFill>
            <a:srgbClr val="000000"/>
          </a:solidFill>
          <a:latin typeface="+mn-lt"/>
          <a:ea typeface="DFKai-SB" pitchFamily="65" charset="-120"/>
        </a:defRPr>
      </a:lvl4pPr>
      <a:lvl5pPr marL="2057400" indent="-228600" algn="l" rtl="0" eaLnBrk="0" fontAlgn="base" hangingPunct="0">
        <a:spcBef>
          <a:spcPct val="20000"/>
        </a:spcBef>
        <a:spcAft>
          <a:spcPct val="0"/>
        </a:spcAft>
        <a:buChar char="»"/>
        <a:defRPr sz="2000">
          <a:solidFill>
            <a:srgbClr val="000000"/>
          </a:solidFill>
          <a:latin typeface="+mn-lt"/>
          <a:ea typeface="DFKai-SB" pitchFamily="65" charset="-120"/>
        </a:defRPr>
      </a:lvl5pPr>
      <a:lvl6pPr marL="2514600" indent="-228600" algn="l" rtl="0" eaLnBrk="1" fontAlgn="base" hangingPunct="1">
        <a:spcBef>
          <a:spcPct val="20000"/>
        </a:spcBef>
        <a:spcAft>
          <a:spcPct val="0"/>
        </a:spcAft>
        <a:buChar char="»"/>
        <a:defRPr sz="2000">
          <a:solidFill>
            <a:srgbClr val="000000"/>
          </a:solidFill>
          <a:latin typeface="+mn-lt"/>
        </a:defRPr>
      </a:lvl6pPr>
      <a:lvl7pPr marL="2971800" indent="-228600" algn="l" rtl="0" eaLnBrk="1" fontAlgn="base" hangingPunct="1">
        <a:spcBef>
          <a:spcPct val="20000"/>
        </a:spcBef>
        <a:spcAft>
          <a:spcPct val="0"/>
        </a:spcAft>
        <a:buChar char="»"/>
        <a:defRPr sz="2000">
          <a:solidFill>
            <a:srgbClr val="000000"/>
          </a:solidFill>
          <a:latin typeface="+mn-lt"/>
        </a:defRPr>
      </a:lvl7pPr>
      <a:lvl8pPr marL="3429000" indent="-228600" algn="l" rtl="0" eaLnBrk="1" fontAlgn="base" hangingPunct="1">
        <a:spcBef>
          <a:spcPct val="20000"/>
        </a:spcBef>
        <a:spcAft>
          <a:spcPct val="0"/>
        </a:spcAft>
        <a:buChar char="»"/>
        <a:defRPr sz="2000">
          <a:solidFill>
            <a:srgbClr val="000000"/>
          </a:solidFill>
          <a:latin typeface="+mn-lt"/>
        </a:defRPr>
      </a:lvl8pPr>
      <a:lvl9pPr marL="3886200" indent="-228600" algn="l" rtl="0" eaLnBrk="1" fontAlgn="base" hangingPunct="1">
        <a:spcBef>
          <a:spcPct val="20000"/>
        </a:spcBef>
        <a:spcAft>
          <a:spcPct val="0"/>
        </a:spcAft>
        <a:buChar char="»"/>
        <a:defRPr sz="2000">
          <a:solidFill>
            <a:srgbClr val="000000"/>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analyticsvidhya.com/blog/2021/04/a-complete-beginners-guide-to-data-visualizatio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9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hyperlink" Target="https://doi.org/10.21105/joss.03021" TargetMode="External"/><Relationship Id="rId2" Type="http://schemas.openxmlformats.org/officeDocument/2006/relationships/hyperlink" Target="https://www.geeksforgeeks.org/machine-learning/classification-in-data-mining/" TargetMode="Externa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hyperlink" Target="https://www.kaggle.com/" TargetMode="External"/><Relationship Id="rId4" Type="http://schemas.openxmlformats.org/officeDocument/2006/relationships/hyperlink" Target="https://doi.org/10.1109/MCSE.2007.55" TargetMode="External"/></Relationships>
</file>

<file path=ppt/slides/_rels/slide137.xml.rels><?xml version="1.0" encoding="UTF-8" standalone="yes"?>
<Relationships xmlns="http://schemas.openxmlformats.org/package/2006/relationships"><Relationship Id="rId3" Type="http://schemas.openxmlformats.org/officeDocument/2006/relationships/hyperlink" Target="https://chat.openai.com/" TargetMode="External"/><Relationship Id="rId2" Type="http://schemas.openxmlformats.org/officeDocument/2006/relationships/hyperlink" Target="https://www.kaggle.com/datasets/redwankarimsony/heart-disease-data" TargetMode="Externa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hyperlink" Target="https://www.geeksforgeeks.org/pandas/introduction-to-pandas-in-python" TargetMode="External"/><Relationship Id="rId4" Type="http://schemas.openxmlformats.org/officeDocument/2006/relationships/hyperlink" Target="https://numpy.org/doc/stable/user/whatisnumpy.html" TargetMode="External"/></Relationships>
</file>

<file path=ppt/slides/_rels/slide13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realpython.com/ref/stdlib/o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AB95C6-00B7-C2B4-40C3-C202456C5D53}"/>
              </a:ext>
            </a:extLst>
          </p:cNvPr>
          <p:cNvSpPr txBox="1"/>
          <p:nvPr/>
        </p:nvSpPr>
        <p:spPr>
          <a:xfrm>
            <a:off x="197768" y="2037837"/>
            <a:ext cx="8748464" cy="584775"/>
          </a:xfrm>
          <a:prstGeom prst="rect">
            <a:avLst/>
          </a:prstGeom>
          <a:noFill/>
        </p:spPr>
        <p:txBody>
          <a:bodyPr wrap="square" rtlCol="0">
            <a:spAutoFit/>
          </a:bodyPr>
          <a:lstStyle/>
          <a:p>
            <a:r>
              <a:rPr lang="en-US" sz="3200" b="1" dirty="0">
                <a:solidFill>
                  <a:srgbClr val="0C0D03"/>
                </a:solidFill>
                <a:latin typeface="Times New Roman" panose="02020603050405020304" pitchFamily="18" charset="0"/>
                <a:cs typeface="Times New Roman" panose="02020603050405020304" pitchFamily="18" charset="0"/>
              </a:rPr>
              <a:t>Basic Concept of Classification (Data Mining)</a:t>
            </a:r>
          </a:p>
        </p:txBody>
      </p:sp>
      <p:sp>
        <p:nvSpPr>
          <p:cNvPr id="3" name="TextBox 2">
            <a:extLst>
              <a:ext uri="{FF2B5EF4-FFF2-40B4-BE49-F238E27FC236}">
                <a16:creationId xmlns:a16="http://schemas.microsoft.com/office/drawing/2014/main" id="{584A8367-7778-BE85-751C-A4DECCFC4E2C}"/>
              </a:ext>
            </a:extLst>
          </p:cNvPr>
          <p:cNvSpPr txBox="1"/>
          <p:nvPr/>
        </p:nvSpPr>
        <p:spPr>
          <a:xfrm>
            <a:off x="4355976" y="5229200"/>
            <a:ext cx="4536504" cy="584775"/>
          </a:xfrm>
          <a:prstGeom prst="rect">
            <a:avLst/>
          </a:prstGeom>
          <a:noFill/>
        </p:spPr>
        <p:txBody>
          <a:bodyPr wrap="square" rtlCol="0">
            <a:spAutoFit/>
          </a:bodyPr>
          <a:lstStyle/>
          <a:p>
            <a:pPr algn="ctr"/>
            <a:r>
              <a:rPr lang="en-US" sz="3200" b="1" dirty="0">
                <a:solidFill>
                  <a:srgbClr val="0C0D03"/>
                </a:solidFill>
                <a:latin typeface="Times New Roman" panose="02020603050405020304" pitchFamily="18" charset="0"/>
                <a:cs typeface="Times New Roman" panose="02020603050405020304" pitchFamily="18" charset="0"/>
              </a:rPr>
              <a:t>By : Ali </a:t>
            </a:r>
            <a:r>
              <a:rPr lang="en-US" sz="3200" b="1" dirty="0" err="1">
                <a:solidFill>
                  <a:srgbClr val="0C0D03"/>
                </a:solidFill>
                <a:latin typeface="Times New Roman" panose="02020603050405020304" pitchFamily="18" charset="0"/>
                <a:cs typeface="Times New Roman" panose="02020603050405020304" pitchFamily="18" charset="0"/>
              </a:rPr>
              <a:t>pourfereydoon</a:t>
            </a:r>
            <a:endParaRPr lang="en-US" sz="3200" b="1" dirty="0">
              <a:solidFill>
                <a:srgbClr val="0C0D03"/>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272B60F-6858-8B8F-09FC-F448C1BB9F2A}"/>
              </a:ext>
            </a:extLst>
          </p:cNvPr>
          <p:cNvSpPr txBox="1"/>
          <p:nvPr/>
        </p:nvSpPr>
        <p:spPr>
          <a:xfrm>
            <a:off x="-108520" y="2613092"/>
            <a:ext cx="8748464" cy="523220"/>
          </a:xfrm>
          <a:prstGeom prst="rect">
            <a:avLst/>
          </a:prstGeom>
          <a:noFill/>
        </p:spPr>
        <p:txBody>
          <a:bodyPr wrap="square" rtlCol="0">
            <a:spAutoFit/>
          </a:bodyPr>
          <a:lstStyle/>
          <a:p>
            <a:r>
              <a:rPr lang="en-US" sz="2800" b="1" dirty="0">
                <a:solidFill>
                  <a:srgbClr val="0C0D03"/>
                </a:solidFill>
                <a:latin typeface="Times New Roman" panose="02020603050405020304" pitchFamily="18" charset="0"/>
                <a:cs typeface="Times New Roman" panose="02020603050405020304" pitchFamily="18" charset="0"/>
              </a:rPr>
              <a:t>Predicting Heart Disease Using Machine Learning</a:t>
            </a:r>
          </a:p>
        </p:txBody>
      </p:sp>
      <p:pic>
        <p:nvPicPr>
          <p:cNvPr id="6" name="Picture 5">
            <a:extLst>
              <a:ext uri="{FF2B5EF4-FFF2-40B4-BE49-F238E27FC236}">
                <a16:creationId xmlns:a16="http://schemas.microsoft.com/office/drawing/2014/main" id="{5ECD9069-5BD8-89A4-9D15-C9B794C0745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181346"/>
          </a:xfrm>
          <a:prstGeom prst="rect">
            <a:avLst/>
          </a:prstGeom>
        </p:spPr>
      </p:pic>
    </p:spTree>
    <p:extLst>
      <p:ext uri="{BB962C8B-B14F-4D97-AF65-F5344CB8AC3E}">
        <p14:creationId xmlns:p14="http://schemas.microsoft.com/office/powerpoint/2010/main" val="3271256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B0FCBC6-8F18-8B71-062A-AB4AAC7D4B10}"/>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9D2ABF44-4FC1-AB45-AAB4-3A3DDFB639C8}"/>
              </a:ext>
            </a:extLst>
          </p:cNvPr>
          <p:cNvSpPr txBox="1"/>
          <p:nvPr/>
        </p:nvSpPr>
        <p:spPr>
          <a:xfrm>
            <a:off x="755576" y="2828835"/>
            <a:ext cx="7632848" cy="1323439"/>
          </a:xfrm>
          <a:prstGeom prst="rect">
            <a:avLst/>
          </a:prstGeom>
          <a:noFill/>
        </p:spPr>
        <p:txBody>
          <a:bodyPr wrap="square" rtlCol="0">
            <a:spAutoFit/>
          </a:bodyPr>
          <a:lstStyle/>
          <a:p>
            <a:pPr algn="ctr"/>
            <a:r>
              <a:rPr lang="en-US" sz="4000" b="1" dirty="0">
                <a:solidFill>
                  <a:srgbClr val="0C0D03"/>
                </a:solidFill>
                <a:latin typeface="Times New Roman" panose="02020603050405020304" pitchFamily="18" charset="0"/>
                <a:cs typeface="Times New Roman" panose="02020603050405020304" pitchFamily="18" charset="0"/>
              </a:rPr>
              <a:t>What is a Data Mining and classification:</a:t>
            </a:r>
          </a:p>
        </p:txBody>
      </p:sp>
      <p:pic>
        <p:nvPicPr>
          <p:cNvPr id="4" name="Picture 3">
            <a:extLst>
              <a:ext uri="{FF2B5EF4-FFF2-40B4-BE49-F238E27FC236}">
                <a16:creationId xmlns:a16="http://schemas.microsoft.com/office/drawing/2014/main" id="{837D4355-9769-E910-4B1D-CCEFDAAB313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181346"/>
          </a:xfrm>
          <a:prstGeom prst="rect">
            <a:avLst/>
          </a:prstGeom>
        </p:spPr>
      </p:pic>
    </p:spTree>
    <p:extLst>
      <p:ext uri="{BB962C8B-B14F-4D97-AF65-F5344CB8AC3E}">
        <p14:creationId xmlns:p14="http://schemas.microsoft.com/office/powerpoint/2010/main" val="70229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9275-E4CE-4A79-99EB-5155FB8C3AD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C8C05B7-3E4B-8277-341C-70C0CFCA1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8CA636F-5AAF-413B-75A6-D59230E3ED9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EDC4CA1F-318B-4A9B-6398-F7672A75DF25}"/>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introduction</a:t>
            </a:r>
          </a:p>
        </p:txBody>
      </p:sp>
      <p:sp>
        <p:nvSpPr>
          <p:cNvPr id="5" name="Rectangle: Rounded Corners 4">
            <a:extLst>
              <a:ext uri="{FF2B5EF4-FFF2-40B4-BE49-F238E27FC236}">
                <a16:creationId xmlns:a16="http://schemas.microsoft.com/office/drawing/2014/main" id="{D624F3F2-3F76-64CD-2BA7-0DC7211AE6E6}"/>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Data mining</a:t>
            </a:r>
            <a:r>
              <a:rPr lang="en-US" sz="2000" dirty="0">
                <a:solidFill>
                  <a:srgbClr val="0C0D03"/>
                </a:solidFill>
                <a:latin typeface="Times New Roman" panose="02020603050405020304" pitchFamily="18" charset="0"/>
                <a:cs typeface="Times New Roman" panose="02020603050405020304" pitchFamily="18" charset="0"/>
              </a:rPr>
              <a:t> in general terms means mining or digging deep into data that is in different forms to gain patterns, and to gain knowledge on that pattern. In the process of </a:t>
            </a:r>
            <a:r>
              <a:rPr lang="en-US" sz="2000" b="1" dirty="0">
                <a:solidFill>
                  <a:srgbClr val="0C0D03"/>
                </a:solidFill>
                <a:latin typeface="Times New Roman" panose="02020603050405020304" pitchFamily="18" charset="0"/>
                <a:cs typeface="Times New Roman" panose="02020603050405020304" pitchFamily="18" charset="0"/>
              </a:rPr>
              <a:t>data mining</a:t>
            </a:r>
            <a:r>
              <a:rPr lang="en-US" sz="2000" dirty="0">
                <a:solidFill>
                  <a:srgbClr val="0C0D03"/>
                </a:solidFill>
                <a:latin typeface="Times New Roman" panose="02020603050405020304" pitchFamily="18" charset="0"/>
                <a:cs typeface="Times New Roman" panose="02020603050405020304" pitchFamily="18" charset="0"/>
              </a:rPr>
              <a:t>, large data sets are first sorted, then patterns are identified and relationships are established to perform data analysis and solve problems. </a:t>
            </a:r>
            <a:endParaRPr kumimoji="0" lang="en-US" sz="2000" b="0" i="0" u="none" strike="noStrike" cap="none" normalizeH="0" baseline="0" dirty="0">
              <a:ln>
                <a:noFill/>
              </a:ln>
              <a:solidFill>
                <a:srgbClr val="0C0D03"/>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FCC9CD-475C-3A56-333B-A9704A94A9EF}"/>
              </a:ext>
            </a:extLst>
          </p:cNvPr>
          <p:cNvPicPr>
            <a:picLocks noChangeAspect="1"/>
          </p:cNvPicPr>
          <p:nvPr/>
        </p:nvPicPr>
        <p:blipFill>
          <a:blip r:embed="rId2"/>
          <a:stretch>
            <a:fillRect/>
          </a:stretch>
        </p:blipFill>
        <p:spPr>
          <a:xfrm>
            <a:off x="2915816" y="4015543"/>
            <a:ext cx="4413887" cy="1896020"/>
          </a:xfrm>
          <a:prstGeom prst="rect">
            <a:avLst/>
          </a:prstGeom>
        </p:spPr>
      </p:pic>
      <p:pic>
        <p:nvPicPr>
          <p:cNvPr id="6" name="Picture 5">
            <a:extLst>
              <a:ext uri="{FF2B5EF4-FFF2-40B4-BE49-F238E27FC236}">
                <a16:creationId xmlns:a16="http://schemas.microsoft.com/office/drawing/2014/main" id="{2FD853DD-3DD8-03BF-4AD7-5810F3ED3B7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553639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1B99-3AED-3360-9846-1BE3D3CF0AE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365C8AA-7751-7F2F-5BC9-799C0EAECF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EEEC376-CAC3-3020-4561-C625DB01E37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14A10789-6068-4E5A-096A-7128AEE290D3}"/>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introduction</a:t>
            </a:r>
          </a:p>
        </p:txBody>
      </p:sp>
      <p:sp>
        <p:nvSpPr>
          <p:cNvPr id="5" name="Rectangle: Rounded Corners 4">
            <a:extLst>
              <a:ext uri="{FF2B5EF4-FFF2-40B4-BE49-F238E27FC236}">
                <a16:creationId xmlns:a16="http://schemas.microsoft.com/office/drawing/2014/main" id="{375AB9EF-A376-8373-3FC6-FB6B62ABE0DB}"/>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Classification: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Classification is a widely used technique in data mining and is applied in a variety of domains, such as email filtering, sentiment analysis, and medical diagnosis.</a:t>
            </a:r>
          </a:p>
          <a:p>
            <a:pPr algn="just" rtl="0" fontAlgn="base">
              <a:lnSpc>
                <a:spcPts val="3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Classification </a:t>
            </a:r>
            <a:r>
              <a:rPr lang="en-US" sz="2000" dirty="0">
                <a:solidFill>
                  <a:srgbClr val="0C0D03"/>
                </a:solidFill>
                <a:latin typeface="Times New Roman" panose="02020603050405020304" pitchFamily="18" charset="0"/>
                <a:cs typeface="Times New Roman" panose="02020603050405020304" pitchFamily="18" charset="0"/>
              </a:rPr>
              <a:t>is a task in data mining that involves assigning a class label to each instance in a dataset based on its features. </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The goal </a:t>
            </a:r>
            <a:r>
              <a:rPr lang="en-US" sz="2000" dirty="0">
                <a:solidFill>
                  <a:srgbClr val="0C0D03"/>
                </a:solidFill>
                <a:latin typeface="Times New Roman" panose="02020603050405020304" pitchFamily="18" charset="0"/>
                <a:cs typeface="Times New Roman" panose="02020603050405020304" pitchFamily="18" charset="0"/>
              </a:rPr>
              <a:t>of classification is to build a model that accurately predicts the class labels of new instances based on their features.</a:t>
            </a:r>
          </a:p>
        </p:txBody>
      </p:sp>
      <p:pic>
        <p:nvPicPr>
          <p:cNvPr id="4" name="Picture 3">
            <a:extLst>
              <a:ext uri="{FF2B5EF4-FFF2-40B4-BE49-F238E27FC236}">
                <a16:creationId xmlns:a16="http://schemas.microsoft.com/office/drawing/2014/main" id="{0A9C5F0E-B496-6411-8A1C-1DD0D878D21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092844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FDEE-A726-1DFF-FF42-ABF55EBD40D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17261AA-F742-5B5F-82BC-7F7325E78A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937971E-72A7-E36F-57A9-AD650789265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CA30C28F-4121-E307-4A6F-2C691904A1D4}"/>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introduction</a:t>
            </a:r>
          </a:p>
        </p:txBody>
      </p:sp>
      <p:sp>
        <p:nvSpPr>
          <p:cNvPr id="5" name="Rectangle: Rounded Corners 4">
            <a:extLst>
              <a:ext uri="{FF2B5EF4-FFF2-40B4-BE49-F238E27FC236}">
                <a16:creationId xmlns:a16="http://schemas.microsoft.com/office/drawing/2014/main" id="{5CB17853-92E3-7650-3C64-836301715388}"/>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There are two main types of classification: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binary</a:t>
            </a:r>
            <a:r>
              <a:rPr lang="en-US" sz="2000" dirty="0">
                <a:solidFill>
                  <a:srgbClr val="0C0D03"/>
                </a:solidFill>
                <a:latin typeface="Times New Roman" panose="02020603050405020304" pitchFamily="18" charset="0"/>
                <a:cs typeface="Times New Roman" panose="02020603050405020304" pitchFamily="18" charset="0"/>
              </a:rPr>
              <a:t> classification and </a:t>
            </a:r>
            <a:r>
              <a:rPr lang="en-US" sz="2000" b="1" dirty="0">
                <a:solidFill>
                  <a:srgbClr val="0C0D03"/>
                </a:solidFill>
                <a:latin typeface="Times New Roman" panose="02020603050405020304" pitchFamily="18" charset="0"/>
                <a:cs typeface="Times New Roman" panose="02020603050405020304" pitchFamily="18" charset="0"/>
              </a:rPr>
              <a:t>multi-class</a:t>
            </a:r>
            <a:r>
              <a:rPr lang="en-US" sz="2000" dirty="0">
                <a:solidFill>
                  <a:srgbClr val="0C0D03"/>
                </a:solidFill>
                <a:latin typeface="Times New Roman" panose="02020603050405020304" pitchFamily="18" charset="0"/>
                <a:cs typeface="Times New Roman" panose="02020603050405020304" pitchFamily="18" charset="0"/>
              </a:rPr>
              <a:t> classification.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Binary classification involves classifying instances into two classes, such as "spam" or "not spam", while multi-class classification involves classifying instances into more than two classes.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FC7370A-462C-C488-8673-6A403B8B657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675736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5F130-364C-4B79-247A-5EE57EE4E89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BB9CE06-CC95-1DCE-FE78-8CEA8FDC51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C2419C0-38C2-930D-7C4D-2DF156A25FB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26CFD011-D2F0-1E2D-4D50-717797F7E332}"/>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introduction</a:t>
            </a:r>
          </a:p>
        </p:txBody>
      </p:sp>
      <p:sp>
        <p:nvSpPr>
          <p:cNvPr id="5" name="Rectangle: Rounded Corners 4">
            <a:extLst>
              <a:ext uri="{FF2B5EF4-FFF2-40B4-BE49-F238E27FC236}">
                <a16:creationId xmlns:a16="http://schemas.microsoft.com/office/drawing/2014/main" id="{7050736F-C421-BA43-4D0E-B42A5171D340}"/>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Binary: </a:t>
            </a:r>
            <a:r>
              <a:rPr lang="en-US" sz="2000" dirty="0">
                <a:solidFill>
                  <a:srgbClr val="0C0D03"/>
                </a:solidFill>
                <a:latin typeface="Times New Roman" panose="02020603050405020304" pitchFamily="18" charset="0"/>
                <a:cs typeface="Times New Roman" panose="02020603050405020304" pitchFamily="18" charset="0"/>
              </a:rPr>
              <a:t>Possesses only two values i.e. True or False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Example: Suppose there is a survey evaluating some products. We need to check whether it’s useful or not</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Nominal: </a:t>
            </a:r>
            <a:r>
              <a:rPr lang="en-US" sz="2000" dirty="0">
                <a:solidFill>
                  <a:srgbClr val="0C0D03"/>
                </a:solidFill>
                <a:latin typeface="Times New Roman" panose="02020603050405020304" pitchFamily="18" charset="0"/>
                <a:cs typeface="Times New Roman" panose="02020603050405020304" pitchFamily="18" charset="0"/>
              </a:rPr>
              <a:t>When more than two outcomes are possible. It is in Alphabet form rather than being in Integer form.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Example: One needs to choose some material but of different colors. So, the color might be Yellow, Green, Black, Red.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Different Colors: Red, Green, Black, Yellow</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24ED72-B6E5-D97E-8623-623687C320D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45394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D568-2EF4-3EC1-F73D-E1D348B0F14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E098808-5BA0-C94C-7505-3A2B12EFC5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1E5954D-7F1E-1028-3EBA-99AC16892D0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6A1C5875-AAFF-B050-FBC4-C21554E01EE0}"/>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introduction</a:t>
            </a:r>
          </a:p>
        </p:txBody>
      </p:sp>
      <p:sp>
        <p:nvSpPr>
          <p:cNvPr id="5" name="Rectangle: Rounded Corners 4">
            <a:extLst>
              <a:ext uri="{FF2B5EF4-FFF2-40B4-BE49-F238E27FC236}">
                <a16:creationId xmlns:a16="http://schemas.microsoft.com/office/drawing/2014/main" id="{C4DC3E14-F9E6-3DDB-D7A1-974862F4E74F}"/>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Ordinal: </a:t>
            </a:r>
            <a:r>
              <a:rPr lang="en-US" sz="2000" dirty="0">
                <a:solidFill>
                  <a:srgbClr val="0C0D03"/>
                </a:solidFill>
                <a:latin typeface="Times New Roman" panose="02020603050405020304" pitchFamily="18" charset="0"/>
                <a:cs typeface="Times New Roman" panose="02020603050405020304" pitchFamily="18" charset="0"/>
              </a:rPr>
              <a:t>Values that must have some meaningful order.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Example: Suppose there are grade sheets of few students which might contain different grades as per their performance such as A, B, C, D </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Continuous: </a:t>
            </a:r>
            <a:r>
              <a:rPr lang="en-US" sz="2000" dirty="0">
                <a:solidFill>
                  <a:srgbClr val="0C0D03"/>
                </a:solidFill>
                <a:latin typeface="Times New Roman" panose="02020603050405020304" pitchFamily="18" charset="0"/>
                <a:cs typeface="Times New Roman" panose="02020603050405020304" pitchFamily="18" charset="0"/>
              </a:rPr>
              <a:t>May have an infinite number of values, it is in float type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Example: Measuring the weight of few Students in a sequence or orderly manner i.e. 50, 51, 52, 53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Weight: 50, 51, 52, 53</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Discrete: </a:t>
            </a:r>
            <a:r>
              <a:rPr lang="en-US" sz="2000" dirty="0">
                <a:solidFill>
                  <a:srgbClr val="0C0D03"/>
                </a:solidFill>
                <a:latin typeface="Times New Roman" panose="02020603050405020304" pitchFamily="18" charset="0"/>
                <a:cs typeface="Times New Roman" panose="02020603050405020304" pitchFamily="18" charset="0"/>
              </a:rPr>
              <a:t>Finite number of values.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Example: Marks of a Student in a few subjects: 65, 70, 75, 80, 90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Marks: 65, 70, 75, 80, 90</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FEB0064-526F-C764-BACB-9F8486DF99F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8339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E106-7B7F-BDBB-123C-741EDB3FEE6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7CFBD04-AD1E-9595-0ADB-6D92D51D95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9E52BF5-2BA8-6A23-6620-8BECD4D2B99C}"/>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2</a:t>
            </a:r>
          </a:p>
        </p:txBody>
      </p:sp>
      <p:sp>
        <p:nvSpPr>
          <p:cNvPr id="3" name="TextBox 2">
            <a:extLst>
              <a:ext uri="{FF2B5EF4-FFF2-40B4-BE49-F238E27FC236}">
                <a16:creationId xmlns:a16="http://schemas.microsoft.com/office/drawing/2014/main" id="{250C221F-B8AD-546A-9E76-24087AA5547A}"/>
              </a:ext>
            </a:extLst>
          </p:cNvPr>
          <p:cNvSpPr txBox="1"/>
          <p:nvPr/>
        </p:nvSpPr>
        <p:spPr>
          <a:xfrm>
            <a:off x="251520" y="2828835"/>
            <a:ext cx="8640960" cy="1077218"/>
          </a:xfrm>
          <a:prstGeom prst="rect">
            <a:avLst/>
          </a:prstGeom>
          <a:noFill/>
        </p:spPr>
        <p:txBody>
          <a:bodyPr wrap="square" rtlCol="0">
            <a:spAutoFit/>
          </a:bodyPr>
          <a:lstStyle/>
          <a:p>
            <a:pPr algn="ctr"/>
            <a:r>
              <a:rPr lang="en-US" sz="3200" b="1" dirty="0">
                <a:solidFill>
                  <a:srgbClr val="0C0D03"/>
                </a:solidFill>
                <a:latin typeface="Times New Roman" panose="02020603050405020304" pitchFamily="18" charset="0"/>
                <a:cs typeface="Times New Roman" panose="02020603050405020304" pitchFamily="18" charset="0"/>
              </a:rPr>
              <a:t>The process of building a classification model typically involves the following steps:</a:t>
            </a:r>
          </a:p>
        </p:txBody>
      </p:sp>
      <p:pic>
        <p:nvPicPr>
          <p:cNvPr id="4" name="Picture 3">
            <a:extLst>
              <a:ext uri="{FF2B5EF4-FFF2-40B4-BE49-F238E27FC236}">
                <a16:creationId xmlns:a16="http://schemas.microsoft.com/office/drawing/2014/main" id="{D723E55B-7F82-3702-781B-0DAE3AB8BD4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06660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82B17-6440-B156-28D3-EFA81B9CFFA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1FEE5FF-F6DF-54F9-F571-70790AF2C8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0F58343-0DEF-0629-962F-1F15A4D8B9A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26030AC8-CCA0-013C-D86F-CBD82153D14E}"/>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Data Collection: </a:t>
            </a:r>
          </a:p>
        </p:txBody>
      </p:sp>
      <p:sp>
        <p:nvSpPr>
          <p:cNvPr id="4" name="Rectangle: Rounded Corners 3">
            <a:extLst>
              <a:ext uri="{FF2B5EF4-FFF2-40B4-BE49-F238E27FC236}">
                <a16:creationId xmlns:a16="http://schemas.microsoft.com/office/drawing/2014/main" id="{A0E9792D-4E31-67C1-7767-D79C676702BE}"/>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The first step in building a classification model is data collection. In this step, the data relevant to the problem at hand is collected.</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The data should be representative of the problem and should contain all the necessary attributes and labels needed for classification.</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The data can be collected from various sources, </a:t>
            </a:r>
            <a:r>
              <a:rPr lang="en-US" sz="2000" b="1" dirty="0">
                <a:solidFill>
                  <a:srgbClr val="0C0D03"/>
                </a:solidFill>
                <a:latin typeface="Times New Roman" panose="02020603050405020304" pitchFamily="18" charset="0"/>
                <a:cs typeface="Times New Roman" panose="02020603050405020304" pitchFamily="18" charset="0"/>
              </a:rPr>
              <a:t>such as surveys, questionnaires, websites, and databases.</a:t>
            </a:r>
          </a:p>
        </p:txBody>
      </p:sp>
      <p:pic>
        <p:nvPicPr>
          <p:cNvPr id="5" name="Picture 4">
            <a:extLst>
              <a:ext uri="{FF2B5EF4-FFF2-40B4-BE49-F238E27FC236}">
                <a16:creationId xmlns:a16="http://schemas.microsoft.com/office/drawing/2014/main" id="{F9D87D2D-F4FF-FAF5-7361-D43A591B08A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981709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57E49-982B-5BD3-2207-354965B026E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547AFEC-5665-5C66-FBB9-1A92D728CF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457F2FF-B80E-2EE0-3BE0-0F3F0C85415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DD6BAED6-0AB6-045E-7F80-292B25C3D31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Data Preprocessing:</a:t>
            </a:r>
          </a:p>
        </p:txBody>
      </p:sp>
      <p:sp>
        <p:nvSpPr>
          <p:cNvPr id="4" name="Rectangle: Rounded Corners 3">
            <a:extLst>
              <a:ext uri="{FF2B5EF4-FFF2-40B4-BE49-F238E27FC236}">
                <a16:creationId xmlns:a16="http://schemas.microsoft.com/office/drawing/2014/main" id="{9379B57C-8B13-E432-4ADB-BF75F9F2959D}"/>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000" b="1" dirty="0">
                <a:solidFill>
                  <a:srgbClr val="0C0D03"/>
                </a:solidFill>
                <a:latin typeface="Times New Roman" panose="02020603050405020304" pitchFamily="18" charset="0"/>
                <a:cs typeface="Times New Roman" panose="02020603050405020304" pitchFamily="18" charset="0"/>
              </a:rPr>
              <a:t>The second step </a:t>
            </a:r>
            <a:r>
              <a:rPr lang="en-US" sz="2000" dirty="0">
                <a:solidFill>
                  <a:srgbClr val="0C0D03"/>
                </a:solidFill>
                <a:latin typeface="Times New Roman" panose="02020603050405020304" pitchFamily="18" charset="0"/>
                <a:cs typeface="Times New Roman" panose="02020603050405020304" pitchFamily="18" charset="0"/>
              </a:rPr>
              <a:t>in building a classification model is data preprocessing. The collected data needs to be preprocessed to ensure its quality.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This involves handling </a:t>
            </a:r>
            <a:r>
              <a:rPr lang="en-US" sz="2000" b="1" dirty="0">
                <a:solidFill>
                  <a:srgbClr val="0C0D03"/>
                </a:solidFill>
                <a:latin typeface="Times New Roman" panose="02020603050405020304" pitchFamily="18" charset="0"/>
                <a:cs typeface="Times New Roman" panose="02020603050405020304" pitchFamily="18" charset="0"/>
              </a:rPr>
              <a:t>missing values</a:t>
            </a: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dealing with outliers</a:t>
            </a:r>
            <a:r>
              <a:rPr lang="en-US" sz="2000" dirty="0">
                <a:solidFill>
                  <a:srgbClr val="0C0D03"/>
                </a:solidFill>
                <a:latin typeface="Times New Roman" panose="02020603050405020304" pitchFamily="18" charset="0"/>
                <a:cs typeface="Times New Roman" panose="02020603050405020304" pitchFamily="18" charset="0"/>
              </a:rPr>
              <a:t>, and </a:t>
            </a:r>
            <a:r>
              <a:rPr lang="en-US" sz="2000" b="1" dirty="0">
                <a:solidFill>
                  <a:srgbClr val="0C0D03"/>
                </a:solidFill>
                <a:latin typeface="Times New Roman" panose="02020603050405020304" pitchFamily="18" charset="0"/>
                <a:cs typeface="Times New Roman" panose="02020603050405020304" pitchFamily="18" charset="0"/>
              </a:rPr>
              <a:t>transforming the data into a format suitable for analysis</a:t>
            </a:r>
            <a:r>
              <a:rPr lang="en-US" sz="2000" dirty="0">
                <a:solidFill>
                  <a:srgbClr val="0C0D03"/>
                </a:solidFill>
                <a:latin typeface="Times New Roman" panose="02020603050405020304" pitchFamily="18" charset="0"/>
                <a:cs typeface="Times New Roman" panose="02020603050405020304" pitchFamily="18" charset="0"/>
              </a:rPr>
              <a:t>.</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Data preprocessing also involves converting the data into numerical form, as most classification algorithms require numerical input.</a:t>
            </a:r>
          </a:p>
        </p:txBody>
      </p:sp>
      <p:pic>
        <p:nvPicPr>
          <p:cNvPr id="5" name="Picture 4">
            <a:extLst>
              <a:ext uri="{FF2B5EF4-FFF2-40B4-BE49-F238E27FC236}">
                <a16:creationId xmlns:a16="http://schemas.microsoft.com/office/drawing/2014/main" id="{1F0F3633-A8C3-B729-3B05-9AADB74EE60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39814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EE6D4-37D8-E35B-8CA7-760A81DE510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6F8ABCD-6969-C756-D4E9-EBCE51659C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D7B3784-F498-6AFA-4B14-654AF6E461F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3912B9A1-EE64-7C6B-66CE-16A7BE4983A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Data Preprocessing:</a:t>
            </a:r>
          </a:p>
        </p:txBody>
      </p:sp>
      <p:sp>
        <p:nvSpPr>
          <p:cNvPr id="4" name="Rectangle: Rounded Corners 3">
            <a:extLst>
              <a:ext uri="{FF2B5EF4-FFF2-40B4-BE49-F238E27FC236}">
                <a16:creationId xmlns:a16="http://schemas.microsoft.com/office/drawing/2014/main" id="{76AAFBF6-91F1-54F7-F61F-3E5B6692E4DD}"/>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Handling Missing Values: </a:t>
            </a:r>
            <a:r>
              <a:rPr lang="en-US" sz="2000" dirty="0">
                <a:solidFill>
                  <a:srgbClr val="0C0D03"/>
                </a:solidFill>
                <a:latin typeface="Times New Roman" panose="02020603050405020304" pitchFamily="18" charset="0"/>
                <a:cs typeface="Times New Roman" panose="02020603050405020304" pitchFamily="18" charset="0"/>
              </a:rPr>
              <a:t>Missing values in the dataset can be handled by replacing them with the mean, median, or mode of the corresponding feature or by removing the entire record.</a:t>
            </a: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Dealing with Outliers: </a:t>
            </a:r>
            <a:r>
              <a:rPr lang="en-US" sz="2000" dirty="0">
                <a:solidFill>
                  <a:srgbClr val="0C0D03"/>
                </a:solidFill>
                <a:latin typeface="Times New Roman" panose="02020603050405020304" pitchFamily="18" charset="0"/>
                <a:cs typeface="Times New Roman" panose="02020603050405020304" pitchFamily="18" charset="0"/>
              </a:rPr>
              <a:t>Outliers in the dataset can be detected using various statistical techniques such as z-score analysis, boxplots, and scatterplots.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Outliers can be removed from the dataset or replaced with the mean, median, or mode of the corresponding feature.</a:t>
            </a:r>
          </a:p>
        </p:txBody>
      </p:sp>
      <p:pic>
        <p:nvPicPr>
          <p:cNvPr id="5" name="Picture 4">
            <a:extLst>
              <a:ext uri="{FF2B5EF4-FFF2-40B4-BE49-F238E27FC236}">
                <a16:creationId xmlns:a16="http://schemas.microsoft.com/office/drawing/2014/main" id="{5236AEFD-E11D-E38A-D894-5D7AFA6A469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4262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A4D3D-6860-DEA1-2FC2-E94D9EF31B9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83D410C-C675-6432-D997-6A2DB80173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D74136B-7250-908B-F445-88D7206B345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AB88376-E6A8-3B3E-8D49-3937C38BBFA6}"/>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Data Preprocessing:</a:t>
            </a:r>
          </a:p>
        </p:txBody>
      </p:sp>
      <p:sp>
        <p:nvSpPr>
          <p:cNvPr id="4" name="Rectangle: Rounded Corners 3">
            <a:extLst>
              <a:ext uri="{FF2B5EF4-FFF2-40B4-BE49-F238E27FC236}">
                <a16:creationId xmlns:a16="http://schemas.microsoft.com/office/drawing/2014/main" id="{A2F384DA-3B84-4EF5-45A3-A7AD1C217C31}"/>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Data Transformation:</a:t>
            </a:r>
          </a:p>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 </a:t>
            </a:r>
            <a:r>
              <a:rPr lang="en-US" sz="2000" dirty="0">
                <a:solidFill>
                  <a:srgbClr val="0C0D03"/>
                </a:solidFill>
                <a:latin typeface="Times New Roman" panose="02020603050405020304" pitchFamily="18" charset="0"/>
                <a:cs typeface="Times New Roman" panose="02020603050405020304" pitchFamily="18" charset="0"/>
              </a:rPr>
              <a:t>Data transformation involves scaling or normalizing the data to bring it into a common scale. This is done to ensure that all features have the same level of importance in the analysis.</a:t>
            </a: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BB4E9B7-6891-7C1E-0950-03D18B55ACB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02099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9C48-5D31-2C52-5A65-B903C4103AF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02A48BB-2C16-2EFF-3ECC-49F187C88C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287AD02-10AA-D935-83AF-233D99AA969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695D5135-4845-46C9-F3C2-F1817DBA901D}"/>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Feature Selection:</a:t>
            </a:r>
          </a:p>
        </p:txBody>
      </p:sp>
      <p:sp>
        <p:nvSpPr>
          <p:cNvPr id="4" name="Rectangle: Rounded Corners 3">
            <a:extLst>
              <a:ext uri="{FF2B5EF4-FFF2-40B4-BE49-F238E27FC236}">
                <a16:creationId xmlns:a16="http://schemas.microsoft.com/office/drawing/2014/main" id="{D6608340-0706-22FD-BF95-CA30418F5BD8}"/>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The third step in building a classification </a:t>
            </a:r>
            <a:r>
              <a:rPr lang="en-US" sz="2000" dirty="0">
                <a:solidFill>
                  <a:srgbClr val="0C0D03"/>
                </a:solidFill>
                <a:latin typeface="Times New Roman" panose="02020603050405020304" pitchFamily="18" charset="0"/>
                <a:cs typeface="Times New Roman" panose="02020603050405020304" pitchFamily="18" charset="0"/>
              </a:rPr>
              <a:t>model is feature selection.</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Feature selection involves identifying the most relevant attributes in the dataset for classification.</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This can be done using various techniques, such as </a:t>
            </a:r>
            <a:r>
              <a:rPr lang="en-US" sz="2000" b="1" dirty="0">
                <a:solidFill>
                  <a:srgbClr val="0C0D03"/>
                </a:solidFill>
                <a:latin typeface="Times New Roman" panose="02020603050405020304" pitchFamily="18" charset="0"/>
                <a:cs typeface="Times New Roman" panose="02020603050405020304" pitchFamily="18" charset="0"/>
              </a:rPr>
              <a:t>correlation analysis</a:t>
            </a: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information gain</a:t>
            </a:r>
            <a:r>
              <a:rPr lang="en-US" sz="2000" dirty="0">
                <a:solidFill>
                  <a:srgbClr val="0C0D03"/>
                </a:solidFill>
                <a:latin typeface="Times New Roman" panose="02020603050405020304" pitchFamily="18" charset="0"/>
                <a:cs typeface="Times New Roman" panose="02020603050405020304" pitchFamily="18" charset="0"/>
              </a:rPr>
              <a:t>, and </a:t>
            </a:r>
            <a:r>
              <a:rPr lang="en-US" sz="2000" b="1" dirty="0">
                <a:solidFill>
                  <a:srgbClr val="0C0D03"/>
                </a:solidFill>
                <a:latin typeface="Times New Roman" panose="02020603050405020304" pitchFamily="18" charset="0"/>
                <a:cs typeface="Times New Roman" panose="02020603050405020304" pitchFamily="18" charset="0"/>
              </a:rPr>
              <a:t>principal component analysis.</a:t>
            </a: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40907A1-BD02-CF55-163D-D51F5ADB507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83281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D86F-0AB8-EE54-5A82-B98BB086C63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50B9E44-A8DB-D76E-10AA-6D5ABC1CFB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218DF2C-A3AE-0617-4DFC-A98BEA9601C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DD87C8C7-97A1-D991-956F-C842EAD4396F}"/>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Feature Selection:</a:t>
            </a:r>
          </a:p>
        </p:txBody>
      </p:sp>
      <p:sp>
        <p:nvSpPr>
          <p:cNvPr id="4" name="Rectangle: Rounded Corners 3">
            <a:extLst>
              <a:ext uri="{FF2B5EF4-FFF2-40B4-BE49-F238E27FC236}">
                <a16:creationId xmlns:a16="http://schemas.microsoft.com/office/drawing/2014/main" id="{9CC25223-A146-80F1-D218-BE248C6400F8}"/>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Correlation Analysis: </a:t>
            </a:r>
            <a:r>
              <a:rPr lang="en-US" sz="2000" dirty="0">
                <a:solidFill>
                  <a:srgbClr val="0C0D03"/>
                </a:solidFill>
                <a:latin typeface="Times New Roman" panose="02020603050405020304" pitchFamily="18" charset="0"/>
                <a:cs typeface="Times New Roman" panose="02020603050405020304" pitchFamily="18" charset="0"/>
              </a:rPr>
              <a:t>Correlation analysis involves identifying the correlation between the features in the dataset. Features that are highly correlated with each other can be removed as they do not provide additional information for classification.</a:t>
            </a: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Information Gain: </a:t>
            </a:r>
            <a:r>
              <a:rPr lang="en-US" sz="2000" dirty="0">
                <a:solidFill>
                  <a:srgbClr val="0C0D03"/>
                </a:solidFill>
                <a:latin typeface="Times New Roman" panose="02020603050405020304" pitchFamily="18" charset="0"/>
                <a:cs typeface="Times New Roman" panose="02020603050405020304" pitchFamily="18" charset="0"/>
              </a:rPr>
              <a:t>Information gain is a measure of the amount of information that a feature provides for classification. Features with high information gain are selected for classification.</a:t>
            </a:r>
          </a:p>
        </p:txBody>
      </p:sp>
      <p:pic>
        <p:nvPicPr>
          <p:cNvPr id="5" name="Picture 4">
            <a:extLst>
              <a:ext uri="{FF2B5EF4-FFF2-40B4-BE49-F238E27FC236}">
                <a16:creationId xmlns:a16="http://schemas.microsoft.com/office/drawing/2014/main" id="{58021F56-B716-211D-A6EC-A804788A690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95754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65AB2-66BB-8889-B862-F2EC935DDB3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2267908-5637-CBE5-FDB3-9544981ED0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573D28C-B1E9-0C24-43D7-D6B791F8A07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806C349-11F4-E83E-53B9-9D82861E3F44}"/>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70F11BDA-E365-5E7D-3E77-3F12DD95C931}"/>
              </a:ext>
            </a:extLst>
          </p:cNvPr>
          <p:cNvSpPr/>
          <p:nvPr/>
        </p:nvSpPr>
        <p:spPr bwMode="auto">
          <a:xfrm>
            <a:off x="755576" y="1937793"/>
            <a:ext cx="8064896" cy="467573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The fourth step in building a classification model is model selection. </a:t>
            </a:r>
            <a:r>
              <a:rPr lang="en-US" sz="2000" dirty="0">
                <a:solidFill>
                  <a:srgbClr val="0C0D03"/>
                </a:solidFill>
                <a:latin typeface="Times New Roman" panose="02020603050405020304" pitchFamily="18" charset="0"/>
                <a:cs typeface="Times New Roman" panose="02020603050405020304" pitchFamily="18" charset="0"/>
              </a:rPr>
              <a:t>Model selection involves selecting the appropriate classification algorithm for the problem at hand. There are several algorithms available, such as :</a:t>
            </a:r>
          </a:p>
          <a:p>
            <a:pPr marR="0" algn="just" defTabSz="914400" rtl="0" eaLnBrk="1" fontAlgn="base" latinLnBrk="0" hangingPunct="1">
              <a:lnSpc>
                <a:spcPts val="3000"/>
              </a:lnSpc>
              <a:spcBef>
                <a:spcPct val="0"/>
              </a:spcBef>
              <a:spcAft>
                <a:spcPct val="0"/>
              </a:spcAft>
              <a:buClrTx/>
              <a:buSzTx/>
              <a:tabLst/>
            </a:pPr>
            <a:r>
              <a:rPr lang="en-US" sz="2000" b="1" dirty="0">
                <a:solidFill>
                  <a:srgbClr val="0C0D03"/>
                </a:solidFill>
                <a:latin typeface="Times New Roman" panose="02020603050405020304" pitchFamily="18" charset="0"/>
                <a:cs typeface="Times New Roman" panose="02020603050405020304" pitchFamily="18" charset="0"/>
              </a:rPr>
              <a:t>Classifiers Of Machine Learning: </a:t>
            </a: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Decision Trees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Bayesian Classifiers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Neural Networks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K-Nearest </a:t>
            </a:r>
            <a:r>
              <a:rPr lang="en-US" sz="2000" dirty="0" err="1">
                <a:solidFill>
                  <a:srgbClr val="0C0D03"/>
                </a:solidFill>
                <a:latin typeface="Times New Roman" panose="02020603050405020304" pitchFamily="18" charset="0"/>
                <a:cs typeface="Times New Roman" panose="02020603050405020304" pitchFamily="18" charset="0"/>
              </a:rPr>
              <a:t>Neighbour</a:t>
            </a: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Support Vector Machines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Linear Regression</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Logistic </a:t>
            </a:r>
            <a:r>
              <a:rPr lang="en-US" sz="2000" dirty="0" err="1">
                <a:solidFill>
                  <a:srgbClr val="0C0D03"/>
                </a:solidFill>
                <a:latin typeface="Times New Roman" panose="02020603050405020304" pitchFamily="18" charset="0"/>
                <a:cs typeface="Times New Roman" panose="02020603050405020304" pitchFamily="18" charset="0"/>
              </a:rPr>
              <a:t>Regressio</a:t>
            </a: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76EE503-8FD6-5B19-CE98-86B953C2C09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96749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6A14-8943-349A-BE8E-E1C2D5E3334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C966E3D-CFEB-3FEF-3585-B383E6DD0B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381BA4C-D47B-BE84-6B28-768CFAED1A7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2D319E94-FDBF-8263-F350-D8660E76AD5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9A929A8D-027E-2F10-4276-EDB49BBB0F62}"/>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Classifiers can be categorized into two major types: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1.Discriminative</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2. Generative:</a:t>
            </a:r>
          </a:p>
        </p:txBody>
      </p:sp>
      <p:pic>
        <p:nvPicPr>
          <p:cNvPr id="5" name="Picture 4">
            <a:extLst>
              <a:ext uri="{FF2B5EF4-FFF2-40B4-BE49-F238E27FC236}">
                <a16:creationId xmlns:a16="http://schemas.microsoft.com/office/drawing/2014/main" id="{A3E7842B-2B78-115A-401A-71363770FFB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027670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FEDB-B715-BABF-3DD5-B293055086D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457FE8F-76ED-C4D7-73C3-727A1AA3F5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493E7A6-F072-EFA8-D17D-5F73344AA70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0C562C29-6973-2C8E-5570-0A216AB5BB94}"/>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704E5ADD-F696-8CEA-CF78-C8605F7ACE68}"/>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Discriminative: </a:t>
            </a:r>
            <a:r>
              <a:rPr lang="en-US" sz="2000" dirty="0">
                <a:solidFill>
                  <a:srgbClr val="0C0D03"/>
                </a:solidFill>
                <a:latin typeface="Times New Roman" panose="02020603050405020304" pitchFamily="18" charset="0"/>
                <a:cs typeface="Times New Roman" panose="02020603050405020304" pitchFamily="18" charset="0"/>
              </a:rPr>
              <a:t>It is a very basic classifier and determines just one class for each row of data. It tries to model just by depending on the observed data, depends heavily on the quality of data rather than on distributions.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Example: Logistic Regression</a:t>
            </a:r>
          </a:p>
          <a:p>
            <a:pPr marR="0" algn="just"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Generative: </a:t>
            </a:r>
            <a:r>
              <a:rPr lang="en-US" sz="2000" dirty="0">
                <a:solidFill>
                  <a:srgbClr val="0C0D03"/>
                </a:solidFill>
                <a:latin typeface="Times New Roman" panose="02020603050405020304" pitchFamily="18" charset="0"/>
                <a:cs typeface="Times New Roman" panose="02020603050405020304" pitchFamily="18" charset="0"/>
              </a:rPr>
              <a:t>It models the distribution of individual classes and tries to learn the model that generates the data behind the scenes by estimating assumptions and distributions of the model. Used to predict the unseen data. </a:t>
            </a:r>
          </a:p>
        </p:txBody>
      </p:sp>
      <p:pic>
        <p:nvPicPr>
          <p:cNvPr id="5" name="Picture 4">
            <a:extLst>
              <a:ext uri="{FF2B5EF4-FFF2-40B4-BE49-F238E27FC236}">
                <a16:creationId xmlns:a16="http://schemas.microsoft.com/office/drawing/2014/main" id="{4F4A6974-0D0C-84C6-C6FD-66BB742916A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822537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70A59-DEED-8B0D-F5DE-2292D00653D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E98B14C-6277-F645-6D01-FAF0013F8E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27D237E-2C5C-C597-94C2-9505AF4C2AA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C182F170-6E4C-599F-05FF-397AB97065A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DDD14E0A-BA38-EDAC-3BC0-40E73DD2A757}"/>
              </a:ext>
            </a:extLst>
          </p:cNvPr>
          <p:cNvSpPr/>
          <p:nvPr/>
        </p:nvSpPr>
        <p:spPr bwMode="auto">
          <a:xfrm>
            <a:off x="755576" y="1937793"/>
            <a:ext cx="8064896" cy="438522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Example: Naive Bayes Classifier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Detecting Spam emails by looking at the previous data. Suppose 100 emails and that too divided in 1:4 i.e. Class A: 25%(Spam emails) and Class B: 75%(Non-Spam emails).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Now if a user wants to check that if an email contains the word cheap, then that may be termed as Spam.  It seems to be that in Class A(i.e. in 25% of data), 20 out of 25 emails are spam and rest not.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And in Class B(i.e. in 75% of data), 70 out of 75 emails are not spam and rest are spam.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So, if the email contains the word cheap, what is the probability of it being spam ?? (= 80%). </a:t>
            </a:r>
          </a:p>
        </p:txBody>
      </p:sp>
      <p:pic>
        <p:nvPicPr>
          <p:cNvPr id="5" name="Picture 4">
            <a:extLst>
              <a:ext uri="{FF2B5EF4-FFF2-40B4-BE49-F238E27FC236}">
                <a16:creationId xmlns:a16="http://schemas.microsoft.com/office/drawing/2014/main" id="{3B8FDF9D-B17D-BB4A-26BC-013461004A3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533801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4E1FD-47EE-E8D2-2D82-B5DCA7BC15D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BB36E85-B813-59ED-221E-0D89D8E73F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9395EF9-24FF-C3B4-AB04-5DE0C2870C1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94AF335-BAEA-4D61-B283-FF3FA2D216C4}"/>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016935D4-FB0C-3B3A-06ED-03193B95616D}"/>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Decision Trees: </a:t>
            </a:r>
            <a:r>
              <a:rPr lang="en-US" sz="2000" dirty="0">
                <a:solidFill>
                  <a:srgbClr val="0C0D03"/>
                </a:solidFill>
                <a:latin typeface="Times New Roman" panose="02020603050405020304" pitchFamily="18" charset="0"/>
                <a:cs typeface="Times New Roman" panose="02020603050405020304" pitchFamily="18" charset="0"/>
              </a:rPr>
              <a:t>Decision trees are a simple yet powerful classification algorithm. They divide the dataset into smaller subsets based on the values of the features and construct a tree-like model that can be used for classification.</a:t>
            </a:r>
          </a:p>
        </p:txBody>
      </p:sp>
      <p:pic>
        <p:nvPicPr>
          <p:cNvPr id="5" name="Picture 4">
            <a:extLst>
              <a:ext uri="{FF2B5EF4-FFF2-40B4-BE49-F238E27FC236}">
                <a16:creationId xmlns:a16="http://schemas.microsoft.com/office/drawing/2014/main" id="{21B38296-9398-71E4-D698-F969BDB8F5B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033015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9D11-5D36-9F8B-7346-57EBD9839A6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37B96FC-C5D9-DB36-00A8-3F9BEB9A5A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9D82905-1F58-59C9-4E45-736077A1485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843221D3-A5FD-42C6-30B5-BBE1C517C3B4}"/>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5D7C3834-5518-34E6-6303-F588C6C20BE5}"/>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Support Vector Machines: </a:t>
            </a:r>
            <a:r>
              <a:rPr lang="en-US" sz="2000" dirty="0">
                <a:solidFill>
                  <a:srgbClr val="0C0D03"/>
                </a:solidFill>
                <a:latin typeface="Times New Roman" panose="02020603050405020304" pitchFamily="18" charset="0"/>
                <a:cs typeface="Times New Roman" panose="02020603050405020304" pitchFamily="18" charset="0"/>
              </a:rPr>
              <a:t>Support Vector Machines (SVMs) are a popular classification algorithm used for both linear and nonlinear classification problems.</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SVMs are based on the concept of maximum margin, which involves finding the hyperplane that maximizes the distance between the two classes.</a:t>
            </a:r>
          </a:p>
        </p:txBody>
      </p:sp>
      <p:pic>
        <p:nvPicPr>
          <p:cNvPr id="5" name="Picture 4">
            <a:extLst>
              <a:ext uri="{FF2B5EF4-FFF2-40B4-BE49-F238E27FC236}">
                <a16:creationId xmlns:a16="http://schemas.microsoft.com/office/drawing/2014/main" id="{F09C92B5-81DE-6A44-B44D-A46D5A109B2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74599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8DE88-E863-0B65-9B95-E600D7C6A3A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3B92C1F-1278-26BD-98BD-A7DA0EC8F2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F6A69A6-667B-72CB-948E-2930BDD2ECE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2D50FAD0-FD78-C217-3866-DC301DC0F8B0}"/>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Selection:</a:t>
            </a:r>
          </a:p>
        </p:txBody>
      </p:sp>
      <p:sp>
        <p:nvSpPr>
          <p:cNvPr id="4" name="Rectangle: Rounded Corners 3">
            <a:extLst>
              <a:ext uri="{FF2B5EF4-FFF2-40B4-BE49-F238E27FC236}">
                <a16:creationId xmlns:a16="http://schemas.microsoft.com/office/drawing/2014/main" id="{F3858BF3-013A-75BA-AD6A-906E4F82EE6F}"/>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Neural Networks: </a:t>
            </a:r>
          </a:p>
          <a:p>
            <a:pPr marR="0" algn="just" defTabSz="914400" rtl="0" eaLnBrk="1" fontAlgn="base" latinLnBrk="0" hangingPunct="1">
              <a:lnSpc>
                <a:spcPts val="3000"/>
              </a:lnSpc>
              <a:spcBef>
                <a:spcPct val="0"/>
              </a:spcBef>
              <a:spcAft>
                <a:spcPct val="0"/>
              </a:spcAft>
              <a:buClrTx/>
              <a:buSzTx/>
              <a:tabLst/>
            </a:pPr>
            <a:endParaRPr lang="en-US" sz="2400" b="1" dirty="0">
              <a:solidFill>
                <a:srgbClr val="0C0D03"/>
              </a:solidFill>
              <a:latin typeface="Times New Roman" panose="02020603050405020304" pitchFamily="18" charset="0"/>
              <a:cs typeface="Times New Roman" panose="02020603050405020304" pitchFamily="18" charset="0"/>
            </a:endParaRP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Neural Networks are a powerful classification algorithm that can learn complex patterns in the data.</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They are inspired by the structure of the human brain and consist of multiple layers of interconnected nodes</a:t>
            </a:r>
          </a:p>
        </p:txBody>
      </p:sp>
      <p:pic>
        <p:nvPicPr>
          <p:cNvPr id="5" name="Picture 4">
            <a:extLst>
              <a:ext uri="{FF2B5EF4-FFF2-40B4-BE49-F238E27FC236}">
                <a16:creationId xmlns:a16="http://schemas.microsoft.com/office/drawing/2014/main" id="{32A81EB1-D769-94AA-3908-82C01DAE19E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65438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81DE-6235-BE07-8E4C-CBCF5D441FC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BB309F5-6059-42E1-FFA6-3811BA361E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FBFF150-D0A4-BA38-DFCE-1466CB83ECD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992C1411-1C60-DBF4-1CDD-EBE7B03129F9}"/>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Training:</a:t>
            </a:r>
          </a:p>
        </p:txBody>
      </p:sp>
      <p:sp>
        <p:nvSpPr>
          <p:cNvPr id="4" name="Rectangle: Rounded Corners 3">
            <a:extLst>
              <a:ext uri="{FF2B5EF4-FFF2-40B4-BE49-F238E27FC236}">
                <a16:creationId xmlns:a16="http://schemas.microsoft.com/office/drawing/2014/main" id="{A95B0C94-9409-5096-3E10-C479646E5326}"/>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The fifth step in building a classification model is model training. </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Model training involves using the selected classification algorithm to learn the patterns in the data.</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The data is divided into a </a:t>
            </a:r>
            <a:r>
              <a:rPr lang="en-US" sz="2000" b="1" dirty="0">
                <a:solidFill>
                  <a:srgbClr val="0C0D03"/>
                </a:solidFill>
                <a:latin typeface="Times New Roman" panose="02020603050405020304" pitchFamily="18" charset="0"/>
                <a:cs typeface="Times New Roman" panose="02020603050405020304" pitchFamily="18" charset="0"/>
              </a:rPr>
              <a:t>training set </a:t>
            </a:r>
            <a:r>
              <a:rPr lang="en-US" sz="2000" dirty="0">
                <a:solidFill>
                  <a:srgbClr val="0C0D03"/>
                </a:solidFill>
                <a:latin typeface="Times New Roman" panose="02020603050405020304" pitchFamily="18" charset="0"/>
                <a:cs typeface="Times New Roman" panose="02020603050405020304" pitchFamily="18" charset="0"/>
              </a:rPr>
              <a:t>and a </a:t>
            </a:r>
            <a:r>
              <a:rPr lang="en-US" sz="2000" b="1" dirty="0">
                <a:solidFill>
                  <a:srgbClr val="0C0D03"/>
                </a:solidFill>
                <a:latin typeface="Times New Roman" panose="02020603050405020304" pitchFamily="18" charset="0"/>
                <a:cs typeface="Times New Roman" panose="02020603050405020304" pitchFamily="18" charset="0"/>
              </a:rPr>
              <a:t>validation set</a:t>
            </a:r>
            <a:r>
              <a:rPr lang="en-US" sz="2000" dirty="0">
                <a:solidFill>
                  <a:srgbClr val="0C0D03"/>
                </a:solidFill>
                <a:latin typeface="Times New Roman" panose="02020603050405020304" pitchFamily="18" charset="0"/>
                <a:cs typeface="Times New Roman" panose="02020603050405020304" pitchFamily="18" charset="0"/>
              </a:rPr>
              <a:t>.</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The model is trained using the training set, and its performance is evaluated on the validation set.</a:t>
            </a:r>
          </a:p>
        </p:txBody>
      </p:sp>
      <p:pic>
        <p:nvPicPr>
          <p:cNvPr id="5" name="Picture 4">
            <a:extLst>
              <a:ext uri="{FF2B5EF4-FFF2-40B4-BE49-F238E27FC236}">
                <a16:creationId xmlns:a16="http://schemas.microsoft.com/office/drawing/2014/main" id="{06B5BED7-FA7C-5189-320C-CAB92EA1D7C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771687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72B43-D777-B02C-8B46-05E609D0CD4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0745C79-2C6D-7D83-6991-C10066949C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93C1A16-CFAF-8D52-7C5F-84C4DBEE023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2CCDF47-2DC2-B8FD-ABB7-845A2E34E9EF}"/>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Model Evaluation:</a:t>
            </a:r>
          </a:p>
        </p:txBody>
      </p:sp>
      <p:sp>
        <p:nvSpPr>
          <p:cNvPr id="4" name="Rectangle: Rounded Corners 3">
            <a:extLst>
              <a:ext uri="{FF2B5EF4-FFF2-40B4-BE49-F238E27FC236}">
                <a16:creationId xmlns:a16="http://schemas.microsoft.com/office/drawing/2014/main" id="{9EE780C0-FF30-61E2-DBF0-67476CC56466}"/>
              </a:ext>
            </a:extLst>
          </p:cNvPr>
          <p:cNvSpPr/>
          <p:nvPr/>
        </p:nvSpPr>
        <p:spPr bwMode="auto">
          <a:xfrm>
            <a:off x="827584" y="1937792"/>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ts val="3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The sixth step in building a classification model </a:t>
            </a:r>
            <a:r>
              <a:rPr lang="en-US" sz="2000" dirty="0">
                <a:solidFill>
                  <a:srgbClr val="0C0D03"/>
                </a:solidFill>
                <a:latin typeface="Times New Roman" panose="02020603050405020304" pitchFamily="18" charset="0"/>
                <a:cs typeface="Times New Roman" panose="02020603050405020304" pitchFamily="18" charset="0"/>
              </a:rPr>
              <a:t>is model evaluation.</a:t>
            </a:r>
          </a:p>
          <a:p>
            <a:pPr marR="0" algn="just"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 Model evaluation involves assessing the performance of the trained model on a test set. This is done to ensure that the model generalizes well</a:t>
            </a:r>
          </a:p>
        </p:txBody>
      </p:sp>
      <p:pic>
        <p:nvPicPr>
          <p:cNvPr id="5" name="Picture 4">
            <a:extLst>
              <a:ext uri="{FF2B5EF4-FFF2-40B4-BE49-F238E27FC236}">
                <a16:creationId xmlns:a16="http://schemas.microsoft.com/office/drawing/2014/main" id="{1F0674CC-1B0A-0C27-6019-010C4FA0C73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557493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3BA38-C3C7-5497-2E9F-C00798E6F1E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F4B30CA-C8F5-7F34-092D-4D67101372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C6329CE-798D-DA5D-FBBB-0F79ECAC8BD8}"/>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3</a:t>
            </a:r>
          </a:p>
        </p:txBody>
      </p:sp>
      <p:sp>
        <p:nvSpPr>
          <p:cNvPr id="3" name="TextBox 2">
            <a:extLst>
              <a:ext uri="{FF2B5EF4-FFF2-40B4-BE49-F238E27FC236}">
                <a16:creationId xmlns:a16="http://schemas.microsoft.com/office/drawing/2014/main" id="{7E8A5DDD-1AD4-6428-6E40-A87256FE2A9D}"/>
              </a:ext>
            </a:extLst>
          </p:cNvPr>
          <p:cNvSpPr txBox="1"/>
          <p:nvPr/>
        </p:nvSpPr>
        <p:spPr>
          <a:xfrm>
            <a:off x="755576" y="2828835"/>
            <a:ext cx="7632848" cy="769441"/>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Real-Life Examples : </a:t>
            </a:r>
          </a:p>
        </p:txBody>
      </p:sp>
      <p:pic>
        <p:nvPicPr>
          <p:cNvPr id="4" name="Picture 3">
            <a:extLst>
              <a:ext uri="{FF2B5EF4-FFF2-40B4-BE49-F238E27FC236}">
                <a16:creationId xmlns:a16="http://schemas.microsoft.com/office/drawing/2014/main" id="{77B0DD71-A6EB-86C0-155A-626C801653E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83795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D13E-DBE8-BA32-926A-78D1647D2CA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FBD1A39-6A49-6DC4-F4D7-F92D800BD22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4BE5DE1-3F52-9441-F9B4-65AD3FFAED0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F62FD18-81CE-B68D-41F5-4DAD937BD4C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Market Basket Analysis: </a:t>
            </a:r>
          </a:p>
        </p:txBody>
      </p:sp>
      <p:sp>
        <p:nvSpPr>
          <p:cNvPr id="4" name="Rectangle: Rounded Corners 3">
            <a:extLst>
              <a:ext uri="{FF2B5EF4-FFF2-40B4-BE49-F238E27FC236}">
                <a16:creationId xmlns:a16="http://schemas.microsoft.com/office/drawing/2014/main" id="{724D4024-6510-19A1-68DC-179121393813}"/>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It is a modeling technique that has been associated with frequent transactions of buying some combination of items.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Example: </a:t>
            </a:r>
            <a:r>
              <a:rPr lang="en-US" sz="2000" dirty="0">
                <a:solidFill>
                  <a:srgbClr val="0C0D03"/>
                </a:solidFill>
                <a:latin typeface="Times New Roman" panose="02020603050405020304" pitchFamily="18" charset="0"/>
                <a:cs typeface="Times New Roman" panose="02020603050405020304" pitchFamily="18" charset="0"/>
              </a:rPr>
              <a:t>Amazon and many other Retailers use this technique. While viewing some products, certain suggestions for the commodities are shown that some people have bought in the past.</a:t>
            </a:r>
          </a:p>
        </p:txBody>
      </p:sp>
      <p:pic>
        <p:nvPicPr>
          <p:cNvPr id="5" name="Picture 4">
            <a:extLst>
              <a:ext uri="{FF2B5EF4-FFF2-40B4-BE49-F238E27FC236}">
                <a16:creationId xmlns:a16="http://schemas.microsoft.com/office/drawing/2014/main" id="{EE7798D0-F66D-FB65-E355-69F47BA169D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540294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E06C8-3930-B717-F43B-FAF8F96C6AA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CC3E4DE-D95E-43C3-1E6D-1B3E2CD8AE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6C84CBA-D0F7-C530-05AD-0B330888ABA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F5B74CD-6C6C-6CE5-8FDA-5F197042CDD2}"/>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Weather Forecasting: </a:t>
            </a:r>
          </a:p>
        </p:txBody>
      </p:sp>
      <p:sp>
        <p:nvSpPr>
          <p:cNvPr id="4" name="Rectangle: Rounded Corners 3">
            <a:extLst>
              <a:ext uri="{FF2B5EF4-FFF2-40B4-BE49-F238E27FC236}">
                <a16:creationId xmlns:a16="http://schemas.microsoft.com/office/drawing/2014/main" id="{F7C7D940-2545-C475-5CCA-76E31F289957}"/>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Changing Patterns in weather conditions needs to be observed based on parameters such as temperature, humidity, wind direction.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This keen observation also requires the use of previous records in order to predict it accurately.</a:t>
            </a:r>
          </a:p>
        </p:txBody>
      </p:sp>
      <p:pic>
        <p:nvPicPr>
          <p:cNvPr id="5" name="Picture 4">
            <a:extLst>
              <a:ext uri="{FF2B5EF4-FFF2-40B4-BE49-F238E27FC236}">
                <a16:creationId xmlns:a16="http://schemas.microsoft.com/office/drawing/2014/main" id="{5FB77DC4-81FA-1532-77E2-3B3BF32BA67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516331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9EFD-16FD-FB6F-7E5C-8CABFC4A10B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C2E3A6F-3870-B913-95B6-67837DF58C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C5D0565-B348-0408-2CD7-DAA73BBD286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0AE34DB-BEA8-EB42-DA7D-A658C8D05599}"/>
              </a:ext>
            </a:extLst>
          </p:cNvPr>
          <p:cNvSpPr txBox="1"/>
          <p:nvPr/>
        </p:nvSpPr>
        <p:spPr>
          <a:xfrm>
            <a:off x="1259632" y="1197622"/>
            <a:ext cx="7632848" cy="954107"/>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Predicting Heart Disease Using Machine Learning</a:t>
            </a:r>
          </a:p>
        </p:txBody>
      </p:sp>
      <p:sp>
        <p:nvSpPr>
          <p:cNvPr id="4" name="Rectangle: Rounded Corners 3">
            <a:extLst>
              <a:ext uri="{FF2B5EF4-FFF2-40B4-BE49-F238E27FC236}">
                <a16:creationId xmlns:a16="http://schemas.microsoft.com/office/drawing/2014/main" id="{179D71B1-0245-847D-52E8-8F731D158C78}"/>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err="1">
                <a:solidFill>
                  <a:srgbClr val="0C0D03"/>
                </a:solidFill>
                <a:latin typeface="Times New Roman" panose="02020603050405020304" pitchFamily="18" charset="0"/>
                <a:cs typeface="Times New Roman" panose="02020603050405020304" pitchFamily="18" charset="0"/>
              </a:rPr>
              <a:t>Goal</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build a classification model that predicts whether a patient has heart disease based on medical attributes.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Why classification : </a:t>
            </a:r>
            <a:r>
              <a:rPr lang="en-US" sz="2000" dirty="0">
                <a:solidFill>
                  <a:srgbClr val="0C0D03"/>
                </a:solidFill>
                <a:latin typeface="Times New Roman" panose="02020603050405020304" pitchFamily="18" charset="0"/>
                <a:cs typeface="Times New Roman" panose="02020603050405020304" pitchFamily="18" charset="0"/>
              </a:rPr>
              <a:t>The target variable (target) has two classes: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0 → No heart disease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1 → Heart disease</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This makes it a binary classification problem.</a:t>
            </a:r>
          </a:p>
        </p:txBody>
      </p:sp>
      <p:pic>
        <p:nvPicPr>
          <p:cNvPr id="5" name="Picture 4">
            <a:extLst>
              <a:ext uri="{FF2B5EF4-FFF2-40B4-BE49-F238E27FC236}">
                <a16:creationId xmlns:a16="http://schemas.microsoft.com/office/drawing/2014/main" id="{E41ED1C4-B6DA-4F93-FD26-3142EF2CF84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43234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80544-D4C2-CFF7-2F5A-011B1572301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3021509-80F6-C5A6-D5DE-5F2ADC4CA5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D5CB65B-F971-AB33-D944-5FFAFEB588A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D12BF00-36B4-364F-6700-F2EBD8652602}"/>
              </a:ext>
            </a:extLst>
          </p:cNvPr>
          <p:cNvSpPr txBox="1"/>
          <p:nvPr/>
        </p:nvSpPr>
        <p:spPr>
          <a:xfrm>
            <a:off x="1259632" y="1197622"/>
            <a:ext cx="7632848"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400" b="1" dirty="0">
                <a:solidFill>
                  <a:srgbClr val="0C0D03"/>
                </a:solidFill>
                <a:latin typeface="Times New Roman" panose="02020603050405020304" pitchFamily="18" charset="0"/>
                <a:cs typeface="Times New Roman" panose="02020603050405020304" pitchFamily="18" charset="0"/>
              </a:rPr>
              <a:t>Step :1</a:t>
            </a:r>
          </a:p>
        </p:txBody>
      </p:sp>
      <p:sp>
        <p:nvSpPr>
          <p:cNvPr id="4" name="Rectangle: Rounded Corners 3">
            <a:extLst>
              <a:ext uri="{FF2B5EF4-FFF2-40B4-BE49-F238E27FC236}">
                <a16:creationId xmlns:a16="http://schemas.microsoft.com/office/drawing/2014/main" id="{E6DC19FD-C658-C525-EE6E-EBA19FF12D7F}"/>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1: Kaggle Dataset Import Setup</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A91B1BC-4CF0-14B1-2EFC-FFBC846975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70" y="2780928"/>
            <a:ext cx="7914070" cy="2088232"/>
          </a:xfrm>
          <a:prstGeom prst="rect">
            <a:avLst/>
          </a:prstGeom>
        </p:spPr>
      </p:pic>
      <p:pic>
        <p:nvPicPr>
          <p:cNvPr id="5" name="Picture 4">
            <a:extLst>
              <a:ext uri="{FF2B5EF4-FFF2-40B4-BE49-F238E27FC236}">
                <a16:creationId xmlns:a16="http://schemas.microsoft.com/office/drawing/2014/main" id="{20B40DC4-9BDC-7F72-6C69-E3104F35FEB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67644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7C86A-0ADB-B1A6-C5B8-3F770E38F03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6E468CB-01F9-9295-E2C8-96F0CD0F9C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69A39AF-5B2D-E2F0-B378-0F8CD2AC2AF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14F80E3-48A7-6A30-3B2F-EB3B0E122DE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39F9E46-B694-9FB4-3C92-3188D68F7106}"/>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1: Kaggle Dataset Import Setup</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kagglehub</a:t>
            </a:r>
            <a:r>
              <a:rPr lang="en-US" sz="2000" dirty="0">
                <a:solidFill>
                  <a:srgbClr val="0C0D03"/>
                </a:solidFill>
                <a:latin typeface="Times New Roman" panose="02020603050405020304" pitchFamily="18" charset="0"/>
                <a:cs typeface="Times New Roman" panose="02020603050405020304" pitchFamily="18" charset="0"/>
              </a:rPr>
              <a:t> is a library that allows downloading datasets directly from Kaggle.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The dataset </a:t>
            </a:r>
            <a:r>
              <a:rPr lang="en-US" sz="2000" b="1" dirty="0">
                <a:solidFill>
                  <a:srgbClr val="0C0D03"/>
                </a:solidFill>
                <a:latin typeface="Times New Roman" panose="02020603050405020304" pitchFamily="18" charset="0"/>
                <a:cs typeface="Times New Roman" panose="02020603050405020304" pitchFamily="18" charset="0"/>
              </a:rPr>
              <a:t>heart-disease-data</a:t>
            </a:r>
            <a:r>
              <a:rPr lang="en-US" sz="2000" dirty="0">
                <a:solidFill>
                  <a:srgbClr val="0C0D03"/>
                </a:solidFill>
                <a:latin typeface="Times New Roman" panose="02020603050405020304" pitchFamily="18" charset="0"/>
                <a:cs typeface="Times New Roman" panose="02020603050405020304" pitchFamily="18" charset="0"/>
              </a:rPr>
              <a:t> is downloaded from </a:t>
            </a:r>
            <a:r>
              <a:rPr lang="en-US" sz="2000" dirty="0" err="1">
                <a:solidFill>
                  <a:srgbClr val="0C0D03"/>
                </a:solidFill>
                <a:latin typeface="Times New Roman" panose="02020603050405020304" pitchFamily="18" charset="0"/>
                <a:cs typeface="Times New Roman" panose="02020603050405020304" pitchFamily="18" charset="0"/>
              </a:rPr>
              <a:t>Kaggle.This</a:t>
            </a:r>
            <a:r>
              <a:rPr lang="en-US" sz="2000" dirty="0">
                <a:solidFill>
                  <a:srgbClr val="0C0D03"/>
                </a:solidFill>
                <a:latin typeface="Times New Roman" panose="02020603050405020304" pitchFamily="18" charset="0"/>
                <a:cs typeface="Times New Roman" panose="02020603050405020304" pitchFamily="18" charset="0"/>
              </a:rPr>
              <a:t> ensures the dataset source is Kaggle.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The printed message confirms successful download.</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Purpose:</a:t>
            </a:r>
            <a:r>
              <a:rPr lang="en-US" sz="2000" dirty="0">
                <a:solidFill>
                  <a:srgbClr val="0C0D03"/>
                </a:solidFill>
                <a:latin typeface="Times New Roman" panose="02020603050405020304" pitchFamily="18" charset="0"/>
                <a:cs typeface="Times New Roman" panose="02020603050405020304" pitchFamily="18" charset="0"/>
              </a:rPr>
              <a:t>To legally and reproducibly import the dataset from Kaggle.</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C3C1271-22F6-46E4-E682-2CEBBB11D07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50966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8C96-7942-06D8-F3A0-25814084C91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2BE28E5-CF49-C5FA-17B1-20A6A67072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D7CA359-03F8-49A5-057B-5CA2E5FC46F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8233CE4-9589-D4BD-4A4C-A218E0D9E5E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D6CBF25-01F0-0954-736B-8E06570F30FC}"/>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NumPy (np): </a:t>
            </a:r>
            <a:r>
              <a:rPr lang="en-US" sz="2000" dirty="0">
                <a:solidFill>
                  <a:srgbClr val="0C0D03"/>
                </a:solidFill>
                <a:latin typeface="Times New Roman" panose="02020603050405020304" pitchFamily="18" charset="0"/>
                <a:cs typeface="Times New Roman" panose="02020603050405020304" pitchFamily="18" charset="0"/>
              </a:rPr>
              <a:t>used for numerical computations.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Pandas (pd): </a:t>
            </a:r>
            <a:r>
              <a:rPr lang="en-US" sz="2000" dirty="0">
                <a:solidFill>
                  <a:srgbClr val="0C0D03"/>
                </a:solidFill>
                <a:latin typeface="Times New Roman" panose="02020603050405020304" pitchFamily="18" charset="0"/>
                <a:cs typeface="Times New Roman" panose="02020603050405020304" pitchFamily="18" charset="0"/>
              </a:rPr>
              <a:t>used for reading CSV files and handling tabular data.</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err="1">
                <a:solidFill>
                  <a:srgbClr val="0C0D03"/>
                </a:solidFill>
                <a:latin typeface="Times New Roman" panose="02020603050405020304" pitchFamily="18" charset="0"/>
                <a:cs typeface="Times New Roman" panose="02020603050405020304" pitchFamily="18" charset="0"/>
              </a:rPr>
              <a:t>Purpose:</a:t>
            </a:r>
            <a:r>
              <a:rPr lang="en-US" sz="2000" dirty="0" err="1">
                <a:solidFill>
                  <a:srgbClr val="0C0D03"/>
                </a:solidFill>
                <a:latin typeface="Times New Roman" panose="02020603050405020304" pitchFamily="18" charset="0"/>
                <a:cs typeface="Times New Roman" panose="02020603050405020304" pitchFamily="18" charset="0"/>
              </a:rPr>
              <a:t>These</a:t>
            </a:r>
            <a:r>
              <a:rPr lang="en-US" sz="2000" dirty="0">
                <a:solidFill>
                  <a:srgbClr val="0C0D03"/>
                </a:solidFill>
                <a:latin typeface="Times New Roman" panose="02020603050405020304" pitchFamily="18" charset="0"/>
                <a:cs typeface="Times New Roman" panose="02020603050405020304" pitchFamily="18" charset="0"/>
              </a:rPr>
              <a:t> libraries are fundamental for data preprocessing and analysis</a:t>
            </a:r>
          </a:p>
        </p:txBody>
      </p:sp>
      <p:pic>
        <p:nvPicPr>
          <p:cNvPr id="6" name="Picture 5">
            <a:extLst>
              <a:ext uri="{FF2B5EF4-FFF2-40B4-BE49-F238E27FC236}">
                <a16:creationId xmlns:a16="http://schemas.microsoft.com/office/drawing/2014/main" id="{3154E3D5-6D94-52EE-ADE6-81A12551FF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3138447"/>
            <a:ext cx="4465054" cy="1125488"/>
          </a:xfrm>
          <a:prstGeom prst="rect">
            <a:avLst/>
          </a:prstGeom>
        </p:spPr>
      </p:pic>
      <p:pic>
        <p:nvPicPr>
          <p:cNvPr id="5" name="Picture 4">
            <a:extLst>
              <a:ext uri="{FF2B5EF4-FFF2-40B4-BE49-F238E27FC236}">
                <a16:creationId xmlns:a16="http://schemas.microsoft.com/office/drawing/2014/main" id="{E60F9C64-8909-0EC1-E858-C563695361E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01074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A2F-8060-F78B-1FCB-6190917DF0E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DAA1364-CF61-95BD-2056-6156447F24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44A42FE-A933-65AB-886E-033E870A609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4EA802E-C8D9-4BF3-7445-F1FA2DF9B109}"/>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268C1DA-BFE7-8D06-1F54-0A27D35BD116}"/>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NumPy (np):</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NumPy is the fundamental package for scientific computing in Python. It is a Python library that provides a multidimensional array object, various derived objects (such as masked arrays and matrices), and an assortment of routines for fast operations on arrays, including mathematical, logical, shape manipulation, sorting, selecting, I/O, discrete Fourier transforms, basic linear algebra, basic statistical operations, random simulation and much more.</a:t>
            </a:r>
          </a:p>
        </p:txBody>
      </p:sp>
      <p:pic>
        <p:nvPicPr>
          <p:cNvPr id="5" name="Picture 4">
            <a:extLst>
              <a:ext uri="{FF2B5EF4-FFF2-40B4-BE49-F238E27FC236}">
                <a16:creationId xmlns:a16="http://schemas.microsoft.com/office/drawing/2014/main" id="{B844A07B-57B3-5E72-80E8-4597F005B03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63261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03C91-D19E-0F2A-5F3A-1DDFD8C6A6E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16ABFBC-96CF-543F-3437-8D6DB7CA2E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5F6445F-27C1-C3A9-F689-77454D27837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3827C0C-EFA1-EC15-ACA2-EA24F0795A8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ABBA18F-5E62-4147-1C50-4E82C668A35D}"/>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NumPy (np):</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There are several important differences between NumPy arrays and the standard Python sequences: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NumPy arrays have a fixed size at creation, unlike Python lists (which can grow dynamically).</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The elements in a NumPy array are all required to be of the same data type, and thus will be the same size in memory.</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D55D43-86F2-1023-9C1E-6697535973A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070378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0B14-54B7-319E-8E37-0FCD991B331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54D768A-C138-C0E9-0C02-0CDB6112D8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B5F2705-C5B2-F68D-FBFC-C6E65283652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C8EA2D5-5705-976F-94F7-F42723EEA8E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EB509D6-7B4D-7308-90ED-D995FFE35FB2}"/>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NumPy (np):</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NumPy arrays facilitate advanced mathematical and other types of operations on large numbers of data. Typically, such operations are executed more efficiently and with less code than is possible using Python’s built-in sequences.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 growing plethora of scientific and mathematical Python-based packages are using NumPy arrays; though these typically support Python-sequence input, they convert such input to NumPy arrays prior to processing, and they often output NumPy arrays.</a:t>
            </a:r>
          </a:p>
        </p:txBody>
      </p:sp>
      <p:pic>
        <p:nvPicPr>
          <p:cNvPr id="5" name="Picture 4">
            <a:extLst>
              <a:ext uri="{FF2B5EF4-FFF2-40B4-BE49-F238E27FC236}">
                <a16:creationId xmlns:a16="http://schemas.microsoft.com/office/drawing/2014/main" id="{35FF06CE-0265-138C-4039-D842BDE4C35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392104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A7840-7B1A-3CFC-BD63-5B23D33364D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56D667B-7BBA-2643-187F-F69E4C6B50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42C65A5-F3AD-76E1-F021-32AB0BA8110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48C1888-A089-C995-D878-22C67DA68350}"/>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9DD7512-9D25-D3C1-587E-42E4A6119A2A}"/>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Pandas Introduction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Pandas is an open-source Python library used for data manipulation, analysis and cleaning. It provides fast and flexible tools to work with tabular data, similar to spreadsheets or SQL tables.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Pandas is used in data science, machine learning, finance, analytics and automation because it integrates smoothly with other libraries such 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NumPy: </a:t>
            </a:r>
            <a:r>
              <a:rPr lang="en-US" sz="2000" dirty="0">
                <a:solidFill>
                  <a:srgbClr val="0C0D03"/>
                </a:solidFill>
                <a:latin typeface="Times New Roman" panose="02020603050405020304" pitchFamily="18" charset="0"/>
                <a:cs typeface="Times New Roman" panose="02020603050405020304" pitchFamily="18" charset="0"/>
              </a:rPr>
              <a:t>numerical operations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Matplotlib and Seaborn: </a:t>
            </a:r>
            <a:r>
              <a:rPr lang="en-US" sz="2000" dirty="0">
                <a:solidFill>
                  <a:srgbClr val="0C0D03"/>
                </a:solidFill>
                <a:latin typeface="Times New Roman" panose="02020603050405020304" pitchFamily="18" charset="0"/>
                <a:cs typeface="Times New Roman" panose="02020603050405020304" pitchFamily="18" charset="0"/>
              </a:rPr>
              <a:t>data visualization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SciPy: </a:t>
            </a:r>
            <a:r>
              <a:rPr lang="en-US" sz="2000" dirty="0">
                <a:solidFill>
                  <a:srgbClr val="0C0D03"/>
                </a:solidFill>
                <a:latin typeface="Times New Roman" panose="02020603050405020304" pitchFamily="18" charset="0"/>
                <a:cs typeface="Times New Roman" panose="02020603050405020304" pitchFamily="18" charset="0"/>
              </a:rPr>
              <a:t>statistical analysis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Scikit-learn: </a:t>
            </a:r>
            <a:r>
              <a:rPr lang="en-US" sz="2000" dirty="0">
                <a:solidFill>
                  <a:srgbClr val="0C0D03"/>
                </a:solidFill>
                <a:latin typeface="Times New Roman" panose="02020603050405020304" pitchFamily="18" charset="0"/>
                <a:cs typeface="Times New Roman" panose="02020603050405020304" pitchFamily="18" charset="0"/>
              </a:rPr>
              <a:t>machine learning workflows</a:t>
            </a:r>
          </a:p>
        </p:txBody>
      </p:sp>
      <p:pic>
        <p:nvPicPr>
          <p:cNvPr id="5" name="Picture 4">
            <a:extLst>
              <a:ext uri="{FF2B5EF4-FFF2-40B4-BE49-F238E27FC236}">
                <a16:creationId xmlns:a16="http://schemas.microsoft.com/office/drawing/2014/main" id="{346FDC74-F25E-2CE2-038E-07DFEAD746D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29662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02828-71AF-F468-BD99-306786C1889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289B0CF-8389-8CAE-610B-646ACA46FA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B123A84-99F1-E984-9287-0523F8B49D0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5620310-47C4-E550-5B8F-41FAF06C97E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4AB6031-FDE9-B3E2-C189-13C9A3AE3DB8}"/>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Pandas Introduction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Installation: </a:t>
            </a:r>
            <a:r>
              <a:rPr lang="en-US" sz="2000" dirty="0">
                <a:solidFill>
                  <a:srgbClr val="0C0D03"/>
                </a:solidFill>
                <a:latin typeface="Times New Roman" panose="02020603050405020304" pitchFamily="18" charset="0"/>
                <a:cs typeface="Times New Roman" panose="02020603050405020304" pitchFamily="18" charset="0"/>
              </a:rPr>
              <a:t>Before using Pandas, make sure it is installed</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After the Pandas have been installed in the system we need to import the library. This module is imported using:</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Note: pd is just an alias for Pandas. It’s not required but using it makes the code shorter when calling methods or properties.</a:t>
            </a:r>
          </a:p>
        </p:txBody>
      </p:sp>
      <p:pic>
        <p:nvPicPr>
          <p:cNvPr id="6" name="Picture 5">
            <a:extLst>
              <a:ext uri="{FF2B5EF4-FFF2-40B4-BE49-F238E27FC236}">
                <a16:creationId xmlns:a16="http://schemas.microsoft.com/office/drawing/2014/main" id="{72F7062E-84A5-27B0-7F92-C958BCB66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3429000"/>
            <a:ext cx="5256584" cy="573688"/>
          </a:xfrm>
          <a:prstGeom prst="rect">
            <a:avLst/>
          </a:prstGeom>
        </p:spPr>
      </p:pic>
      <p:pic>
        <p:nvPicPr>
          <p:cNvPr id="8" name="Picture 7">
            <a:extLst>
              <a:ext uri="{FF2B5EF4-FFF2-40B4-BE49-F238E27FC236}">
                <a16:creationId xmlns:a16="http://schemas.microsoft.com/office/drawing/2014/main" id="{1343D22A-1CC1-9E45-2703-60E2153C7B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336" y="4956347"/>
            <a:ext cx="5247808" cy="573688"/>
          </a:xfrm>
          <a:prstGeom prst="rect">
            <a:avLst/>
          </a:prstGeom>
        </p:spPr>
      </p:pic>
      <p:pic>
        <p:nvPicPr>
          <p:cNvPr id="5" name="Picture 4">
            <a:extLst>
              <a:ext uri="{FF2B5EF4-FFF2-40B4-BE49-F238E27FC236}">
                <a16:creationId xmlns:a16="http://schemas.microsoft.com/office/drawing/2014/main" id="{AAD58CA3-041B-0235-9FD2-DCA74BA65B13}"/>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267541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CB16-4D53-8F03-9666-9890F689580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0AFB5C4-551D-8F08-DB4D-B4CEA81C12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EA40138-49B0-FA4D-ED08-BE3BB96CFD9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B0F5BE2-A7AC-5E37-8855-FD11928A1704}"/>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9D9090B-2A8B-EB49-5A25-CE50EB432CE2}"/>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Pandas provides two data structures for manipulating data which are as follows: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1. Pandas Series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 Pandas Series is one-dimensional labeled array capable of holding data of any type (integer, string, float, Python objects etc.). The axis labels are collectively called indexes. Series is created by loading the datasets from existing storage which can be a SQL database, a CSV file or an Excel file.</a:t>
            </a:r>
          </a:p>
        </p:txBody>
      </p:sp>
      <p:pic>
        <p:nvPicPr>
          <p:cNvPr id="5" name="Picture 4">
            <a:extLst>
              <a:ext uri="{FF2B5EF4-FFF2-40B4-BE49-F238E27FC236}">
                <a16:creationId xmlns:a16="http://schemas.microsoft.com/office/drawing/2014/main" id="{CB97B704-F3DC-4E14-A129-A3C8582DFA1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43222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D5306-4C59-388E-69DA-5F7A227B6CD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AF34C09-90D6-1E1F-17D4-6517E11F1D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C5D9CDD-40CE-E320-E3C9-0EC37F581FD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DAB1946-AE57-AC8D-0D3E-7AD3AFF46EF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9988B90-F1A2-715F-CDB2-699E4AA677F6}"/>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p:txBody>
      </p:sp>
      <p:pic>
        <p:nvPicPr>
          <p:cNvPr id="6" name="Picture 5">
            <a:extLst>
              <a:ext uri="{FF2B5EF4-FFF2-40B4-BE49-F238E27FC236}">
                <a16:creationId xmlns:a16="http://schemas.microsoft.com/office/drawing/2014/main" id="{A892F94F-C380-2CD5-121B-06E6DBF31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973470"/>
            <a:ext cx="5853374" cy="3479951"/>
          </a:xfrm>
          <a:prstGeom prst="rect">
            <a:avLst/>
          </a:prstGeom>
        </p:spPr>
      </p:pic>
      <p:pic>
        <p:nvPicPr>
          <p:cNvPr id="5" name="Picture 4">
            <a:extLst>
              <a:ext uri="{FF2B5EF4-FFF2-40B4-BE49-F238E27FC236}">
                <a16:creationId xmlns:a16="http://schemas.microsoft.com/office/drawing/2014/main" id="{A2F4AE64-CA59-7592-F0DF-8B6555BD57BA}"/>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91523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0C0C-A61A-9FCE-01D9-C2A01F413FB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FAAE1C3-2D70-FFCB-6043-3294026CEF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FF800D5-1D26-AB5B-F2B0-4731AAE7F93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3192AC2-1C09-C97F-DEC9-3B84A5E78D3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EE7A4AB-8ABC-1B7E-4522-10CF5EB8F1CD}"/>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2. Pandas </a:t>
            </a:r>
            <a:r>
              <a:rPr lang="en-US" sz="2000" b="1" dirty="0" err="1">
                <a:solidFill>
                  <a:srgbClr val="0C0D03"/>
                </a:solidFill>
                <a:latin typeface="Times New Roman" panose="02020603050405020304" pitchFamily="18" charset="0"/>
                <a:cs typeface="Times New Roman" panose="02020603050405020304" pitchFamily="18" charset="0"/>
              </a:rPr>
              <a:t>DataFrame</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Pandas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is a two-dimensional data structure with labeled axes (rows and columns). It is created by loading the datasets from existing storage which can be a SQL database, a CSV file or an Excel file. It can be created from lists, dictionaries, a list of dictionaries etc.</a:t>
            </a:r>
          </a:p>
        </p:txBody>
      </p:sp>
      <p:pic>
        <p:nvPicPr>
          <p:cNvPr id="5" name="Picture 4">
            <a:extLst>
              <a:ext uri="{FF2B5EF4-FFF2-40B4-BE49-F238E27FC236}">
                <a16:creationId xmlns:a16="http://schemas.microsoft.com/office/drawing/2014/main" id="{C43D1A66-F2A3-F05C-9F9C-E506AC582DB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83043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34BD5-6545-9F20-F897-A2A42328C43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6B95258-37D3-BAFB-CEF7-C79B636B61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14E9EAB-15A5-ABDF-0B81-0B38B0066D4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8EDCF18-4EA5-6809-2D9D-796EDBCE48D3}"/>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D8CD2C9-0AF2-6C0C-D276-D2C3817DE3F5}"/>
              </a:ext>
            </a:extLst>
          </p:cNvPr>
          <p:cNvSpPr/>
          <p:nvPr/>
        </p:nvSpPr>
        <p:spPr bwMode="auto">
          <a:xfrm>
            <a:off x="419510" y="206760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2. Pandas </a:t>
            </a:r>
            <a:r>
              <a:rPr lang="en-US" sz="2000" b="1" dirty="0" err="1">
                <a:solidFill>
                  <a:srgbClr val="0C0D03"/>
                </a:solidFill>
                <a:latin typeface="Times New Roman" panose="02020603050405020304" pitchFamily="18" charset="0"/>
                <a:cs typeface="Times New Roman" panose="02020603050405020304" pitchFamily="18" charset="0"/>
              </a:rPr>
              <a:t>DataFrame</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203566E-6696-F8F4-13DF-FCABC0A40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840" y="2933250"/>
            <a:ext cx="5339231" cy="3499603"/>
          </a:xfrm>
          <a:prstGeom prst="rect">
            <a:avLst/>
          </a:prstGeom>
        </p:spPr>
      </p:pic>
      <p:pic>
        <p:nvPicPr>
          <p:cNvPr id="5" name="Picture 4">
            <a:extLst>
              <a:ext uri="{FF2B5EF4-FFF2-40B4-BE49-F238E27FC236}">
                <a16:creationId xmlns:a16="http://schemas.microsoft.com/office/drawing/2014/main" id="{A3F5918F-435F-B218-F102-75FBCC6C6647}"/>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12492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00C00-CC06-8B1D-706B-6CD915CBC6D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A04495E-BCA9-390E-5187-537B338E09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958AECA-B14D-7F33-BA2A-9A9AA80BC0D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679E630-DB24-68C4-B664-490D410FCC3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632BC4C-73B6-BDF6-C249-8D6571CCC716}"/>
              </a:ext>
            </a:extLst>
          </p:cNvPr>
          <p:cNvSpPr/>
          <p:nvPr/>
        </p:nvSpPr>
        <p:spPr bwMode="auto">
          <a:xfrm>
            <a:off x="410378" y="1976019"/>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Operations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Pandas provides essential operations for working with structured data efficiently. The sections below introduce the most commonly used functionalities with short explanations and simple examples.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1. Loading Data: </a:t>
            </a:r>
            <a:r>
              <a:rPr lang="en-US" sz="2000" dirty="0">
                <a:solidFill>
                  <a:srgbClr val="0C0D03"/>
                </a:solidFill>
                <a:latin typeface="Times New Roman" panose="02020603050405020304" pitchFamily="18" charset="0"/>
                <a:cs typeface="Times New Roman" panose="02020603050405020304" pitchFamily="18" charset="0"/>
              </a:rPr>
              <a:t>This operation reads data from files such as CSV, Excel or JSON into a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070B5F8F-E2A1-5B95-8308-1856230A9F3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70780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783A-C181-4FB4-1D6F-6180326D1E0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2192B61-96C4-6174-DDC7-FC920BB379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50BBE44-543F-1130-2E5A-46CA6F1348E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B159452-6F6A-AA73-5699-5152A003BCD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598C812-E0C1-84E8-D1DC-08C18FD529BC}"/>
              </a:ext>
            </a:extLst>
          </p:cNvPr>
          <p:cNvSpPr/>
          <p:nvPr/>
        </p:nvSpPr>
        <p:spPr bwMode="auto">
          <a:xfrm>
            <a:off x="410378" y="1976019"/>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Operations in Pandas: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 </a:t>
            </a:r>
            <a:r>
              <a:rPr lang="en-US" sz="2000" dirty="0" err="1">
                <a:solidFill>
                  <a:srgbClr val="0C0D03"/>
                </a:solidFill>
                <a:latin typeface="Times New Roman" panose="02020603050405020304" pitchFamily="18" charset="0"/>
                <a:cs typeface="Times New Roman" panose="02020603050405020304" pitchFamily="18" charset="0"/>
              </a:rPr>
              <a:t>pd.read_csv</a:t>
            </a:r>
            <a:r>
              <a:rPr lang="en-US" sz="2000" dirty="0">
                <a:solidFill>
                  <a:srgbClr val="0C0D03"/>
                </a:solidFill>
                <a:latin typeface="Times New Roman" panose="02020603050405020304" pitchFamily="18" charset="0"/>
                <a:cs typeface="Times New Roman" panose="02020603050405020304" pitchFamily="18" charset="0"/>
              </a:rPr>
              <a:t>("data.csv") reads the CSV file and loads it into a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and </a:t>
            </a:r>
            <a:r>
              <a:rPr lang="en-US" sz="2000" dirty="0" err="1">
                <a:solidFill>
                  <a:srgbClr val="0C0D03"/>
                </a:solidFill>
                <a:latin typeface="Times New Roman" panose="02020603050405020304" pitchFamily="18" charset="0"/>
                <a:cs typeface="Times New Roman" panose="02020603050405020304" pitchFamily="18" charset="0"/>
              </a:rPr>
              <a:t>df.head</a:t>
            </a:r>
            <a:r>
              <a:rPr lang="en-US" sz="2000" dirty="0">
                <a:solidFill>
                  <a:srgbClr val="0C0D03"/>
                </a:solidFill>
                <a:latin typeface="Times New Roman" panose="02020603050405020304" pitchFamily="18" charset="0"/>
                <a:cs typeface="Times New Roman" panose="02020603050405020304" pitchFamily="18" charset="0"/>
              </a:rPr>
              <a:t>() shows the first 5 rows of the data.</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866E027-49C0-FA9B-13B6-823BFE0AC4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136" y="3299458"/>
            <a:ext cx="4773840" cy="2049673"/>
          </a:xfrm>
          <a:prstGeom prst="rect">
            <a:avLst/>
          </a:prstGeom>
        </p:spPr>
      </p:pic>
      <p:pic>
        <p:nvPicPr>
          <p:cNvPr id="5" name="Picture 4">
            <a:extLst>
              <a:ext uri="{FF2B5EF4-FFF2-40B4-BE49-F238E27FC236}">
                <a16:creationId xmlns:a16="http://schemas.microsoft.com/office/drawing/2014/main" id="{4383515B-59BB-1A94-E153-1CBC5F7B413A}"/>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519684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295A3-25E6-F3D6-601D-05FF29D4089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A035A1A-E4D8-8D1A-3DC1-97479A0FD5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DCD68D4-A494-E72E-195C-A6B0DEA5DC6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8A3FCC0-2AE0-1961-3B41-15D014DC98D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AC8A3AC-BFF3-AF9F-C67A-4FE6DB8E3217}"/>
              </a:ext>
            </a:extLst>
          </p:cNvPr>
          <p:cNvSpPr/>
          <p:nvPr/>
        </p:nvSpPr>
        <p:spPr bwMode="auto">
          <a:xfrm>
            <a:off x="410378" y="1976019"/>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Structures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Operations in Pandas: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2. Viewing and Exploring Data: </a:t>
            </a:r>
            <a:r>
              <a:rPr lang="en-US" sz="2000" dirty="0">
                <a:solidFill>
                  <a:srgbClr val="0C0D03"/>
                </a:solidFill>
                <a:latin typeface="Times New Roman" panose="02020603050405020304" pitchFamily="18" charset="0"/>
                <a:cs typeface="Times New Roman" panose="02020603050405020304" pitchFamily="18" charset="0"/>
              </a:rPr>
              <a:t>After loading data, it is important to understand its structure and content. This methods allow you to inspect rows, summary statistics and metadata.</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F8DB21-CC7B-73F6-53A8-72FA9DF8BA8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961659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F7C6-3BF7-88FA-5CDC-E36EA8EC318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CA85626-AE9B-CC67-592D-7F0CF41116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CEDD6BF-E4D0-20C2-B0E7-9893671F081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1BC5B0E0-D38F-DDAB-EABA-612936148F9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6B689E3-8422-2922-3FE3-5EE53757D449}"/>
              </a:ext>
            </a:extLst>
          </p:cNvPr>
          <p:cNvSpPr/>
          <p:nvPr/>
        </p:nvSpPr>
        <p:spPr bwMode="auto">
          <a:xfrm>
            <a:off x="410378" y="1976019"/>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2. Viewing and</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Exploring Data:</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2704CA9-0637-82A5-455A-40EFE0C3A5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2512285"/>
            <a:ext cx="5184576" cy="3640235"/>
          </a:xfrm>
          <a:prstGeom prst="rect">
            <a:avLst/>
          </a:prstGeom>
        </p:spPr>
      </p:pic>
      <p:pic>
        <p:nvPicPr>
          <p:cNvPr id="5" name="Picture 4">
            <a:extLst>
              <a:ext uri="{FF2B5EF4-FFF2-40B4-BE49-F238E27FC236}">
                <a16:creationId xmlns:a16="http://schemas.microsoft.com/office/drawing/2014/main" id="{185CD8DC-5274-CACD-461C-412F2F584ED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307993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B977E-A30A-1AB2-8509-0EAC053C246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DAA54D5-7EEA-4E66-9153-FBA4D4EC25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76B5F62-B0C2-1B46-4E00-4E6817C5938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AAC3C5F-5A34-5F31-80D4-EE325B46D9B9}"/>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A20EB38-0FB6-608E-BFA7-8B58E0416F66}"/>
              </a:ext>
            </a:extLst>
          </p:cNvPr>
          <p:cNvSpPr/>
          <p:nvPr/>
        </p:nvSpPr>
        <p:spPr bwMode="auto">
          <a:xfrm>
            <a:off x="411162" y="194632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3. Handling Missing Data: </a:t>
            </a:r>
            <a:r>
              <a:rPr lang="en-US" sz="2000" dirty="0">
                <a:solidFill>
                  <a:srgbClr val="0C0D03"/>
                </a:solidFill>
                <a:latin typeface="Times New Roman" panose="02020603050405020304" pitchFamily="18" charset="0"/>
                <a:cs typeface="Times New Roman" panose="02020603050405020304" pitchFamily="18" charset="0"/>
              </a:rPr>
              <a:t>Datasets often contain empty or missing values. Pandas provides functions to detect, remove or replace these values.</a:t>
            </a:r>
          </a:p>
          <a:p>
            <a:pPr algn="just" rtl="0" fontAlgn="base">
              <a:lnSpc>
                <a:spcPts val="3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r>
              <a:rPr lang="en-US" sz="2000" dirty="0" err="1">
                <a:solidFill>
                  <a:srgbClr val="0C0D03"/>
                </a:solidFill>
                <a:latin typeface="Times New Roman" panose="02020603050405020304" pitchFamily="18" charset="0"/>
                <a:cs typeface="Times New Roman" panose="02020603050405020304" pitchFamily="18" charset="0"/>
              </a:rPr>
              <a:t>df.fillna</a:t>
            </a:r>
            <a:r>
              <a:rPr lang="en-US" sz="2000" dirty="0">
                <a:solidFill>
                  <a:srgbClr val="0C0D03"/>
                </a:solidFill>
                <a:latin typeface="Times New Roman" panose="02020603050405020304" pitchFamily="18" charset="0"/>
                <a:cs typeface="Times New Roman" panose="02020603050405020304" pitchFamily="18" charset="0"/>
              </a:rPr>
              <a:t>(0)replaces missing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values with 0</a:t>
            </a:r>
          </a:p>
        </p:txBody>
      </p:sp>
      <p:pic>
        <p:nvPicPr>
          <p:cNvPr id="7" name="Picture 6">
            <a:extLst>
              <a:ext uri="{FF2B5EF4-FFF2-40B4-BE49-F238E27FC236}">
                <a16:creationId xmlns:a16="http://schemas.microsoft.com/office/drawing/2014/main" id="{0C03B0FE-CC67-35A1-B5BE-1FB4D63F5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8096" y="3185989"/>
            <a:ext cx="5168882" cy="3125584"/>
          </a:xfrm>
          <a:prstGeom prst="rect">
            <a:avLst/>
          </a:prstGeom>
        </p:spPr>
      </p:pic>
      <p:pic>
        <p:nvPicPr>
          <p:cNvPr id="5" name="Picture 4">
            <a:extLst>
              <a:ext uri="{FF2B5EF4-FFF2-40B4-BE49-F238E27FC236}">
                <a16:creationId xmlns:a16="http://schemas.microsoft.com/office/drawing/2014/main" id="{870EF28F-04C4-5D57-86C1-2EC1AC0F0D8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547812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B5FF-A247-1963-51D7-93AD42ABF5D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9C70754-17F2-67CA-1D4A-CDA256E3BA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1F2B166-3925-56A9-E01A-D5E663DB5D2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91D5A2D-ED1B-556A-095A-C374F7125E24}"/>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EC607A8-1871-66F3-EEA2-4C877A0E988F}"/>
              </a:ext>
            </a:extLst>
          </p:cNvPr>
          <p:cNvSpPr/>
          <p:nvPr/>
        </p:nvSpPr>
        <p:spPr bwMode="auto">
          <a:xfrm>
            <a:off x="411162" y="194632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4. Selecting and Filtering Data: </a:t>
            </a:r>
            <a:r>
              <a:rPr lang="en-US" sz="2000" dirty="0">
                <a:solidFill>
                  <a:srgbClr val="0C0D03"/>
                </a:solidFill>
                <a:latin typeface="Times New Roman" panose="02020603050405020304" pitchFamily="18" charset="0"/>
                <a:cs typeface="Times New Roman" panose="02020603050405020304" pitchFamily="18" charset="0"/>
              </a:rPr>
              <a:t>This operation retrieves specific columns, rows or records that match a condition. It allows precise extraction of required information.</a:t>
            </a:r>
          </a:p>
        </p:txBody>
      </p:sp>
      <p:pic>
        <p:nvPicPr>
          <p:cNvPr id="6" name="Picture 5">
            <a:extLst>
              <a:ext uri="{FF2B5EF4-FFF2-40B4-BE49-F238E27FC236}">
                <a16:creationId xmlns:a16="http://schemas.microsoft.com/office/drawing/2014/main" id="{52E44BF9-A071-7CA0-F300-6CC714AD0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6006" y="3640015"/>
            <a:ext cx="6868484" cy="2657846"/>
          </a:xfrm>
          <a:prstGeom prst="rect">
            <a:avLst/>
          </a:prstGeom>
        </p:spPr>
      </p:pic>
      <p:pic>
        <p:nvPicPr>
          <p:cNvPr id="5" name="Picture 4">
            <a:extLst>
              <a:ext uri="{FF2B5EF4-FFF2-40B4-BE49-F238E27FC236}">
                <a16:creationId xmlns:a16="http://schemas.microsoft.com/office/drawing/2014/main" id="{DE04AE84-8C4D-A31E-E0A1-CE0051A4312B}"/>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672796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F91F-5B1D-0264-C120-E824CC300ED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2F8C98B-620B-2637-F516-BEBC5E10D6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36D8072-7F54-159F-3801-60EA405B580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5EC04E1-5ADD-1EA3-28F0-855D29DE822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27A5BB2-AA17-109C-701E-D5EE1BB691F2}"/>
              </a:ext>
            </a:extLst>
          </p:cNvPr>
          <p:cNvSpPr/>
          <p:nvPr/>
        </p:nvSpPr>
        <p:spPr bwMode="auto">
          <a:xfrm>
            <a:off x="411162" y="194632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5. Adding and Removing Columns: </a:t>
            </a:r>
            <a:r>
              <a:rPr lang="en-US" sz="2000" dirty="0">
                <a:solidFill>
                  <a:srgbClr val="0C0D03"/>
                </a:solidFill>
                <a:latin typeface="Times New Roman" panose="02020603050405020304" pitchFamily="18" charset="0"/>
                <a:cs typeface="Times New Roman" panose="02020603050405020304" pitchFamily="18" charset="0"/>
              </a:rPr>
              <a:t>You can create new columns based on existing ones or delete unwanted columns from the </a:t>
            </a:r>
            <a:r>
              <a:rPr lang="en-US" sz="2000" dirty="0" err="1">
                <a:solidFill>
                  <a:srgbClr val="0C0D03"/>
                </a:solidFill>
                <a:latin typeface="Times New Roman" panose="02020603050405020304" pitchFamily="18" charset="0"/>
                <a:cs typeface="Times New Roman" panose="02020603050405020304" pitchFamily="18" charset="0"/>
              </a:rPr>
              <a:t>DataFrame</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ts val="3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5070497-765A-A77A-D246-4A036DB1E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716" y="3255658"/>
            <a:ext cx="6954220" cy="3124636"/>
          </a:xfrm>
          <a:prstGeom prst="rect">
            <a:avLst/>
          </a:prstGeom>
        </p:spPr>
      </p:pic>
      <p:pic>
        <p:nvPicPr>
          <p:cNvPr id="5" name="Picture 4">
            <a:extLst>
              <a:ext uri="{FF2B5EF4-FFF2-40B4-BE49-F238E27FC236}">
                <a16:creationId xmlns:a16="http://schemas.microsoft.com/office/drawing/2014/main" id="{DAD22EE0-5112-FE15-D99D-5A22B79E783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185399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D7A3-8136-1DB3-3E71-A7062BC2B6E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1322016-A247-E971-D893-4D97376781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D029BBB-4567-8777-2CE4-9F623188BE1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C6AA31E-3619-5230-0280-FD70E4B597B0}"/>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7B56FF2-0060-DE56-25C7-EF8C39A9A0EE}"/>
              </a:ext>
            </a:extLst>
          </p:cNvPr>
          <p:cNvSpPr/>
          <p:nvPr/>
        </p:nvSpPr>
        <p:spPr bwMode="auto">
          <a:xfrm>
            <a:off x="411162" y="1946323"/>
            <a:ext cx="8313328" cy="436525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2: Import Required Libraries</a:t>
            </a:r>
          </a:p>
          <a:p>
            <a:pPr algn="just" rtl="0" fontAlgn="base">
              <a:lnSpc>
                <a:spcPts val="3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6. Grouping Data (</a:t>
            </a:r>
            <a:r>
              <a:rPr lang="en-US" sz="2000" b="1" dirty="0" err="1">
                <a:solidFill>
                  <a:srgbClr val="0C0D03"/>
                </a:solidFill>
                <a:latin typeface="Times New Roman" panose="02020603050405020304" pitchFamily="18" charset="0"/>
                <a:cs typeface="Times New Roman" panose="02020603050405020304" pitchFamily="18" charset="0"/>
              </a:rPr>
              <a:t>GroupBy</a:t>
            </a:r>
            <a:r>
              <a:rPr lang="en-US" sz="2000" b="1" dirty="0">
                <a:solidFill>
                  <a:srgbClr val="0C0D03"/>
                </a:solidFill>
                <a:latin typeface="Times New Roman" panose="02020603050405020304" pitchFamily="18" charset="0"/>
                <a:cs typeface="Times New Roman" panose="02020603050405020304" pitchFamily="18" charset="0"/>
              </a:rPr>
              <a:t>): </a:t>
            </a:r>
            <a:r>
              <a:rPr lang="en-US" sz="2000" dirty="0">
                <a:solidFill>
                  <a:srgbClr val="0C0D03"/>
                </a:solidFill>
                <a:latin typeface="Times New Roman" panose="02020603050405020304" pitchFamily="18" charset="0"/>
                <a:cs typeface="Times New Roman" panose="02020603050405020304" pitchFamily="18" charset="0"/>
              </a:rPr>
              <a:t>Grouping allows you to organize data into categories and compute values for each group for example, sums, counts or averages.</a:t>
            </a:r>
          </a:p>
          <a:p>
            <a:pPr algn="just" rtl="0" fontAlgn="base">
              <a:lnSpc>
                <a:spcPts val="3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9B005EC-A198-8FAD-2D9A-0C1BE3501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3269762"/>
            <a:ext cx="6338967" cy="2929701"/>
          </a:xfrm>
          <a:prstGeom prst="rect">
            <a:avLst/>
          </a:prstGeom>
        </p:spPr>
      </p:pic>
      <p:pic>
        <p:nvPicPr>
          <p:cNvPr id="5" name="Picture 4">
            <a:extLst>
              <a:ext uri="{FF2B5EF4-FFF2-40B4-BE49-F238E27FC236}">
                <a16:creationId xmlns:a16="http://schemas.microsoft.com/office/drawing/2014/main" id="{7AF58E95-7EEC-EC54-625D-8B6E93937F8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13144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F747-276C-B301-7490-D723FEE2639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13D6E2C-16E3-6006-5E71-4FAC3A3D21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EA1E5D5-39CB-FB91-7796-E12EFA5E688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C488BA3C-0CB9-2D38-A071-8A1764D82284}"/>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A2EB78B-1CAC-9A08-D2B9-9E6F62915EF1}"/>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3: Check Kaggle Input Directory</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This code lists all files available in Kaggle’s /</a:t>
            </a:r>
            <a:r>
              <a:rPr lang="en-US" sz="2000" dirty="0" err="1">
                <a:solidFill>
                  <a:srgbClr val="0C0D03"/>
                </a:solidFill>
                <a:latin typeface="Times New Roman" panose="02020603050405020304" pitchFamily="18" charset="0"/>
                <a:cs typeface="Times New Roman" panose="02020603050405020304" pitchFamily="18" charset="0"/>
              </a:rPr>
              <a:t>kaggle</a:t>
            </a:r>
            <a:r>
              <a:rPr lang="en-US" sz="2000" dirty="0">
                <a:solidFill>
                  <a:srgbClr val="0C0D03"/>
                </a:solidFill>
                <a:latin typeface="Times New Roman" panose="02020603050405020304" pitchFamily="18" charset="0"/>
                <a:cs typeface="Times New Roman" panose="02020603050405020304" pitchFamily="18" charset="0"/>
              </a:rPr>
              <a:t>/input </a:t>
            </a:r>
            <a:r>
              <a:rPr lang="en-US" sz="2000" dirty="0" err="1">
                <a:solidFill>
                  <a:srgbClr val="0C0D03"/>
                </a:solidFill>
                <a:latin typeface="Times New Roman" panose="02020603050405020304" pitchFamily="18" charset="0"/>
                <a:cs typeface="Times New Roman" panose="02020603050405020304" pitchFamily="18" charset="0"/>
              </a:rPr>
              <a:t>directory.It</a:t>
            </a:r>
            <a:r>
              <a:rPr lang="en-US" sz="2000" dirty="0">
                <a:solidFill>
                  <a:srgbClr val="0C0D03"/>
                </a:solidFill>
                <a:latin typeface="Times New Roman" panose="02020603050405020304" pitchFamily="18" charset="0"/>
                <a:cs typeface="Times New Roman" panose="02020603050405020304" pitchFamily="18" charset="0"/>
              </a:rPr>
              <a:t> helps confirm the dataset file path and name.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err="1">
                <a:solidFill>
                  <a:srgbClr val="0C0D03"/>
                </a:solidFill>
                <a:latin typeface="Times New Roman" panose="02020603050405020304" pitchFamily="18" charset="0"/>
                <a:cs typeface="Times New Roman" panose="02020603050405020304" pitchFamily="18" charset="0"/>
              </a:rPr>
              <a:t>Purpose:</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verify that the dataset exists and identify its exact location.</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DB3AB56-63FD-EFF9-33CD-16C085A52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457" y="2885999"/>
            <a:ext cx="6165783" cy="1512496"/>
          </a:xfrm>
          <a:prstGeom prst="rect">
            <a:avLst/>
          </a:prstGeom>
        </p:spPr>
      </p:pic>
      <p:pic>
        <p:nvPicPr>
          <p:cNvPr id="5" name="Picture 4">
            <a:extLst>
              <a:ext uri="{FF2B5EF4-FFF2-40B4-BE49-F238E27FC236}">
                <a16:creationId xmlns:a16="http://schemas.microsoft.com/office/drawing/2014/main" id="{7FA989A0-4EC5-DBC3-51D3-9FCDABEBFC50}"/>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55130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E9702-D49B-DC2F-0C26-0B4361E2D33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617D08E-1AFD-5DE6-4231-C38554BAD2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6CBA0D9-8090-5756-2884-A5D4F961C1C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BE2521B-DC91-7EBB-9DE6-973FDDB75D0F}"/>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FB44998-D66E-891A-A184-EEEFD458B84D}"/>
              </a:ext>
            </a:extLst>
          </p:cNvPr>
          <p:cNvSpPr/>
          <p:nvPr/>
        </p:nvSpPr>
        <p:spPr bwMode="auto">
          <a:xfrm>
            <a:off x="415336" y="2195310"/>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3: Check Kaggle Input Directory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What is </a:t>
            </a:r>
            <a:r>
              <a:rPr lang="en-US" sz="2000" b="1" dirty="0" err="1">
                <a:solidFill>
                  <a:srgbClr val="0C0D03"/>
                </a:solidFill>
                <a:latin typeface="Times New Roman" panose="02020603050405020304" pitchFamily="18" charset="0"/>
                <a:cs typeface="Times New Roman" panose="02020603050405020304" pitchFamily="18" charset="0"/>
              </a:rPr>
              <a:t>os</a:t>
            </a:r>
            <a:r>
              <a:rPr lang="en-US" sz="2000" b="1" dirty="0">
                <a:solidFill>
                  <a:srgbClr val="0C0D03"/>
                </a:solidFill>
                <a:latin typeface="Times New Roman" panose="02020603050405020304" pitchFamily="18" charset="0"/>
                <a:cs typeface="Times New Roman" panose="02020603050405020304" pitchFamily="18" charset="0"/>
              </a:rPr>
              <a:t> : </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The Python </a:t>
            </a:r>
            <a:r>
              <a:rPr lang="en-US" sz="2000" dirty="0" err="1">
                <a:solidFill>
                  <a:srgbClr val="0C0D03"/>
                </a:solidFill>
                <a:latin typeface="Times New Roman" panose="02020603050405020304" pitchFamily="18" charset="0"/>
                <a:cs typeface="Times New Roman" panose="02020603050405020304" pitchFamily="18" charset="0"/>
              </a:rPr>
              <a:t>os</a:t>
            </a:r>
            <a:r>
              <a:rPr lang="en-US" sz="2000" dirty="0">
                <a:solidFill>
                  <a:srgbClr val="0C0D03"/>
                </a:solidFill>
                <a:latin typeface="Times New Roman" panose="02020603050405020304" pitchFamily="18" charset="0"/>
                <a:cs typeface="Times New Roman" panose="02020603050405020304" pitchFamily="18" charset="0"/>
              </a:rPr>
              <a:t> module provides tools for using operating system-dependent functionality, like reading or writing to the file system. It allows you to interface with the underlying operating system in a portable way.</a:t>
            </a: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Key Features: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Interacts with the operating system</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Manipulates file paths and directories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Provides access to environment variables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Facilitates process management</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426B277-988D-EBDB-612A-6FAA98B0ADA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950695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C0125-6B58-92E6-3948-718E3EA4E52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EDFF4F4-DDC5-F978-BB97-6245EBC81B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AE3BBFE-C212-82F5-3A9A-B648147F128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A39F975-728F-8111-F934-CF653E1D929F}"/>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9DC05B8-D47F-09C3-DBED-18DBD260A657}"/>
              </a:ext>
            </a:extLst>
          </p:cNvPr>
          <p:cNvSpPr/>
          <p:nvPr/>
        </p:nvSpPr>
        <p:spPr bwMode="auto">
          <a:xfrm>
            <a:off x="415336" y="2195310"/>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3: Check Kaggle Input Directory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Object   	Type 	              Description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os.path</a:t>
            </a:r>
            <a:r>
              <a:rPr lang="en-US" sz="2000" b="1" dirty="0">
                <a:solidFill>
                  <a:srgbClr val="0C0D03"/>
                </a:solidFill>
                <a:latin typeface="Times New Roman" panose="02020603050405020304" pitchFamily="18" charset="0"/>
                <a:cs typeface="Times New Roman" panose="02020603050405020304" pitchFamily="18" charset="0"/>
              </a:rPr>
              <a:t>   	Module  	</a:t>
            </a:r>
            <a:r>
              <a:rPr lang="en-US" dirty="0">
                <a:solidFill>
                  <a:srgbClr val="0C0D03"/>
                </a:solidFill>
                <a:latin typeface="Times New Roman" panose="02020603050405020304" pitchFamily="18" charset="0"/>
                <a:cs typeface="Times New Roman" panose="02020603050405020304" pitchFamily="18" charset="0"/>
              </a:rPr>
              <a:t>Provides common pathname manipulations</a:t>
            </a: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os.environ</a:t>
            </a:r>
            <a:r>
              <a:rPr lang="en-US" sz="2000" b="1" dirty="0">
                <a:solidFill>
                  <a:srgbClr val="0C0D03"/>
                </a:solidFill>
                <a:latin typeface="Times New Roman" panose="02020603050405020304" pitchFamily="18" charset="0"/>
                <a:cs typeface="Times New Roman" panose="02020603050405020304" pitchFamily="18" charset="0"/>
              </a:rPr>
              <a:t> 	Mapping 	Gives access to environment variables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os.listdir</a:t>
            </a:r>
            <a:r>
              <a:rPr lang="en-US" sz="2000" b="1" dirty="0">
                <a:solidFill>
                  <a:srgbClr val="0C0D03"/>
                </a:solidFill>
                <a:latin typeface="Times New Roman" panose="02020603050405020304" pitchFamily="18" charset="0"/>
                <a:cs typeface="Times New Roman" panose="02020603050405020304" pitchFamily="18" charset="0"/>
              </a:rPr>
              <a:t>() 	Function 	Lists directory contents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os.mkdir</a:t>
            </a:r>
            <a:r>
              <a:rPr lang="en-US" sz="2000" b="1" dirty="0">
                <a:solidFill>
                  <a:srgbClr val="0C0D03"/>
                </a:solidFill>
                <a:latin typeface="Times New Roman" panose="02020603050405020304" pitchFamily="18" charset="0"/>
                <a:cs typeface="Times New Roman" panose="02020603050405020304" pitchFamily="18" charset="0"/>
              </a:rPr>
              <a:t>() 	Function 	Creates a directory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os.remove</a:t>
            </a:r>
            <a:r>
              <a:rPr lang="en-US" sz="2000" b="1" dirty="0">
                <a:solidFill>
                  <a:srgbClr val="0C0D03"/>
                </a:solidFill>
                <a:latin typeface="Times New Roman" panose="02020603050405020304" pitchFamily="18" charset="0"/>
                <a:cs typeface="Times New Roman" panose="02020603050405020304" pitchFamily="18" charset="0"/>
              </a:rPr>
              <a:t>() 	Function 	Removes a file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os.rename</a:t>
            </a:r>
            <a:r>
              <a:rPr lang="en-US" sz="2000" b="1" dirty="0">
                <a:solidFill>
                  <a:srgbClr val="0C0D03"/>
                </a:solidFill>
                <a:latin typeface="Times New Roman" panose="02020603050405020304" pitchFamily="18" charset="0"/>
                <a:cs typeface="Times New Roman" panose="02020603050405020304" pitchFamily="18" charset="0"/>
              </a:rPr>
              <a:t>() 	Function 	Renames a file or directory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os.walk</a:t>
            </a:r>
            <a:r>
              <a:rPr lang="en-US" sz="2000" b="1" dirty="0">
                <a:solidFill>
                  <a:srgbClr val="0C0D03"/>
                </a:solidFill>
                <a:latin typeface="Times New Roman" panose="02020603050405020304" pitchFamily="18" charset="0"/>
                <a:cs typeface="Times New Roman" panose="02020603050405020304" pitchFamily="18" charset="0"/>
              </a:rPr>
              <a:t>() 	Function 	Generates file names in a directory tree</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0853EF-9433-F596-E1AE-79E108CE453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279103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105D-F977-A21C-BFBA-88E29B23553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C22770F-62C9-7297-75D9-DE287F243B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9B2DDAB-58F2-AC5E-48B0-596688411B8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D238015-665E-A9C5-8F2B-1C58F12B8A9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885EB4C-9471-709A-049C-B4AB260EE7F2}"/>
              </a:ext>
            </a:extLst>
          </p:cNvPr>
          <p:cNvSpPr/>
          <p:nvPr/>
        </p:nvSpPr>
        <p:spPr bwMode="auto">
          <a:xfrm>
            <a:off x="415336" y="2195310"/>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STEP 3: Check Kaggle Input Directory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what is </a:t>
            </a:r>
            <a:r>
              <a:rPr lang="en-US" sz="2000" b="1" dirty="0" err="1">
                <a:solidFill>
                  <a:srgbClr val="0C0D03"/>
                </a:solidFill>
                <a:latin typeface="Times New Roman" panose="02020603050405020304" pitchFamily="18" charset="0"/>
                <a:cs typeface="Times New Roman" panose="02020603050405020304" pitchFamily="18" charset="0"/>
              </a:rPr>
              <a:t>os</a:t>
            </a:r>
            <a:r>
              <a:rPr lang="en-US" sz="2000" b="1" dirty="0">
                <a:solidFill>
                  <a:srgbClr val="0C0D03"/>
                </a:solidFill>
                <a:latin typeface="Times New Roman" panose="02020603050405020304" pitchFamily="18" charset="0"/>
                <a:cs typeface="Times New Roman" panose="02020603050405020304" pitchFamily="18" charset="0"/>
              </a:rPr>
              <a:t> :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Common Use Cases: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Navigating and manipulating the file system</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Manipulating file and directory paths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Managing environment variables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Running shell commands from Python scripts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Iterating over files and directories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49B956D-1D71-749D-4097-54F5489D3E5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019204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42A61-5609-AFA4-9C64-C8703410520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8172016-9CC9-52A0-EB54-5E0D111471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E7BC990-E99D-E93A-2267-A29186E6322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59FD368-7699-1969-5EDA-731FF8C4281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14386D3-777B-4E6A-2378-00BFB9A1D2D9}"/>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Load the Dataset</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The CSV file is loaded into a pandas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named </a:t>
            </a:r>
            <a:r>
              <a:rPr lang="en-US" sz="2000" dirty="0" err="1">
                <a:solidFill>
                  <a:srgbClr val="0C0D03"/>
                </a:solidFill>
                <a:latin typeface="Times New Roman" panose="02020603050405020304" pitchFamily="18" charset="0"/>
                <a:cs typeface="Times New Roman" panose="02020603050405020304" pitchFamily="18" charset="0"/>
              </a:rPr>
              <a:t>df.df.head</a:t>
            </a:r>
            <a:r>
              <a:rPr lang="en-US" sz="2000" dirty="0">
                <a:solidFill>
                  <a:srgbClr val="0C0D03"/>
                </a:solidFill>
                <a:latin typeface="Times New Roman" panose="02020603050405020304" pitchFamily="18" charset="0"/>
                <a:cs typeface="Times New Roman" panose="02020603050405020304" pitchFamily="18" charset="0"/>
              </a:rPr>
              <a:t>() displays the first five rows.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err="1">
                <a:solidFill>
                  <a:srgbClr val="0C0D03"/>
                </a:solidFill>
                <a:latin typeface="Times New Roman" panose="02020603050405020304" pitchFamily="18" charset="0"/>
                <a:cs typeface="Times New Roman" panose="02020603050405020304" pitchFamily="18" charset="0"/>
              </a:rPr>
              <a:t>Purpose:</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confirm the dataset structure and view sample records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395D5E9-0947-40B1-5FB2-ADF489D5B3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905052"/>
            <a:ext cx="8184938" cy="955996"/>
          </a:xfrm>
          <a:prstGeom prst="rect">
            <a:avLst/>
          </a:prstGeom>
        </p:spPr>
      </p:pic>
      <p:pic>
        <p:nvPicPr>
          <p:cNvPr id="5" name="Picture 4">
            <a:extLst>
              <a:ext uri="{FF2B5EF4-FFF2-40B4-BE49-F238E27FC236}">
                <a16:creationId xmlns:a16="http://schemas.microsoft.com/office/drawing/2014/main" id="{86036A59-41F9-8BAF-2C6D-2F9CF436F38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6510878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C8731-65CE-B257-D740-C61CC81BEE0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51AD1AE-A2A4-7308-0AF0-83291FE6F5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BF95882-E671-A330-82F8-B335DB2CD5F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38DBE7C-5B51-38A0-B2B2-25A0291D6F1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DE74187-496A-2BCF-A764-1FD2A4EFEF17}"/>
              </a:ext>
            </a:extLst>
          </p:cNvPr>
          <p:cNvSpPr/>
          <p:nvPr/>
        </p:nvSpPr>
        <p:spPr bwMode="auto">
          <a:xfrm>
            <a:off x="411162" y="224827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Load the Dataset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2E971BF-FDFC-E86F-9301-B138C9E49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162" y="3284984"/>
            <a:ext cx="8313328" cy="2304256"/>
          </a:xfrm>
          <a:prstGeom prst="rect">
            <a:avLst/>
          </a:prstGeom>
        </p:spPr>
      </p:pic>
      <p:pic>
        <p:nvPicPr>
          <p:cNvPr id="5" name="Picture 4">
            <a:extLst>
              <a:ext uri="{FF2B5EF4-FFF2-40B4-BE49-F238E27FC236}">
                <a16:creationId xmlns:a16="http://schemas.microsoft.com/office/drawing/2014/main" id="{F5F756E2-0B5B-080D-4B76-198A1D25A56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202157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FDC54-C21E-5B24-63CE-4F2077EDD2D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BCED7C9-4545-BE8B-9DBB-08E4FF2365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F56C42B-01E4-490F-9A0E-0337AFCA742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333EDEE-98B2-2EC1-C726-51A3B62CF56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0BCC805-CF80-F75A-19CE-422F21D04DB2}"/>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Dataset Structure Information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Displays</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Column names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Data types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Number of non-null values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err="1">
                <a:solidFill>
                  <a:srgbClr val="0C0D03"/>
                </a:solidFill>
                <a:latin typeface="Times New Roman" panose="02020603050405020304" pitchFamily="18" charset="0"/>
                <a:cs typeface="Times New Roman" panose="02020603050405020304" pitchFamily="18" charset="0"/>
              </a:rPr>
              <a:t>Purpose</a:t>
            </a:r>
            <a:r>
              <a:rPr lang="en-US" sz="2000" b="1" dirty="0" err="1">
                <a:solidFill>
                  <a:srgbClr val="0C0D03"/>
                </a:solidFill>
                <a:latin typeface="Times New Roman" panose="02020603050405020304" pitchFamily="18" charset="0"/>
                <a:cs typeface="Times New Roman" panose="02020603050405020304" pitchFamily="18" charset="0"/>
              </a:rPr>
              <a:t>:</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understand which columns contain missing values and data types.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86B4341-C52F-C4E5-AB8E-B37A613D6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816" y="3069059"/>
            <a:ext cx="3543858" cy="881467"/>
          </a:xfrm>
          <a:prstGeom prst="rect">
            <a:avLst/>
          </a:prstGeom>
        </p:spPr>
      </p:pic>
      <p:pic>
        <p:nvPicPr>
          <p:cNvPr id="5" name="Picture 4">
            <a:extLst>
              <a:ext uri="{FF2B5EF4-FFF2-40B4-BE49-F238E27FC236}">
                <a16:creationId xmlns:a16="http://schemas.microsoft.com/office/drawing/2014/main" id="{648184B2-D868-122D-A737-5E02BE78144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214762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A17C9-21BD-157D-A15B-3EB39423D21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A41430B-0F05-67D0-74D0-9D12019163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0C526A9-69FB-1B82-6CC9-EE4D9EE97FE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FF27D1E-669B-60BB-892A-530489D64EC8}"/>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8C28897-3478-913D-EDA6-708DCA3CFE5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Dataset Structure Information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2080F94-6278-899E-E769-F23337142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804" y="2721784"/>
            <a:ext cx="3528392" cy="3746485"/>
          </a:xfrm>
          <a:prstGeom prst="rect">
            <a:avLst/>
          </a:prstGeom>
        </p:spPr>
      </p:pic>
      <p:pic>
        <p:nvPicPr>
          <p:cNvPr id="5" name="Picture 4">
            <a:extLst>
              <a:ext uri="{FF2B5EF4-FFF2-40B4-BE49-F238E27FC236}">
                <a16:creationId xmlns:a16="http://schemas.microsoft.com/office/drawing/2014/main" id="{BD6FCF7B-C585-74B6-D6AA-B78CDC3B8E2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415946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9AEF-D234-B751-2379-866685B513B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5E22F84-D43D-77E8-6685-0B43446201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846159F-8E88-9C5E-41D7-361C4EB33D2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B431F26-DA85-49E3-5DFC-5853E1EA741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65D3AD6-BA3C-9A80-890D-D32F0889E108}"/>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6: Statistical Summary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Provides descriptive statistics for numerical columns: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Mean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Standard deviation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Minimum and maximum</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 </a:t>
            </a:r>
            <a:r>
              <a:rPr lang="en-US" sz="2000" dirty="0">
                <a:solidFill>
                  <a:srgbClr val="0C0D03"/>
                </a:solidFill>
                <a:latin typeface="Times New Roman" panose="02020603050405020304" pitchFamily="18" charset="0"/>
                <a:cs typeface="Times New Roman" panose="02020603050405020304" pitchFamily="18" charset="0"/>
              </a:rPr>
              <a:t>To understand data distribution and detect anomalies.</a:t>
            </a:r>
          </a:p>
        </p:txBody>
      </p:sp>
      <p:pic>
        <p:nvPicPr>
          <p:cNvPr id="6" name="Picture 5">
            <a:extLst>
              <a:ext uri="{FF2B5EF4-FFF2-40B4-BE49-F238E27FC236}">
                <a16:creationId xmlns:a16="http://schemas.microsoft.com/office/drawing/2014/main" id="{7758AD89-8A7F-20AF-77EF-747984586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26" y="3030008"/>
            <a:ext cx="3934716" cy="831039"/>
          </a:xfrm>
          <a:prstGeom prst="rect">
            <a:avLst/>
          </a:prstGeom>
        </p:spPr>
      </p:pic>
      <p:pic>
        <p:nvPicPr>
          <p:cNvPr id="5" name="Picture 4">
            <a:extLst>
              <a:ext uri="{FF2B5EF4-FFF2-40B4-BE49-F238E27FC236}">
                <a16:creationId xmlns:a16="http://schemas.microsoft.com/office/drawing/2014/main" id="{19FE2029-6932-1054-19F5-C725B2E5545B}"/>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018833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90946-99CB-BA8A-4949-940004AD103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9D730B4-2A3E-5BC0-C8BC-E9CC65031A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FD9B91D-2BFD-928B-E441-7B55E46EE4A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BEF80929-0271-42D7-1BD2-52672577322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9A10C2E-976D-70EB-86F7-56AA57AC9153}"/>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6: Statistical Summary</a:t>
            </a:r>
          </a:p>
        </p:txBody>
      </p:sp>
      <p:pic>
        <p:nvPicPr>
          <p:cNvPr id="7" name="Picture 6">
            <a:extLst>
              <a:ext uri="{FF2B5EF4-FFF2-40B4-BE49-F238E27FC236}">
                <a16:creationId xmlns:a16="http://schemas.microsoft.com/office/drawing/2014/main" id="{900B05F3-BBC0-75EB-DF93-A5D3F9690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727" y="2810109"/>
            <a:ext cx="8287111" cy="3180353"/>
          </a:xfrm>
          <a:prstGeom prst="rect">
            <a:avLst/>
          </a:prstGeom>
        </p:spPr>
      </p:pic>
      <p:pic>
        <p:nvPicPr>
          <p:cNvPr id="5" name="Picture 4">
            <a:extLst>
              <a:ext uri="{FF2B5EF4-FFF2-40B4-BE49-F238E27FC236}">
                <a16:creationId xmlns:a16="http://schemas.microsoft.com/office/drawing/2014/main" id="{A63D3047-F6D7-FB96-61BB-898BE50AA39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8509863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F1F2-D020-FC2E-663C-A710690CEE9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B841F63-11A7-D648-7D52-1D50B448AE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18A57F1-A52A-3629-E34E-A609FD3C80D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75C5B56-71CF-247F-810A-E07A65034AA1}"/>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:7</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2CAC3C3-4054-6C7A-6BFD-91D2BB2F216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7: Categorical Summary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Shows statistics for categorical (object) columns.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Includes count, unique values, and most frequent values.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err="1">
                <a:solidFill>
                  <a:srgbClr val="0C0D03"/>
                </a:solidFill>
                <a:latin typeface="Times New Roman" panose="02020603050405020304" pitchFamily="18" charset="0"/>
                <a:cs typeface="Times New Roman" panose="02020603050405020304" pitchFamily="18" charset="0"/>
              </a:rPr>
              <a:t>Purpose:</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analyze non-numerical attributes</a:t>
            </a:r>
            <a:r>
              <a:rPr lang="en-US" sz="2400" b="1" dirty="0">
                <a:solidFill>
                  <a:srgbClr val="0C0D03"/>
                </a:solidFill>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1C9AEAC3-D16C-30DC-1108-FFFB1FB8E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833732"/>
            <a:ext cx="4536504" cy="812509"/>
          </a:xfrm>
          <a:prstGeom prst="rect">
            <a:avLst/>
          </a:prstGeom>
        </p:spPr>
      </p:pic>
      <p:pic>
        <p:nvPicPr>
          <p:cNvPr id="5" name="Picture 4">
            <a:extLst>
              <a:ext uri="{FF2B5EF4-FFF2-40B4-BE49-F238E27FC236}">
                <a16:creationId xmlns:a16="http://schemas.microsoft.com/office/drawing/2014/main" id="{C134F0E0-B95B-F2DB-848E-D4F36468D4E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617200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688F0-9C01-B8A7-AC50-1278B154E2A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6C7F2B0-EC68-75F4-6396-DE9219DE61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72183F6-7910-D4C4-85B0-5D68E231E60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9AAD9BB-2C4C-C58C-E7E1-362E5B0B7F5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:7</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21A9813-0321-56C8-4D96-0815176B3EE6}"/>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7: Categorical Summary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B984432-1C17-A9FC-3FEC-95116C008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510" y="3016304"/>
            <a:ext cx="8298136" cy="2212896"/>
          </a:xfrm>
          <a:prstGeom prst="rect">
            <a:avLst/>
          </a:prstGeom>
        </p:spPr>
      </p:pic>
      <p:pic>
        <p:nvPicPr>
          <p:cNvPr id="5" name="Picture 4">
            <a:extLst>
              <a:ext uri="{FF2B5EF4-FFF2-40B4-BE49-F238E27FC236}">
                <a16:creationId xmlns:a16="http://schemas.microsoft.com/office/drawing/2014/main" id="{FEC128CD-F581-9546-5FD3-CD95954EBAA1}"/>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579014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8BCD7-3A0C-3F4B-5625-E597FF6DE44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E4C449D-A232-D3F6-B65A-43685881DB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ADF77EE-900A-F7B9-1945-517F8DCC0AB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55F442E-79C8-88E6-B8DF-7CA218B7828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:8</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9432ADE-598C-E391-73D7-CBBAA9282709}"/>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8: Missing Values and Duplicates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isnull</a:t>
            </a:r>
            <a:r>
              <a:rPr lang="en-US" sz="2000" dirty="0">
                <a:solidFill>
                  <a:srgbClr val="0C0D03"/>
                </a:solidFill>
                <a:latin typeface="Times New Roman" panose="02020603050405020304" pitchFamily="18" charset="0"/>
                <a:cs typeface="Times New Roman" panose="02020603050405020304" pitchFamily="18" charset="0"/>
              </a:rPr>
              <a:t>().sum() counts missing values per column.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duplicated().sum() counts duplicate rows.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err="1">
                <a:solidFill>
                  <a:srgbClr val="0C0D03"/>
                </a:solidFill>
                <a:latin typeface="Times New Roman" panose="02020603050405020304" pitchFamily="18" charset="0"/>
                <a:cs typeface="Times New Roman" panose="02020603050405020304" pitchFamily="18" charset="0"/>
              </a:rPr>
              <a:t>Purpose:</a:t>
            </a:r>
            <a:r>
              <a:rPr lang="en-US" sz="2000" dirty="0" err="1">
                <a:solidFill>
                  <a:srgbClr val="0C0D03"/>
                </a:solidFill>
                <a:latin typeface="Times New Roman" panose="02020603050405020304" pitchFamily="18" charset="0"/>
                <a:cs typeface="Times New Roman" panose="02020603050405020304" pitchFamily="18" charset="0"/>
              </a:rPr>
              <a:t>To</a:t>
            </a:r>
            <a:r>
              <a:rPr lang="en-US" sz="2000" dirty="0">
                <a:solidFill>
                  <a:srgbClr val="0C0D03"/>
                </a:solidFill>
                <a:latin typeface="Times New Roman" panose="02020603050405020304" pitchFamily="18" charset="0"/>
                <a:cs typeface="Times New Roman" panose="02020603050405020304" pitchFamily="18" charset="0"/>
              </a:rPr>
              <a:t> assess data quality before preprocessing.</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337CD0A-CE14-A0C2-B706-63C25951B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9"/>
            <a:ext cx="4680520" cy="994814"/>
          </a:xfrm>
          <a:prstGeom prst="rect">
            <a:avLst/>
          </a:prstGeom>
        </p:spPr>
      </p:pic>
      <p:pic>
        <p:nvPicPr>
          <p:cNvPr id="5" name="Picture 4">
            <a:extLst>
              <a:ext uri="{FF2B5EF4-FFF2-40B4-BE49-F238E27FC236}">
                <a16:creationId xmlns:a16="http://schemas.microsoft.com/office/drawing/2014/main" id="{9498DFD0-68BD-461D-CB86-414F6A052033}"/>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694370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8A87-6A48-CDB5-B25E-DD963D9854B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5704F36-2533-ABCF-6507-A863CD6BC8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43D2588-4D73-35A3-BD93-4DBF520A982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79B919C-86C9-0AA4-3F69-56EE81833F24}"/>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:8</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2CF8111-BB5E-1319-3205-EEFF85F34C57}"/>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8: Missing Values and Duplicates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97B44CD-9B06-54E3-B749-D036A0EBD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1734" y="2270009"/>
            <a:ext cx="1616075" cy="4345976"/>
          </a:xfrm>
          <a:prstGeom prst="rect">
            <a:avLst/>
          </a:prstGeom>
        </p:spPr>
      </p:pic>
      <p:pic>
        <p:nvPicPr>
          <p:cNvPr id="5" name="Picture 4">
            <a:extLst>
              <a:ext uri="{FF2B5EF4-FFF2-40B4-BE49-F238E27FC236}">
                <a16:creationId xmlns:a16="http://schemas.microsoft.com/office/drawing/2014/main" id="{E0D29702-4C6B-F191-9B3A-B552F778784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422853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C7236-94C3-88A2-8FDD-8219964EC9D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E37C48D-0AB3-AA5A-8302-967122AB79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04FFFD9-C95F-D30A-F1DE-492F9B1BD52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08CA86E-FC55-041B-5AE2-123E274AB78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:9</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48E4487-1B18-997B-32C7-19ADAA3EE7C5}"/>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9: Handling Missing Values (Numerical)</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Missing values are filled using linear interpolation.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This estimates values based on neighboring data.</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preserve numerical trends without deleting data.</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F04C87C-6CD6-D138-31F4-557E4F309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59" y="2790735"/>
            <a:ext cx="7200801" cy="945987"/>
          </a:xfrm>
          <a:prstGeom prst="rect">
            <a:avLst/>
          </a:prstGeom>
        </p:spPr>
      </p:pic>
      <p:pic>
        <p:nvPicPr>
          <p:cNvPr id="5" name="Picture 4">
            <a:extLst>
              <a:ext uri="{FF2B5EF4-FFF2-40B4-BE49-F238E27FC236}">
                <a16:creationId xmlns:a16="http://schemas.microsoft.com/office/drawing/2014/main" id="{01D47A70-4B0A-01FB-27EF-454415D688B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8664852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FDD1-12BD-3C8E-A033-11B529E3558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0FD8F66-F04D-2403-A9D6-9601B55319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BB2008E-7774-0133-4732-A3E74628A55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2D2657A-BFBA-BF3D-C25C-3738432766A3}"/>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:9</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F575507-BDD2-65AB-0F3D-17BB52728504}"/>
              </a:ext>
            </a:extLst>
          </p:cNvPr>
          <p:cNvSpPr/>
          <p:nvPr/>
        </p:nvSpPr>
        <p:spPr bwMode="auto">
          <a:xfrm>
            <a:off x="395536" y="2234915"/>
            <a:ext cx="8496944"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9: Handling Missing Values (Numerical)</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In medical datasets, </a:t>
            </a:r>
            <a:r>
              <a:rPr lang="en-US" sz="2000" b="1" dirty="0">
                <a:solidFill>
                  <a:srgbClr val="0C0D03"/>
                </a:solidFill>
                <a:latin typeface="Times New Roman" panose="02020603050405020304" pitchFamily="18" charset="0"/>
                <a:cs typeface="Times New Roman" panose="02020603050405020304" pitchFamily="18" charset="0"/>
              </a:rPr>
              <a:t>missing values occur </a:t>
            </a:r>
            <a:r>
              <a:rPr lang="en-US" sz="2000" dirty="0">
                <a:solidFill>
                  <a:srgbClr val="0C0D03"/>
                </a:solidFill>
                <a:latin typeface="Times New Roman" panose="02020603050405020304" pitchFamily="18" charset="0"/>
                <a:cs typeface="Times New Roman" panose="02020603050405020304" pitchFamily="18" charset="0"/>
              </a:rPr>
              <a:t>due to:</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Incomplete medical tests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Data entry errors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Patients skipping examinations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Problem:</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Machine learning models cannot handle missing values directly, so they must be treated before classification.</a:t>
            </a:r>
          </a:p>
        </p:txBody>
      </p:sp>
      <p:pic>
        <p:nvPicPr>
          <p:cNvPr id="5" name="Picture 4">
            <a:extLst>
              <a:ext uri="{FF2B5EF4-FFF2-40B4-BE49-F238E27FC236}">
                <a16:creationId xmlns:a16="http://schemas.microsoft.com/office/drawing/2014/main" id="{6BF3FA52-2DBE-8ACF-F52A-106FF11B0A7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025492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CAE6-F357-8D55-1454-81046A8B33D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B4ABF80-4A8B-7AFF-6338-D5CE45F520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EA1C5DA-F52A-F674-4B56-D60AC1EA1AD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D10E8D5-48A9-5A62-601B-F0CE525C4579}"/>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:9</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DD734CF-A06F-2D63-20B1-73FDE9AABAC3}"/>
              </a:ext>
            </a:extLst>
          </p:cNvPr>
          <p:cNvSpPr/>
          <p:nvPr/>
        </p:nvSpPr>
        <p:spPr bwMode="auto">
          <a:xfrm>
            <a:off x="395536" y="2234915"/>
            <a:ext cx="8496944"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9: Handling Missing Values (Numerical)</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trestbps</a:t>
            </a:r>
            <a:r>
              <a:rPr lang="en-US" sz="2000" b="1" dirty="0">
                <a:solidFill>
                  <a:srgbClr val="0C0D03"/>
                </a:solidFill>
                <a:latin typeface="Times New Roman" panose="02020603050405020304" pitchFamily="18" charset="0"/>
                <a:cs typeface="Times New Roman" panose="02020603050405020304" pitchFamily="18" charset="0"/>
              </a:rPr>
              <a:t> (Resting Blood Pressure):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Represents the resting blood pressure of a patient measured in mm Hg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Recorded when the patient is at rest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 resting blood pressure is a major risk factor for heart disease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Medical meaning: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Normal: ~120 mm Hg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Elevated values increase cardiovascular risk</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Role in classification: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Helps the model distinguish between low-risk and high-risk patients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75B9C36-0918-6CA3-46DC-17A21E3E84A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0490203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53A54-8DD8-995B-E5BB-784D527EC42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320122B-B3B0-B9FB-6F45-8ED1A8EC6E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BEA5106-73A9-A50B-2BDF-4E3709C572B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70E04E7-A2A3-70C1-D017-171F5FB6ED1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:9</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0ADF5B2-D063-66BA-A7EB-EFEA7E143CC1}"/>
              </a:ext>
            </a:extLst>
          </p:cNvPr>
          <p:cNvSpPr/>
          <p:nvPr/>
        </p:nvSpPr>
        <p:spPr bwMode="auto">
          <a:xfrm>
            <a:off x="395536" y="2234915"/>
            <a:ext cx="8496944"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9: Handling Missing Values (Numerical)</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chol</a:t>
            </a:r>
            <a:r>
              <a:rPr lang="en-US" sz="2000" b="1" dirty="0">
                <a:solidFill>
                  <a:srgbClr val="0C0D03"/>
                </a:solidFill>
                <a:latin typeface="Times New Roman" panose="02020603050405020304" pitchFamily="18" charset="0"/>
                <a:cs typeface="Times New Roman" panose="02020603050405020304" pitchFamily="18" charset="0"/>
              </a:rPr>
              <a:t> (Serum Cholesterol):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Represents cholesterol level in the blood measured in mg/dL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 cholesterol can lead to arterial blockage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Medical meaning: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Normal: &lt; 200 mg/dL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 cholesterol increases risk of heart disease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Role in classification: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Strong predictor for heart disease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Used together with blood pressure, age, and heart rate</a:t>
            </a:r>
          </a:p>
        </p:txBody>
      </p:sp>
      <p:pic>
        <p:nvPicPr>
          <p:cNvPr id="5" name="Picture 4">
            <a:extLst>
              <a:ext uri="{FF2B5EF4-FFF2-40B4-BE49-F238E27FC236}">
                <a16:creationId xmlns:a16="http://schemas.microsoft.com/office/drawing/2014/main" id="{EF715D8F-A3D4-205D-D99D-4F415824941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1008753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55649-7DDA-017F-3BDD-547033E6127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4AEE935-8D5B-25A4-20B7-A97CA33C37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C822876-4EBC-1B81-E824-E8A9AA513BD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9D99F85-EC91-77DC-2063-F0A428B9982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:9</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568AB4A-1D0F-5997-2954-BAA368F70A48}"/>
              </a:ext>
            </a:extLst>
          </p:cNvPr>
          <p:cNvSpPr/>
          <p:nvPr/>
        </p:nvSpPr>
        <p:spPr bwMode="auto">
          <a:xfrm>
            <a:off x="395536" y="2234915"/>
            <a:ext cx="8496944"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9: Handling Missing Values (Numerical)</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What Is interpolate: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interpolate() is a method that estimates missing values based on existing </a:t>
            </a:r>
            <a:r>
              <a:rPr lang="en-US" sz="2000" dirty="0" err="1">
                <a:solidFill>
                  <a:srgbClr val="0C0D03"/>
                </a:solidFill>
                <a:latin typeface="Times New Roman" panose="02020603050405020304" pitchFamily="18" charset="0"/>
                <a:cs typeface="Times New Roman" panose="02020603050405020304" pitchFamily="18" charset="0"/>
              </a:rPr>
              <a:t>data.Instead</a:t>
            </a:r>
            <a:r>
              <a:rPr lang="en-US" sz="2000" dirty="0">
                <a:solidFill>
                  <a:srgbClr val="0C0D03"/>
                </a:solidFill>
                <a:latin typeface="Times New Roman" panose="02020603050405020304" pitchFamily="18" charset="0"/>
                <a:cs typeface="Times New Roman" panose="02020603050405020304" pitchFamily="18" charset="0"/>
              </a:rPr>
              <a:t> of removing rows, it fills missing values logically.</a:t>
            </a:r>
          </a:p>
        </p:txBody>
      </p:sp>
      <p:pic>
        <p:nvPicPr>
          <p:cNvPr id="5" name="Picture 4">
            <a:extLst>
              <a:ext uri="{FF2B5EF4-FFF2-40B4-BE49-F238E27FC236}">
                <a16:creationId xmlns:a16="http://schemas.microsoft.com/office/drawing/2014/main" id="{3BFB402D-8F66-C04A-0DF1-D7BB0142C20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907944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70B9-BF7A-869C-B41E-2D363DD8184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40C7A6E-7F20-59CA-C1AF-1B209ED6BB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69172FA-3787-C3A6-8422-9368BA50DB7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F3691D5-4EAF-6347-1C06-AE641D940139}"/>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:10</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A537865-0072-BB85-2920-F67E3C44E19F}"/>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10: Filling Missing Values Using Median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Median is used because it is robust to outliers.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safely fill missing values without skewing data.</a:t>
            </a:r>
          </a:p>
        </p:txBody>
      </p:sp>
      <p:pic>
        <p:nvPicPr>
          <p:cNvPr id="6" name="Picture 5">
            <a:extLst>
              <a:ext uri="{FF2B5EF4-FFF2-40B4-BE49-F238E27FC236}">
                <a16:creationId xmlns:a16="http://schemas.microsoft.com/office/drawing/2014/main" id="{05C4E06A-2D5C-53D5-2B18-D5D56B970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7" y="2866947"/>
            <a:ext cx="7501779" cy="922093"/>
          </a:xfrm>
          <a:prstGeom prst="rect">
            <a:avLst/>
          </a:prstGeom>
        </p:spPr>
      </p:pic>
      <p:pic>
        <p:nvPicPr>
          <p:cNvPr id="5" name="Picture 4">
            <a:extLst>
              <a:ext uri="{FF2B5EF4-FFF2-40B4-BE49-F238E27FC236}">
                <a16:creationId xmlns:a16="http://schemas.microsoft.com/office/drawing/2014/main" id="{7923B5AE-8B7C-D962-3D30-3A8CC2E00E3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641256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BF41F-C9A6-CCCC-3F4E-94D81ACFFD1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AF43F5A-F736-E411-1ABB-82896CAA09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D41DD99-E01B-D928-1886-D7E112E4E78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833AE16-B50E-0927-9B0F-6932C951112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:10</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E9BD6DB-458F-80F1-D758-EFE13BC57A2E}"/>
              </a:ext>
            </a:extLst>
          </p:cNvPr>
          <p:cNvSpPr/>
          <p:nvPr/>
        </p:nvSpPr>
        <p:spPr bwMode="auto">
          <a:xfrm>
            <a:off x="419510" y="2132856"/>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10:</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thalch</a:t>
            </a:r>
            <a:r>
              <a:rPr lang="en-US" sz="2000" b="1" dirty="0">
                <a:solidFill>
                  <a:srgbClr val="0C0D03"/>
                </a:solidFill>
                <a:latin typeface="Times New Roman" panose="02020603050405020304" pitchFamily="18" charset="0"/>
                <a:cs typeface="Times New Roman" panose="02020603050405020304" pitchFamily="18" charset="0"/>
              </a:rPr>
              <a:t> (Maximum Heart Rate Achieved):</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Represents the maximum heart rate a patient reaches during a stress test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Measured in beats per minute (bpm)</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Indicates how well the heart responds to physical exertion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Medical meaning: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Higher values → better heart function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Lower values → possible heart disease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Role in classification: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Important predictor of heart disease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Patients with heart disease often show reduced maximum heart rate</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16B5A4-DEE8-4AE4-5015-3A6EF5C1528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7921238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FC1F3-5CBE-A40B-CF53-0EF3D75BEA8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77937D9-8650-DA19-E8A8-879CC9C926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1359C86-71D1-5790-A827-A39176854F6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732004E-8D47-C6EC-17DF-11D3553D9531}"/>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:10</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B724EAE-33EB-DBDE-808E-D32F51FBD571}"/>
              </a:ext>
            </a:extLst>
          </p:cNvPr>
          <p:cNvSpPr/>
          <p:nvPr/>
        </p:nvSpPr>
        <p:spPr bwMode="auto">
          <a:xfrm>
            <a:off x="419510" y="2132855"/>
            <a:ext cx="8313328" cy="4480669"/>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10:</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oldpeak</a:t>
            </a:r>
            <a:r>
              <a:rPr lang="en-US" sz="2000" b="1" dirty="0">
                <a:solidFill>
                  <a:srgbClr val="0C0D03"/>
                </a:solidFill>
                <a:latin typeface="Times New Roman" panose="02020603050405020304" pitchFamily="18" charset="0"/>
                <a:cs typeface="Times New Roman" panose="02020603050405020304" pitchFamily="18" charset="0"/>
              </a:rPr>
              <a:t> (ST Depression Induced by Exercise):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Measures depression of the ST segment during an ECG stress test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Indicates reduced blood flow to the heart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Measured in millimeters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Medical meaning: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Higher values → greater ischemia (heart muscle oxygen shortage)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Strong indicator of heart disease severity</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Role in classification</a:t>
            </a:r>
            <a:r>
              <a:rPr lang="en-US" sz="2000" dirty="0">
                <a:solidFill>
                  <a:srgbClr val="0C0D03"/>
                </a:solidFill>
                <a:latin typeface="Times New Roman" panose="02020603050405020304" pitchFamily="18" charset="0"/>
                <a:cs typeface="Times New Roman" panose="02020603050405020304" pitchFamily="18" charset="0"/>
              </a:rPr>
              <a: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One of the most important features in predicting heart disease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Often ranked high in Random Forest feature importance</a:t>
            </a:r>
          </a:p>
        </p:txBody>
      </p:sp>
      <p:pic>
        <p:nvPicPr>
          <p:cNvPr id="5" name="Picture 4">
            <a:extLst>
              <a:ext uri="{FF2B5EF4-FFF2-40B4-BE49-F238E27FC236}">
                <a16:creationId xmlns:a16="http://schemas.microsoft.com/office/drawing/2014/main" id="{44525214-FE21-386A-1C88-49E3E8C1919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178224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3790-A6B0-AC68-309F-6F445BCDFB1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10C87E6-8824-AB96-BC5C-B6D7BDA408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582E4FD-B91E-0F93-D3A3-6E36DF6D565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E50286D-AC31-6063-489D-376F7AF20A1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:10</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B59EA54-98B2-AE1E-DA4E-3C40767A4466}"/>
              </a:ext>
            </a:extLst>
          </p:cNvPr>
          <p:cNvSpPr/>
          <p:nvPr/>
        </p:nvSpPr>
        <p:spPr bwMode="auto">
          <a:xfrm>
            <a:off x="419510" y="2132855"/>
            <a:ext cx="8313328" cy="4480669"/>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10:</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What Is </a:t>
            </a:r>
            <a:r>
              <a:rPr lang="en-US" sz="2000" b="1" dirty="0" err="1">
                <a:solidFill>
                  <a:srgbClr val="0C0D03"/>
                </a:solidFill>
                <a:latin typeface="Times New Roman" panose="02020603050405020304" pitchFamily="18" charset="0"/>
                <a:cs typeface="Times New Roman" panose="02020603050405020304" pitchFamily="18" charset="0"/>
              </a:rPr>
              <a:t>fillna</a:t>
            </a: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fillna</a:t>
            </a:r>
            <a:r>
              <a:rPr lang="en-US" sz="2000" dirty="0">
                <a:solidFill>
                  <a:srgbClr val="0C0D03"/>
                </a:solidFill>
                <a:latin typeface="Times New Roman" panose="02020603050405020304" pitchFamily="18" charset="0"/>
                <a:cs typeface="Times New Roman" panose="02020603050405020304" pitchFamily="18" charset="0"/>
              </a:rPr>
              <a:t>() is a Pandas function used to replace missing (</a:t>
            </a:r>
            <a:r>
              <a:rPr lang="en-US" sz="2000" dirty="0" err="1">
                <a:solidFill>
                  <a:srgbClr val="0C0D03"/>
                </a:solidFill>
                <a:latin typeface="Times New Roman" panose="02020603050405020304" pitchFamily="18" charset="0"/>
                <a:cs typeface="Times New Roman" panose="02020603050405020304" pitchFamily="18" charset="0"/>
              </a:rPr>
              <a:t>NaN</a:t>
            </a:r>
            <a:r>
              <a:rPr lang="en-US" sz="2000" dirty="0">
                <a:solidFill>
                  <a:srgbClr val="0C0D03"/>
                </a:solidFill>
                <a:latin typeface="Times New Roman" panose="02020603050405020304" pitchFamily="18" charset="0"/>
                <a:cs typeface="Times New Roman" panose="02020603050405020304" pitchFamily="18" charset="0"/>
              </a:rPr>
              <a:t>) values in a dataset.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fillna</a:t>
            </a:r>
            <a:r>
              <a:rPr lang="en-US" sz="2000" b="1" dirty="0">
                <a:solidFill>
                  <a:srgbClr val="0C0D03"/>
                </a:solidFill>
                <a:latin typeface="Times New Roman" panose="02020603050405020304" pitchFamily="18" charset="0"/>
                <a:cs typeface="Times New Roman" panose="02020603050405020304" pitchFamily="18" charset="0"/>
              </a:rPr>
              <a:t>(value)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It replaces missing values with a specified statistic or value.</a:t>
            </a:r>
          </a:p>
        </p:txBody>
      </p:sp>
      <p:pic>
        <p:nvPicPr>
          <p:cNvPr id="5" name="Picture 4">
            <a:extLst>
              <a:ext uri="{FF2B5EF4-FFF2-40B4-BE49-F238E27FC236}">
                <a16:creationId xmlns:a16="http://schemas.microsoft.com/office/drawing/2014/main" id="{46C810A6-959C-34CA-8CC3-8C7AD7C6DB7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8077557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9842D-0161-B952-E3B7-FC244034C3B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18517DB-77EC-909A-9C72-368DC1F2C5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5172824-C92A-9833-225A-34350F75B38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89FEB54-482C-FA85-D416-AE88594B2AE0}"/>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:11</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E0D5D45-42D4-E3AF-29E3-5A0CBA1A38B1}"/>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11: Rule-Based Imputation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If age &gt; 50 → fasting blood sugar likely </a:t>
            </a:r>
            <a:r>
              <a:rPr lang="en-US" sz="2000" dirty="0" err="1">
                <a:solidFill>
                  <a:srgbClr val="0C0D03"/>
                </a:solidFill>
                <a:latin typeface="Times New Roman" panose="02020603050405020304" pitchFamily="18" charset="0"/>
                <a:cs typeface="Times New Roman" panose="02020603050405020304" pitchFamily="18" charset="0"/>
              </a:rPr>
              <a:t>high.Uses</a:t>
            </a:r>
            <a:r>
              <a:rPr lang="en-US" sz="2000" dirty="0">
                <a:solidFill>
                  <a:srgbClr val="0C0D03"/>
                </a:solidFill>
                <a:latin typeface="Times New Roman" panose="02020603050405020304" pitchFamily="18" charset="0"/>
                <a:cs typeface="Times New Roman" panose="02020603050405020304" pitchFamily="18" charset="0"/>
              </a:rPr>
              <a:t> domain knowledge.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intelligently fill missing categorical values.</a:t>
            </a:r>
          </a:p>
        </p:txBody>
      </p:sp>
      <p:pic>
        <p:nvPicPr>
          <p:cNvPr id="7" name="Picture 6">
            <a:extLst>
              <a:ext uri="{FF2B5EF4-FFF2-40B4-BE49-F238E27FC236}">
                <a16:creationId xmlns:a16="http://schemas.microsoft.com/office/drawing/2014/main" id="{1FD9D18F-E59C-AE1E-16C7-DAD2A3187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33733"/>
            <a:ext cx="7416824" cy="1052605"/>
          </a:xfrm>
          <a:prstGeom prst="rect">
            <a:avLst/>
          </a:prstGeom>
        </p:spPr>
      </p:pic>
      <p:pic>
        <p:nvPicPr>
          <p:cNvPr id="5" name="Picture 4">
            <a:extLst>
              <a:ext uri="{FF2B5EF4-FFF2-40B4-BE49-F238E27FC236}">
                <a16:creationId xmlns:a16="http://schemas.microsoft.com/office/drawing/2014/main" id="{3524E1C8-C546-D626-1E25-6C6F86412FB1}"/>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7166633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AE39E-9F3C-1DD4-7588-AB37FD934EC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9AB88FE-10FF-AAF4-5397-B1E4EF7E5A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90D6544-CC4F-EDDE-CDBF-B1AEE922D67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C36E18B-135E-A1AE-6987-FF667367C93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BC3468D-C028-1533-50C6-1D371CE320A4}"/>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12: More Rule-Based Filling</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Lower heart rate suggests exercise-induced angina</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improve data accuracy using medical logic.</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D92EF51-60E6-1F8E-9FD7-667B1ED81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59" y="2851696"/>
            <a:ext cx="7638655" cy="937344"/>
          </a:xfrm>
          <a:prstGeom prst="rect">
            <a:avLst/>
          </a:prstGeom>
        </p:spPr>
      </p:pic>
      <p:pic>
        <p:nvPicPr>
          <p:cNvPr id="5" name="Picture 4">
            <a:extLst>
              <a:ext uri="{FF2B5EF4-FFF2-40B4-BE49-F238E27FC236}">
                <a16:creationId xmlns:a16="http://schemas.microsoft.com/office/drawing/2014/main" id="{DBD183B4-80D0-9C91-0BFA-447B1D1EDEA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219582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907C-8B62-7D5F-5FB1-C2841DAB03E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BCBD769-98F8-A283-8145-70BA871135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9B291B3-ECE2-DCDE-3FE6-6220068F09E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3E186DA-227E-9838-A90D-8C26246AE84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6DF6D72-52D5-C421-DE56-89A1DFCF1846}"/>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12: More Rule-Based Filling</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exang</a:t>
            </a:r>
            <a:r>
              <a:rPr lang="en-US" sz="2000" b="1" dirty="0">
                <a:solidFill>
                  <a:srgbClr val="0C0D03"/>
                </a:solidFill>
                <a:latin typeface="Times New Roman" panose="02020603050405020304" pitchFamily="18" charset="0"/>
                <a:cs typeface="Times New Roman" panose="02020603050405020304" pitchFamily="18" charset="0"/>
              </a:rPr>
              <a:t> (Exercise-Induced Angina):</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Indicates whether a patient experiences chest pain during physical exercise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Binary variable</a:t>
            </a: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1 → Yes (exercise-induced angina present)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0 → No (no chest pain during exercise)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Medical significance: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Chest pain during exercise is a strong indicator of heart </a:t>
            </a:r>
            <a:r>
              <a:rPr lang="en-US" sz="2000" dirty="0" err="1">
                <a:solidFill>
                  <a:srgbClr val="0C0D03"/>
                </a:solidFill>
                <a:latin typeface="Times New Roman" panose="02020603050405020304" pitchFamily="18" charset="0"/>
                <a:cs typeface="Times New Roman" panose="02020603050405020304" pitchFamily="18" charset="0"/>
              </a:rPr>
              <a:t>diseaseOften</a:t>
            </a:r>
            <a:r>
              <a:rPr lang="en-US" sz="2000" dirty="0">
                <a:solidFill>
                  <a:srgbClr val="0C0D03"/>
                </a:solidFill>
                <a:latin typeface="Times New Roman" panose="02020603050405020304" pitchFamily="18" charset="0"/>
                <a:cs typeface="Times New Roman" panose="02020603050405020304" pitchFamily="18" charset="0"/>
              </a:rPr>
              <a:t> caused by reduced blood flow to the heart muscles</a:t>
            </a: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E924EB-E1A3-C051-4A92-3CDC40B0A16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120739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BC7C0-C3D2-A5F1-8034-55BE3372587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FF1DA44-8991-8D4D-6F48-648C039B2D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B0E79B9-B3CE-CF9C-4CD6-C28B050DD71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BFF0013-577B-917A-715D-5B7EC527403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24267E9-8C72-3C03-D429-EB221FE681EF}"/>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5DCF8FE-17AA-64B7-DCAE-AD9720963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1502" y="2810109"/>
            <a:ext cx="6880996" cy="3439975"/>
          </a:xfrm>
          <a:prstGeom prst="rect">
            <a:avLst/>
          </a:prstGeom>
        </p:spPr>
      </p:pic>
      <p:pic>
        <p:nvPicPr>
          <p:cNvPr id="5" name="Picture 4">
            <a:extLst>
              <a:ext uri="{FF2B5EF4-FFF2-40B4-BE49-F238E27FC236}">
                <a16:creationId xmlns:a16="http://schemas.microsoft.com/office/drawing/2014/main" id="{FFA7B869-FC8E-F1EF-4C32-AED48858D373}"/>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402908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C7F6-28CD-6B9E-9A75-33B8717002B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B730157-85D0-7732-C1DA-7B22008104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0DB73B7-AA96-9CA1-6EDE-0143301BBAF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7D3A6C4-E4E5-B682-F15E-D4C743A5A35F}"/>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8F862AD-5D36-C993-D56D-FFA61CB2F15C}"/>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restecg</a:t>
            </a:r>
            <a:r>
              <a:rPr lang="en-US" sz="2000" b="1" dirty="0">
                <a:solidFill>
                  <a:srgbClr val="0C0D03"/>
                </a:solidFill>
                <a:latin typeface="Times New Roman" panose="02020603050405020304" pitchFamily="18" charset="0"/>
                <a:cs typeface="Times New Roman" panose="02020603050405020304" pitchFamily="18" charset="0"/>
              </a:rPr>
              <a:t> (Resting Electrocardiographic Results)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Represents the results of an electrocardiogram (ECG) recorded while the patient is at rest.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Indicates how the heart’s electrical activity behaves under normal conditions.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Typical values: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0 → Normal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1 → ST-T wave abnormality</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2 → Left ventricular hypertrophy</a:t>
            </a:r>
          </a:p>
        </p:txBody>
      </p:sp>
      <p:pic>
        <p:nvPicPr>
          <p:cNvPr id="5" name="Picture 4">
            <a:extLst>
              <a:ext uri="{FF2B5EF4-FFF2-40B4-BE49-F238E27FC236}">
                <a16:creationId xmlns:a16="http://schemas.microsoft.com/office/drawing/2014/main" id="{DE40781D-33F5-81B8-8558-8498CE82DA2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0659914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8B75-3C07-A061-85B7-08F2D43C9BF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24515CC-14A7-1486-C68F-223F31693E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5F7A258-312B-459B-3113-839F06B8240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3FA3E7F-3F39-52EA-7895-E289F3809F4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8513692-7846-3A64-CAAF-6424271F4831}"/>
              </a:ext>
            </a:extLst>
          </p:cNvPr>
          <p:cNvSpPr/>
          <p:nvPr/>
        </p:nvSpPr>
        <p:spPr bwMode="auto">
          <a:xfrm>
            <a:off x="251520" y="2234915"/>
            <a:ext cx="8481318" cy="437861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slope (Slope of the Peak Exercise ST Segment)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Describes the shape of the ST segment during peak exercise in an ECG test.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Typical values: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1 → Upsloping (normal)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2 → Flat (abnormal)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3 → </a:t>
            </a:r>
            <a:r>
              <a:rPr lang="en-US" sz="2000" dirty="0" err="1">
                <a:solidFill>
                  <a:srgbClr val="0C0D03"/>
                </a:solidFill>
                <a:latin typeface="Times New Roman" panose="02020603050405020304" pitchFamily="18" charset="0"/>
                <a:cs typeface="Times New Roman" panose="02020603050405020304" pitchFamily="18" charset="0"/>
              </a:rPr>
              <a:t>Downsloping</a:t>
            </a:r>
            <a:r>
              <a:rPr lang="en-US" sz="2000" dirty="0">
                <a:solidFill>
                  <a:srgbClr val="0C0D03"/>
                </a:solidFill>
                <a:latin typeface="Times New Roman" panose="02020603050405020304" pitchFamily="18" charset="0"/>
                <a:cs typeface="Times New Roman" panose="02020603050405020304" pitchFamily="18" charset="0"/>
              </a:rPr>
              <a:t> (abnormal)</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Medical significance: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Flat or </a:t>
            </a:r>
            <a:r>
              <a:rPr lang="en-US" sz="2000" dirty="0" err="1">
                <a:solidFill>
                  <a:srgbClr val="0C0D03"/>
                </a:solidFill>
                <a:latin typeface="Times New Roman" panose="02020603050405020304" pitchFamily="18" charset="0"/>
                <a:cs typeface="Times New Roman" panose="02020603050405020304" pitchFamily="18" charset="0"/>
              </a:rPr>
              <a:t>downsloping</a:t>
            </a:r>
            <a:r>
              <a:rPr lang="en-US" sz="2000" dirty="0">
                <a:solidFill>
                  <a:srgbClr val="0C0D03"/>
                </a:solidFill>
                <a:latin typeface="Times New Roman" panose="02020603050405020304" pitchFamily="18" charset="0"/>
                <a:cs typeface="Times New Roman" panose="02020603050405020304" pitchFamily="18" charset="0"/>
              </a:rPr>
              <a:t> ST segments suggest </a:t>
            </a:r>
            <a:r>
              <a:rPr lang="en-US" sz="2000" dirty="0" err="1">
                <a:solidFill>
                  <a:srgbClr val="0C0D03"/>
                </a:solidFill>
                <a:latin typeface="Times New Roman" panose="02020603050405020304" pitchFamily="18" charset="0"/>
                <a:cs typeface="Times New Roman" panose="02020603050405020304" pitchFamily="18" charset="0"/>
              </a:rPr>
              <a:t>ischemia.Indicates</a:t>
            </a:r>
            <a:r>
              <a:rPr lang="en-US" sz="2000" dirty="0">
                <a:solidFill>
                  <a:srgbClr val="0C0D03"/>
                </a:solidFill>
                <a:latin typeface="Times New Roman" panose="02020603050405020304" pitchFamily="18" charset="0"/>
                <a:cs typeface="Times New Roman" panose="02020603050405020304" pitchFamily="18" charset="0"/>
              </a:rPr>
              <a:t> how the heart responds under physical stress.</a:t>
            </a:r>
          </a:p>
        </p:txBody>
      </p:sp>
      <p:pic>
        <p:nvPicPr>
          <p:cNvPr id="5" name="Picture 4">
            <a:extLst>
              <a:ext uri="{FF2B5EF4-FFF2-40B4-BE49-F238E27FC236}">
                <a16:creationId xmlns:a16="http://schemas.microsoft.com/office/drawing/2014/main" id="{FE703B69-BDCA-CECF-DC6B-4B911BFD63C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057333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635CF-8D5B-37C2-7510-4E24167A7EB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C2B70BE-DA52-8177-C3BA-E568787022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631B765-A517-B0D3-FF9D-820A76E7761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24FE548-98A9-41D7-39CB-CD90A50E4F6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C8A17A6-6E6C-227A-7191-B56A3AAA1C98}"/>
              </a:ext>
            </a:extLst>
          </p:cNvPr>
          <p:cNvSpPr/>
          <p:nvPr/>
        </p:nvSpPr>
        <p:spPr bwMode="auto">
          <a:xfrm>
            <a:off x="251520" y="2089659"/>
            <a:ext cx="8481318" cy="437861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thal</a:t>
            </a:r>
            <a:r>
              <a:rPr lang="en-US" sz="2000" b="1" dirty="0">
                <a:solidFill>
                  <a:srgbClr val="0C0D03"/>
                </a:solidFill>
                <a:latin typeface="Times New Roman" panose="02020603050405020304" pitchFamily="18" charset="0"/>
                <a:cs typeface="Times New Roman" panose="02020603050405020304" pitchFamily="18" charset="0"/>
              </a:rPr>
              <a:t> (Thalassemia / Stress Test Result)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Indicates results of a nuclear stress test related to blood flow in the heart.</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Typical values</a:t>
            </a:r>
            <a:r>
              <a:rPr lang="en-US" sz="2000" dirty="0">
                <a:solidFill>
                  <a:srgbClr val="0C0D03"/>
                </a:solidFill>
                <a:latin typeface="Times New Roman" panose="02020603050405020304" pitchFamily="18" charset="0"/>
                <a:cs typeface="Times New Roman" panose="02020603050405020304" pitchFamily="18" charset="0"/>
              </a:rPr>
              <a: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3 → Normal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6 → Fixed defect (permanent damage)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7 → Reversible defect (temporary ischemia)</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Medical significance: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Fixed and reversible defects indicate reduced blood supply to heart muscles.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Strong indicator of coronary artery disease.</a:t>
            </a:r>
          </a:p>
        </p:txBody>
      </p:sp>
      <p:pic>
        <p:nvPicPr>
          <p:cNvPr id="5" name="Picture 4">
            <a:extLst>
              <a:ext uri="{FF2B5EF4-FFF2-40B4-BE49-F238E27FC236}">
                <a16:creationId xmlns:a16="http://schemas.microsoft.com/office/drawing/2014/main" id="{C5A99E83-C006-866E-EFDB-841A2BB1BA7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870936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82CA0-9EF9-FCE4-E646-4D0136A191C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82A1FD2-7C73-4DA1-D312-3CCF4D2109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A17B906-5C85-CAB3-F956-0D28FB887D6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97F2BDA-00A5-712D-5519-A02CC9700AF0}"/>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3C05391-09C4-C384-25E2-6947C090F376}"/>
              </a:ext>
            </a:extLst>
          </p:cNvPr>
          <p:cNvSpPr/>
          <p:nvPr/>
        </p:nvSpPr>
        <p:spPr bwMode="auto">
          <a:xfrm>
            <a:off x="251520" y="2234915"/>
            <a:ext cx="8481318" cy="437861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ca (Number of Major Vessels Colored by Fluoroscopy)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Definition: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Represents the number of major coronary arteries visible during fluoroscopy.</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Values range from 0 to 3.</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Medical significance: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Higher values indicate greater arterial blockage.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Strongly associated with disease severity.</a:t>
            </a:r>
          </a:p>
        </p:txBody>
      </p:sp>
      <p:pic>
        <p:nvPicPr>
          <p:cNvPr id="5" name="Picture 4">
            <a:extLst>
              <a:ext uri="{FF2B5EF4-FFF2-40B4-BE49-F238E27FC236}">
                <a16:creationId xmlns:a16="http://schemas.microsoft.com/office/drawing/2014/main" id="{6CEA764A-EF0B-E898-9028-4CF9AD848D5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292969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E89D-1E2D-28C3-A397-D789039A895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EDA134E-86F9-7F3C-FE52-90C0CBF1A4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CB46807-08A3-54EC-7319-9B5DCF1E3E6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5314980-A098-BDE0-1B5D-DCF33C7F4DA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:13</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0AD1F2E-09F5-5B15-BA3A-B032383893FC}"/>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13: Remaining Feature Imputation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Missing values are filled using logical conditions based on related features.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maintain medical consistency across variables.</a:t>
            </a:r>
          </a:p>
        </p:txBody>
      </p:sp>
      <p:pic>
        <p:nvPicPr>
          <p:cNvPr id="5" name="Picture 4">
            <a:extLst>
              <a:ext uri="{FF2B5EF4-FFF2-40B4-BE49-F238E27FC236}">
                <a16:creationId xmlns:a16="http://schemas.microsoft.com/office/drawing/2014/main" id="{3817C87C-A681-D4C3-9019-059C467E9E4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749469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4B77A-D45D-B0E2-8EBE-08836205058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18494A5-E0F9-5037-6ACC-09CBCADD6B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8F58AF8-23D2-F10B-51D8-2839A9B15BD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15E3D52-038B-E993-82A7-C69957D0085F}"/>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3269290-68BD-0E3B-1AC1-76E21CBD9DB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 Final Missing-Value Check</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Confirms no missing values remain.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8804CB9-4281-A11C-F6DE-5EC98AE78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6965"/>
            <a:ext cx="5112568" cy="774086"/>
          </a:xfrm>
          <a:prstGeom prst="rect">
            <a:avLst/>
          </a:prstGeom>
        </p:spPr>
      </p:pic>
      <p:pic>
        <p:nvPicPr>
          <p:cNvPr id="5" name="Picture 4">
            <a:extLst>
              <a:ext uri="{FF2B5EF4-FFF2-40B4-BE49-F238E27FC236}">
                <a16:creationId xmlns:a16="http://schemas.microsoft.com/office/drawing/2014/main" id="{F8E81F58-69E2-64D1-C4FC-354A21B608BC}"/>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808691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95DC3-A435-BB63-C00B-18572E45651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EAB9FCD-1C83-82B7-A661-CC85183599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EF96A1E-9E69-6A69-824B-010047FC7AF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103F5618-66D1-7347-8E4D-C842F3B9D56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5F4F16F-80DC-7846-B2A3-7F81D09475A6}"/>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 These two lines import visualization libraries used to create graphs and plots.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Matplotlib is a Python library used to create basic graphs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Importing the plotting module </a:t>
            </a:r>
            <a:r>
              <a:rPr lang="en-US" sz="2000" dirty="0" err="1">
                <a:solidFill>
                  <a:srgbClr val="0C0D03"/>
                </a:solidFill>
                <a:latin typeface="Times New Roman" panose="02020603050405020304" pitchFamily="18" charset="0"/>
                <a:cs typeface="Times New Roman" panose="02020603050405020304" pitchFamily="18" charset="0"/>
              </a:rPr>
              <a:t>pyplot</a:t>
            </a: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Giving it the short name </a:t>
            </a:r>
            <a:r>
              <a:rPr lang="en-US" sz="2000" dirty="0" err="1">
                <a:solidFill>
                  <a:srgbClr val="0C0D03"/>
                </a:solidFill>
                <a:latin typeface="Times New Roman" panose="02020603050405020304" pitchFamily="18" charset="0"/>
                <a:cs typeface="Times New Roman" panose="02020603050405020304" pitchFamily="18" charset="0"/>
              </a:rPr>
              <a:t>plt</a:t>
            </a:r>
            <a:r>
              <a:rPr lang="en-US" sz="2000" dirty="0">
                <a:solidFill>
                  <a:srgbClr val="0C0D03"/>
                </a:solidFill>
                <a:latin typeface="Times New Roman" panose="02020603050405020304" pitchFamily="18" charset="0"/>
                <a:cs typeface="Times New Roman" panose="02020603050405020304" pitchFamily="18" charset="0"/>
              </a:rPr>
              <a:t> (standard convention)</a:t>
            </a:r>
          </a:p>
        </p:txBody>
      </p:sp>
      <p:pic>
        <p:nvPicPr>
          <p:cNvPr id="8" name="Picture 7">
            <a:extLst>
              <a:ext uri="{FF2B5EF4-FFF2-40B4-BE49-F238E27FC236}">
                <a16:creationId xmlns:a16="http://schemas.microsoft.com/office/drawing/2014/main" id="{22190CB8-4535-0414-1549-C00F67B32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3267801"/>
            <a:ext cx="5940328" cy="881279"/>
          </a:xfrm>
          <a:prstGeom prst="rect">
            <a:avLst/>
          </a:prstGeom>
        </p:spPr>
      </p:pic>
      <p:pic>
        <p:nvPicPr>
          <p:cNvPr id="5" name="Picture 4">
            <a:extLst>
              <a:ext uri="{FF2B5EF4-FFF2-40B4-BE49-F238E27FC236}">
                <a16:creationId xmlns:a16="http://schemas.microsoft.com/office/drawing/2014/main" id="{DDF5C1CD-8DB0-0451-C106-D556F256584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5185667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B41E7-870A-FDC7-44F9-BC4494BA0FF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F7E80DA-0D78-E7E3-1690-3DCBD9D772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82F16EE-4359-8C3A-D312-CC772E88622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58A63F7-2CF8-F677-1339-1E264E09FC4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7ACC199-CE95-AF6E-E8A0-E3971D4FE897}"/>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a:t>
            </a:r>
          </a:p>
          <a:p>
            <a:pPr algn="just" rtl="0" fontAlgn="base">
              <a:lnSpc>
                <a:spcPts val="3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Matplotlib :</a:t>
            </a:r>
            <a:r>
              <a:rPr lang="en-US" sz="2000" dirty="0">
                <a:solidFill>
                  <a:srgbClr val="0C0D0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Data visualization</a:t>
            </a:r>
            <a:r>
              <a:rPr lang="en-US" sz="2000" dirty="0">
                <a:solidFill>
                  <a:srgbClr val="0C0D03"/>
                </a:solidFill>
                <a:latin typeface="Times New Roman" panose="02020603050405020304" pitchFamily="18" charset="0"/>
                <a:cs typeface="Times New Roman" panose="02020603050405020304" pitchFamily="18" charset="0"/>
              </a:rPr>
              <a:t> helps to understand complex datasets. The Matplotlib library in Python is a key tool for creating plots, and this guide walks you through installation and basic plotting. </a:t>
            </a:r>
          </a:p>
          <a:p>
            <a:pPr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Matplotlib is a popular plotting library in Python used for creating high-quality visualizations and graphs. It offers various tools to generate diverse plots, facilitating data analysis, exploration, and presentation. Matplotlib is flexible, supporting multiple plot types and customization options, making it valuable for scientific research, data analysis, and visual communication.</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F6ECBD7-1D36-4441-5D40-F68A67C914B1}"/>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6339442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FBF48-913F-2B3D-E6CB-5D0D7D34E12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A0CE7E9-0C3C-9307-CD10-EE37C1C2EA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C5D8755-C6C8-3CBC-741C-B115E95B282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CEEB3183-CB2F-666D-7A0E-E0D6E4249AB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FE13F0B-B949-56E9-4E78-51DE3DC327E9}"/>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Installation of Matplotlib:</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Let’s check how to set up the Matplotlib in Google </a:t>
            </a:r>
            <a:r>
              <a:rPr lang="en-US" sz="2000" dirty="0" err="1">
                <a:solidFill>
                  <a:srgbClr val="0C0D03"/>
                </a:solidFill>
                <a:latin typeface="Times New Roman" panose="02020603050405020304" pitchFamily="18" charset="0"/>
                <a:cs typeface="Times New Roman" panose="02020603050405020304" pitchFamily="18" charset="0"/>
              </a:rPr>
              <a:t>Colab</a:t>
            </a:r>
            <a:r>
              <a:rPr lang="en-US" sz="2000" dirty="0">
                <a:solidFill>
                  <a:srgbClr val="0C0D03"/>
                </a:solidFill>
                <a:latin typeface="Times New Roman" panose="02020603050405020304" pitchFamily="18" charset="0"/>
                <a:cs typeface="Times New Roman" panose="02020603050405020304" pitchFamily="18" charset="0"/>
              </a:rPr>
              <a:t>. </a:t>
            </a:r>
            <a:r>
              <a:rPr lang="en-US" sz="2000" dirty="0" err="1">
                <a:solidFill>
                  <a:srgbClr val="0C0D03"/>
                </a:solidFill>
                <a:latin typeface="Times New Roman" panose="02020603050405020304" pitchFamily="18" charset="0"/>
                <a:cs typeface="Times New Roman" panose="02020603050405020304" pitchFamily="18" charset="0"/>
              </a:rPr>
              <a:t>Colab</a:t>
            </a:r>
            <a:r>
              <a:rPr lang="en-US" sz="2000" dirty="0">
                <a:solidFill>
                  <a:srgbClr val="0C0D03"/>
                </a:solidFill>
                <a:latin typeface="Times New Roman" panose="02020603050405020304" pitchFamily="18" charset="0"/>
                <a:cs typeface="Times New Roman" panose="02020603050405020304" pitchFamily="18" charset="0"/>
              </a:rPr>
              <a:t> Notebooks are similar to </a:t>
            </a:r>
            <a:r>
              <a:rPr lang="en-US" sz="2000" dirty="0" err="1">
                <a:solidFill>
                  <a:srgbClr val="0C0D03"/>
                </a:solidFill>
                <a:latin typeface="Times New Roman" panose="02020603050405020304" pitchFamily="18" charset="0"/>
                <a:cs typeface="Times New Roman" panose="02020603050405020304" pitchFamily="18" charset="0"/>
              </a:rPr>
              <a:t>Jupyter</a:t>
            </a:r>
            <a:r>
              <a:rPr lang="en-US" sz="2000" dirty="0">
                <a:solidFill>
                  <a:srgbClr val="0C0D03"/>
                </a:solidFill>
                <a:latin typeface="Times New Roman" panose="02020603050405020304" pitchFamily="18" charset="0"/>
                <a:cs typeface="Times New Roman" panose="02020603050405020304" pitchFamily="18" charset="0"/>
              </a:rPr>
              <a:t> Notebooks except for running on the cloud. It is also connected to our Google Drive, making it much easier to access our </a:t>
            </a:r>
            <a:r>
              <a:rPr lang="en-US" sz="2000" dirty="0" err="1">
                <a:solidFill>
                  <a:srgbClr val="0C0D03"/>
                </a:solidFill>
                <a:latin typeface="Times New Roman" panose="02020603050405020304" pitchFamily="18" charset="0"/>
                <a:cs typeface="Times New Roman" panose="02020603050405020304" pitchFamily="18" charset="0"/>
              </a:rPr>
              <a:t>Colab</a:t>
            </a:r>
            <a:r>
              <a:rPr lang="en-US" sz="2000" dirty="0">
                <a:solidFill>
                  <a:srgbClr val="0C0D03"/>
                </a:solidFill>
                <a:latin typeface="Times New Roman" panose="02020603050405020304" pitchFamily="18" charset="0"/>
                <a:cs typeface="Times New Roman" panose="02020603050405020304" pitchFamily="18" charset="0"/>
              </a:rPr>
              <a:t> notebooks anytime, anywhere, and on any system. You can install Matplotlib by using the PIP command.</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FF6F54A-B6D3-BB39-CEFB-A7E18E31D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5281703"/>
            <a:ext cx="5989634" cy="615073"/>
          </a:xfrm>
          <a:prstGeom prst="rect">
            <a:avLst/>
          </a:prstGeom>
        </p:spPr>
      </p:pic>
      <p:pic>
        <p:nvPicPr>
          <p:cNvPr id="5" name="Picture 4">
            <a:extLst>
              <a:ext uri="{FF2B5EF4-FFF2-40B4-BE49-F238E27FC236}">
                <a16:creationId xmlns:a16="http://schemas.microsoft.com/office/drawing/2014/main" id="{AF15539B-3A17-A687-4884-41F40368E815}"/>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4690040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B3BE8-606E-193C-7B03-DDB557197C2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F7DA6F7-2413-0186-CDB6-EF93CF85A8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C132E94-8AF2-71B0-54A7-C3F1B56B298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8A5FAA5-ACBE-63AC-6390-DD67C053C29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2830BA2-4236-0288-BDE8-3D30535C2A52}"/>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To verify the installation, you would have to write the following code chunk:</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different categories of plots that Matplotlib provides.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Line plot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Histogram</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Bar Chart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Scatter plot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Pie charts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Boxplot</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DE85142-2377-6256-EB08-AFA75C6E2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941" y="3084278"/>
            <a:ext cx="5929710" cy="776770"/>
          </a:xfrm>
          <a:prstGeom prst="rect">
            <a:avLst/>
          </a:prstGeom>
        </p:spPr>
      </p:pic>
      <p:pic>
        <p:nvPicPr>
          <p:cNvPr id="5" name="Picture 4">
            <a:extLst>
              <a:ext uri="{FF2B5EF4-FFF2-40B4-BE49-F238E27FC236}">
                <a16:creationId xmlns:a16="http://schemas.microsoft.com/office/drawing/2014/main" id="{A742B412-5CB0-01D6-32F4-E2052DEFA681}"/>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083098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4F62-2E62-3506-D649-133642BD123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D06CE38-EE2A-2A4A-2DCE-82EA651F75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919F829-055A-A83A-4E43-1244DBA03ED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91DDC1B-BD98-BBCA-B3C4-7ADD6CFB6F7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C16A7EF-E4C6-54DD-4EAC-784AB8AAAAD5}"/>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14:</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Matplotlib is used to:</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Create figures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Display plots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Set titles, labels, axes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Show graphs on screen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is Seaborn: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Seaborn is a Python library built on top of Matplotlib</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It provides: </a:t>
            </a:r>
            <a:r>
              <a:rPr lang="en-US" sz="2000" dirty="0">
                <a:solidFill>
                  <a:srgbClr val="0C0D03"/>
                </a:solidFill>
                <a:latin typeface="Times New Roman" panose="02020603050405020304" pitchFamily="18" charset="0"/>
                <a:cs typeface="Times New Roman" panose="02020603050405020304" pitchFamily="18" charset="0"/>
              </a:rPr>
              <a:t>More beautiful plots and Statistical visualizations and Less code for complex graphs</a:t>
            </a:r>
          </a:p>
        </p:txBody>
      </p:sp>
      <p:pic>
        <p:nvPicPr>
          <p:cNvPr id="5" name="Picture 4">
            <a:extLst>
              <a:ext uri="{FF2B5EF4-FFF2-40B4-BE49-F238E27FC236}">
                <a16:creationId xmlns:a16="http://schemas.microsoft.com/office/drawing/2014/main" id="{B73B2B1A-730B-93E7-647C-C757636EBDB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202642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CD350-09DD-BB54-37A4-B565EEF65A5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8D5B7C9-4AFA-143A-929C-3A5B529E73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4FA836A-3FCC-9A21-284E-A512E981391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561FEBC-B3E2-79A6-40FC-6E4A2302536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:14</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59A5F31-34BA-84B8-6255-964BE9F6466A}"/>
              </a:ext>
            </a:extLst>
          </p:cNvPr>
          <p:cNvSpPr/>
          <p:nvPr/>
        </p:nvSpPr>
        <p:spPr bwMode="auto">
          <a:xfrm>
            <a:off x="419510" y="2060848"/>
            <a:ext cx="8313328" cy="424880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Seaborn is used to:</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Plot distributions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Create boxplots, histograms, heatmaps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Visualize relationships between variables</a:t>
            </a: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In this project( heart disease ) these libraries are used to:</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Visualize age distribution</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Compare blood pressure vs blood sugar</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Show cholesterol vs heart rate</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Display correlation heatmap</a:t>
            </a:r>
          </a:p>
          <a:p>
            <a:pPr marL="0" marR="0" indent="0" algn="just" defTabSz="914400" rtl="0" eaLnBrk="1" fontAlgn="base" latinLnBrk="0" hangingPunct="1">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These visualizations help:</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Understand data patterns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Detect outliers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Support modeling decisions</a:t>
            </a:r>
          </a:p>
        </p:txBody>
      </p:sp>
      <p:pic>
        <p:nvPicPr>
          <p:cNvPr id="5" name="Picture 4">
            <a:extLst>
              <a:ext uri="{FF2B5EF4-FFF2-40B4-BE49-F238E27FC236}">
                <a16:creationId xmlns:a16="http://schemas.microsoft.com/office/drawing/2014/main" id="{B3A8CA86-56A1-BA44-EC76-9719735149B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81170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3E95-F6FC-D27B-D2CC-01A9B084BC4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CDC914D-8A7E-46B4-9B5F-FF84987D42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EAADBB1-9CD2-9E7C-C3F7-A50CF36948E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EC36337-BC52-03EE-873F-71563464F1A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4E4F0C5-71E5-B542-5365-612C798BFA08}"/>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 Age Distribution</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plt.figure</a:t>
            </a:r>
            <a:r>
              <a:rPr lang="en-US" sz="2000" dirty="0">
                <a:solidFill>
                  <a:srgbClr val="0C0D03"/>
                </a:solidFill>
                <a:latin typeface="Times New Roman" panose="02020603050405020304" pitchFamily="18" charset="0"/>
                <a:cs typeface="Times New Roman" panose="02020603050405020304" pitchFamily="18" charset="0"/>
              </a:rPr>
              <a:t>() creates a new, empty figure (plot window) where graphs will be drawn.</a:t>
            </a: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Why Do We Need </a:t>
            </a:r>
            <a:r>
              <a:rPr lang="en-US" sz="2000" b="1" dirty="0" err="1">
                <a:solidFill>
                  <a:srgbClr val="0C0D03"/>
                </a:solidFill>
                <a:latin typeface="Times New Roman" panose="02020603050405020304" pitchFamily="18" charset="0"/>
                <a:cs typeface="Times New Roman" panose="02020603050405020304" pitchFamily="18" charset="0"/>
              </a:rPr>
              <a:t>plt.figure</a:t>
            </a:r>
            <a:r>
              <a:rPr lang="en-US" sz="2000" b="1" dirty="0">
                <a:solidFill>
                  <a:srgbClr val="0C0D03"/>
                </a:solidFill>
                <a:latin typeface="Times New Roman" panose="02020603050405020304" pitchFamily="18" charset="0"/>
                <a:cs typeface="Times New Roman" panose="02020603050405020304" pitchFamily="18" charset="0"/>
              </a:rPr>
              <a:t>() : </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Without </a:t>
            </a:r>
            <a:r>
              <a:rPr lang="en-US" sz="2000" dirty="0" err="1">
                <a:solidFill>
                  <a:srgbClr val="0C0D03"/>
                </a:solidFill>
                <a:latin typeface="Times New Roman" panose="02020603050405020304" pitchFamily="18" charset="0"/>
                <a:cs typeface="Times New Roman" panose="02020603050405020304" pitchFamily="18" charset="0"/>
              </a:rPr>
              <a:t>plt.figure</a:t>
            </a:r>
            <a:r>
              <a:rPr lang="en-US" sz="2000" dirty="0">
                <a:solidFill>
                  <a:srgbClr val="0C0D03"/>
                </a:solidFill>
                <a:latin typeface="Times New Roman" panose="02020603050405020304" pitchFamily="18" charset="0"/>
                <a:cs typeface="Times New Roman" panose="02020603050405020304" pitchFamily="18" charset="0"/>
              </a:rPr>
              <a:t>():</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New plots may be drawn on top of old plots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Graphs may overlap and become unclear</a:t>
            </a: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With </a:t>
            </a:r>
            <a:r>
              <a:rPr lang="en-US" sz="2000" b="1" dirty="0" err="1">
                <a:solidFill>
                  <a:srgbClr val="0C0D03"/>
                </a:solidFill>
                <a:latin typeface="Times New Roman" panose="02020603050405020304" pitchFamily="18" charset="0"/>
                <a:cs typeface="Times New Roman" panose="02020603050405020304" pitchFamily="18" charset="0"/>
              </a:rPr>
              <a:t>plt.figure</a:t>
            </a:r>
            <a:r>
              <a:rPr lang="en-US" sz="2000" b="1" dirty="0">
                <a:solidFill>
                  <a:srgbClr val="0C0D03"/>
                </a:solidFill>
                <a:latin typeface="Times New Roman" panose="02020603050405020304" pitchFamily="18" charset="0"/>
                <a:cs typeface="Times New Roman" panose="02020603050405020304" pitchFamily="18" charset="0"/>
              </a:rPr>
              <a:t>():</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Each plot is drawn separately</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Graphs are clean and readable</a:t>
            </a:r>
          </a:p>
        </p:txBody>
      </p:sp>
      <p:pic>
        <p:nvPicPr>
          <p:cNvPr id="9" name="Picture 8">
            <a:extLst>
              <a:ext uri="{FF2B5EF4-FFF2-40B4-BE49-F238E27FC236}">
                <a16:creationId xmlns:a16="http://schemas.microsoft.com/office/drawing/2014/main" id="{805D0D52-30DA-1565-5A5A-F0DDC4173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717266"/>
            <a:ext cx="2986751" cy="567718"/>
          </a:xfrm>
          <a:prstGeom prst="rect">
            <a:avLst/>
          </a:prstGeom>
        </p:spPr>
      </p:pic>
      <p:pic>
        <p:nvPicPr>
          <p:cNvPr id="5" name="Picture 4">
            <a:extLst>
              <a:ext uri="{FF2B5EF4-FFF2-40B4-BE49-F238E27FC236}">
                <a16:creationId xmlns:a16="http://schemas.microsoft.com/office/drawing/2014/main" id="{680EF2D5-69A0-2255-44FD-730F625FD470}"/>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9732838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18316-1666-3095-5A54-9A4DD3A434F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2D22925-775A-D110-696C-B0D3CF5DFC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4884D99-F652-6572-48D7-6A0C23F769A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CAB72B48-CEC3-7FD7-7394-6EBD1EF3B11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DADE3A5-2747-8622-D11F-B9416190EDEA}"/>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 Age Distribution</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plt.figure</a:t>
            </a:r>
            <a:r>
              <a:rPr lang="en-US" sz="2000" b="1" dirty="0">
                <a:solidFill>
                  <a:srgbClr val="0C0D03"/>
                </a:solidFill>
                <a:latin typeface="Times New Roman" panose="02020603050405020304" pitchFamily="18" charset="0"/>
                <a:cs typeface="Times New Roman" panose="02020603050405020304" pitchFamily="18" charset="0"/>
              </a:rPr>
              <a:t>() → opens a new figure</a:t>
            </a:r>
          </a:p>
          <a:p>
            <a:pPr marL="0" marR="0" indent="0" algn="just" defTabSz="914400" rtl="0" eaLnBrk="1" fontAlgn="base" latinLnBrk="0" hangingPunct="1">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sns.histplot</a:t>
            </a:r>
            <a:r>
              <a:rPr lang="en-US" sz="2000" b="1" dirty="0">
                <a:solidFill>
                  <a:srgbClr val="0C0D03"/>
                </a:solidFill>
                <a:latin typeface="Times New Roman" panose="02020603050405020304" pitchFamily="18" charset="0"/>
                <a:cs typeface="Times New Roman" panose="02020603050405020304" pitchFamily="18" charset="0"/>
              </a:rPr>
              <a:t>() → draws the histogram</a:t>
            </a:r>
          </a:p>
          <a:p>
            <a:pPr marL="0" marR="0" indent="0" algn="just" defTabSz="914400" rtl="0" eaLnBrk="1" fontAlgn="base" latinLnBrk="0" hangingPunct="1">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plt.title</a:t>
            </a:r>
            <a:r>
              <a:rPr lang="en-US" sz="2000" b="1" dirty="0">
                <a:solidFill>
                  <a:srgbClr val="0C0D03"/>
                </a:solidFill>
                <a:latin typeface="Times New Roman" panose="02020603050405020304" pitchFamily="18" charset="0"/>
                <a:cs typeface="Times New Roman" panose="02020603050405020304" pitchFamily="18" charset="0"/>
              </a:rPr>
              <a:t>() → adds a title</a:t>
            </a:r>
          </a:p>
          <a:p>
            <a:pPr marL="0" marR="0" indent="0" algn="just" defTabSz="914400" rtl="0" eaLnBrk="1" fontAlgn="base" latinLnBrk="0" hangingPunct="1">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plt.show</a:t>
            </a:r>
            <a:r>
              <a:rPr lang="en-US" sz="2000" b="1" dirty="0">
                <a:solidFill>
                  <a:srgbClr val="0C0D03"/>
                </a:solidFill>
                <a:latin typeface="Times New Roman" panose="02020603050405020304" pitchFamily="18" charset="0"/>
                <a:cs typeface="Times New Roman" panose="02020603050405020304" pitchFamily="18" charset="0"/>
              </a:rPr>
              <a:t>() → displays the figure</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43E3E04-7126-62A2-F119-D0C9406EA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59" y="2794868"/>
            <a:ext cx="4612195" cy="1542071"/>
          </a:xfrm>
          <a:prstGeom prst="rect">
            <a:avLst/>
          </a:prstGeom>
        </p:spPr>
      </p:pic>
      <p:pic>
        <p:nvPicPr>
          <p:cNvPr id="5" name="Picture 4">
            <a:extLst>
              <a:ext uri="{FF2B5EF4-FFF2-40B4-BE49-F238E27FC236}">
                <a16:creationId xmlns:a16="http://schemas.microsoft.com/office/drawing/2014/main" id="{4FFA65F1-2C8E-2E0A-73C6-52B7FCD273F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1726822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14BA6-63AC-D870-D9F8-0B082B283F2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E2F17D8-6F52-CBB1-89E0-2141D93C39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C2B4422-16D8-F699-68B5-2F1DA941571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F00E5E1-627C-35CB-D3E1-443172A7C0B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FAADD4F-A3B0-37ED-246E-3DE82930FD0C}"/>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 Age Distribution</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a:t>
            </a:r>
          </a:p>
        </p:txBody>
      </p:sp>
      <p:pic>
        <p:nvPicPr>
          <p:cNvPr id="1028" name="Picture 4">
            <a:extLst>
              <a:ext uri="{FF2B5EF4-FFF2-40B4-BE49-F238E27FC236}">
                <a16:creationId xmlns:a16="http://schemas.microsoft.com/office/drawing/2014/main" id="{E76CC0B0-704F-D577-DEC2-CC6BAFB5E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2671965"/>
            <a:ext cx="4392488" cy="35001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90DE99-693D-2109-6A49-567C31DBE0D0}"/>
              </a:ext>
            </a:extLst>
          </p:cNvPr>
          <p:cNvSpPr txBox="1"/>
          <p:nvPr/>
        </p:nvSpPr>
        <p:spPr>
          <a:xfrm>
            <a:off x="387970" y="2983160"/>
            <a:ext cx="3856487" cy="2554545"/>
          </a:xfrm>
          <a:prstGeom prst="rect">
            <a:avLst/>
          </a:prstGeom>
          <a:noFill/>
        </p:spPr>
        <p:txBody>
          <a:bodyPr wrap="square" rtlCol="0">
            <a:spAutoFit/>
          </a:bodyPr>
          <a:lstStyle/>
          <a:p>
            <a:pPr algn="l"/>
            <a:r>
              <a:rPr lang="en-US" sz="2000" dirty="0">
                <a:solidFill>
                  <a:srgbClr val="0C0D03"/>
                </a:solidFill>
                <a:latin typeface="Times New Roman" panose="02020603050405020304" pitchFamily="18" charset="0"/>
                <a:cs typeface="Times New Roman" panose="02020603050405020304" pitchFamily="18" charset="0"/>
              </a:rPr>
              <a:t>This chart shows the distribution of patient ages in the heart disease dataset.</a:t>
            </a:r>
            <a:br>
              <a:rPr lang="en-US" sz="2000" dirty="0">
                <a:solidFill>
                  <a:srgbClr val="0C0D03"/>
                </a:solidFill>
                <a:latin typeface="Times New Roman" panose="02020603050405020304" pitchFamily="18" charset="0"/>
                <a:cs typeface="Times New Roman" panose="02020603050405020304" pitchFamily="18" charset="0"/>
              </a:rPr>
            </a:br>
            <a:r>
              <a:rPr lang="en-US" sz="2000" dirty="0">
                <a:solidFill>
                  <a:srgbClr val="0C0D03"/>
                </a:solidFill>
                <a:latin typeface="Times New Roman" panose="02020603050405020304" pitchFamily="18" charset="0"/>
                <a:cs typeface="Times New Roman" panose="02020603050405020304" pitchFamily="18" charset="0"/>
              </a:rPr>
              <a:t>The histogram represents the frequency of patients within different age ranges, while the smooth curve (KDE) illustrates the overall age distribution trend.</a:t>
            </a:r>
          </a:p>
        </p:txBody>
      </p:sp>
      <p:pic>
        <p:nvPicPr>
          <p:cNvPr id="6" name="Picture 5">
            <a:extLst>
              <a:ext uri="{FF2B5EF4-FFF2-40B4-BE49-F238E27FC236}">
                <a16:creationId xmlns:a16="http://schemas.microsoft.com/office/drawing/2014/main" id="{7285301F-2BC2-3213-CD32-71AC86CAAFFC}"/>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457844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019ED-C2D9-54E8-66A9-C3616294362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CFA7BA6-4259-CCA5-6E4A-45CC7BB8E7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54B5916-7BBA-F1BD-7EC8-AC1BCF0D558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AFF388C-5F9D-90F4-3EC4-4621154BF8B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843F12E-8E62-6F2E-FEFE-B01A234A489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 Age Distribution</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a:t>
            </a:r>
          </a:p>
        </p:txBody>
      </p:sp>
      <p:pic>
        <p:nvPicPr>
          <p:cNvPr id="1028" name="Picture 4">
            <a:extLst>
              <a:ext uri="{FF2B5EF4-FFF2-40B4-BE49-F238E27FC236}">
                <a16:creationId xmlns:a16="http://schemas.microsoft.com/office/drawing/2014/main" id="{B0189E93-F9E6-52F9-4071-D4812AE28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1454" y="2699978"/>
            <a:ext cx="2303036" cy="25292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020F7F-26B4-3A3F-0025-AE3B256FC1F8}"/>
              </a:ext>
            </a:extLst>
          </p:cNvPr>
          <p:cNvSpPr txBox="1"/>
          <p:nvPr/>
        </p:nvSpPr>
        <p:spPr>
          <a:xfrm>
            <a:off x="419510" y="2845138"/>
            <a:ext cx="6033484" cy="3477875"/>
          </a:xfrm>
          <a:prstGeom prst="rect">
            <a:avLst/>
          </a:prstGeom>
          <a:noFill/>
        </p:spPr>
        <p:txBody>
          <a:bodyPr wrap="square" rtlCol="0">
            <a:spAutoFit/>
          </a:bodyPr>
          <a:lstStyle/>
          <a:p>
            <a:pPr algn="l"/>
            <a:r>
              <a:rPr lang="en-US" sz="2000" b="1" dirty="0">
                <a:solidFill>
                  <a:srgbClr val="0C0D03"/>
                </a:solidFill>
                <a:latin typeface="Times New Roman" panose="02020603050405020304" pitchFamily="18" charset="0"/>
                <a:cs typeface="Times New Roman" panose="02020603050405020304" pitchFamily="18" charset="0"/>
              </a:rPr>
              <a:t>Key observations:</a:t>
            </a:r>
          </a:p>
          <a:p>
            <a:pPr algn="l"/>
            <a:r>
              <a:rPr lang="en-US" sz="2000" dirty="0">
                <a:solidFill>
                  <a:srgbClr val="0C0D03"/>
                </a:solidFill>
                <a:latin typeface="Times New Roman" panose="02020603050405020304" pitchFamily="18" charset="0"/>
                <a:cs typeface="Times New Roman" panose="02020603050405020304" pitchFamily="18" charset="0"/>
              </a:rPr>
              <a:t>Most patients are between 45 and 65 years old.</a:t>
            </a:r>
          </a:p>
          <a:p>
            <a:pPr algn="l"/>
            <a:r>
              <a:rPr lang="en-US" sz="2000" dirty="0">
                <a:solidFill>
                  <a:srgbClr val="0C0D03"/>
                </a:solidFill>
                <a:latin typeface="Times New Roman" panose="02020603050405020304" pitchFamily="18" charset="0"/>
                <a:cs typeface="Times New Roman" panose="02020603050405020304" pitchFamily="18" charset="0"/>
              </a:rPr>
              <a:t>The distribution is approximately normal (bell-shaped).</a:t>
            </a:r>
          </a:p>
          <a:p>
            <a:pPr algn="l"/>
            <a:r>
              <a:rPr lang="en-US" sz="2000" dirty="0">
                <a:solidFill>
                  <a:srgbClr val="0C0D03"/>
                </a:solidFill>
                <a:latin typeface="Times New Roman" panose="02020603050405020304" pitchFamily="18" charset="0"/>
                <a:cs typeface="Times New Roman" panose="02020603050405020304" pitchFamily="18" charset="0"/>
              </a:rPr>
              <a:t>Very few patients are younger than 30 or older than 75.</a:t>
            </a:r>
          </a:p>
          <a:p>
            <a:pPr algn="l"/>
            <a:r>
              <a:rPr lang="en-US" sz="2000" b="1" dirty="0">
                <a:solidFill>
                  <a:srgbClr val="0C0D03"/>
                </a:solidFill>
                <a:latin typeface="Times New Roman" panose="02020603050405020304" pitchFamily="18" charset="0"/>
                <a:cs typeface="Times New Roman" panose="02020603050405020304" pitchFamily="18" charset="0"/>
              </a:rPr>
              <a:t>Relevance to classification:</a:t>
            </a:r>
            <a:br>
              <a:rPr lang="en-US" sz="2000" dirty="0">
                <a:solidFill>
                  <a:srgbClr val="0C0D03"/>
                </a:solidFill>
                <a:latin typeface="Times New Roman" panose="02020603050405020304" pitchFamily="18" charset="0"/>
                <a:cs typeface="Times New Roman" panose="02020603050405020304" pitchFamily="18" charset="0"/>
              </a:rPr>
            </a:br>
            <a:r>
              <a:rPr lang="en-US" sz="2000" dirty="0">
                <a:solidFill>
                  <a:srgbClr val="0C0D03"/>
                </a:solidFill>
                <a:latin typeface="Times New Roman" panose="02020603050405020304" pitchFamily="18" charset="0"/>
                <a:cs typeface="Times New Roman" panose="02020603050405020304" pitchFamily="18" charset="0"/>
              </a:rPr>
              <a:t>Age is an important feature in heart disease prediction, as the likelihood of heart disease generally increases with age. Understanding the age distribution helps ensure that the classification model is trained on a representative population and can learn meaningful patterns related to age</a:t>
            </a:r>
          </a:p>
        </p:txBody>
      </p:sp>
      <p:pic>
        <p:nvPicPr>
          <p:cNvPr id="6" name="Picture 5">
            <a:extLst>
              <a:ext uri="{FF2B5EF4-FFF2-40B4-BE49-F238E27FC236}">
                <a16:creationId xmlns:a16="http://schemas.microsoft.com/office/drawing/2014/main" id="{052CC92D-7B62-E821-ED36-BDC2A2355BF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661796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7DC4-F1AB-FA4D-00A1-49695EBF528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B896785-E703-7AD0-D973-5805362DE7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7F5CDEB-AD7A-4DF4-917D-D47910AE3C1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7022E21-5A94-AFF3-5BFB-CD30C94C673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F5A3CA8-3978-6539-A406-3CF638846249}"/>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Age Distribution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Shows age distribution and density.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65564AB-7DB0-3C27-5146-A63736ADC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3184231"/>
            <a:ext cx="6659383" cy="748245"/>
          </a:xfrm>
          <a:prstGeom prst="rect">
            <a:avLst/>
          </a:prstGeom>
        </p:spPr>
      </p:pic>
      <p:pic>
        <p:nvPicPr>
          <p:cNvPr id="5" name="Picture 4">
            <a:extLst>
              <a:ext uri="{FF2B5EF4-FFF2-40B4-BE49-F238E27FC236}">
                <a16:creationId xmlns:a16="http://schemas.microsoft.com/office/drawing/2014/main" id="{E1834023-FD3D-EF0B-36E4-5C1F3D43BF7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0534951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FE69-1E7A-A81B-37B2-DBCA8353BA7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B63B894-D4C3-3E14-33F2-3600582BAE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1D0FE97-6DDC-A757-8EB5-F2FE1B7C50C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C8FC0676-77C9-2713-3F37-B0A7914089C3}"/>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85661B7-AB6D-0ADA-0803-28F04C69BA31}"/>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Blood Pressure vs FBS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Compares blood pressure by sugar level.</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04E80C1-D648-55CD-8001-1C8160EC5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3320195"/>
            <a:ext cx="6336704" cy="872823"/>
          </a:xfrm>
          <a:prstGeom prst="rect">
            <a:avLst/>
          </a:prstGeom>
        </p:spPr>
      </p:pic>
      <p:pic>
        <p:nvPicPr>
          <p:cNvPr id="5" name="Picture 4">
            <a:extLst>
              <a:ext uri="{FF2B5EF4-FFF2-40B4-BE49-F238E27FC236}">
                <a16:creationId xmlns:a16="http://schemas.microsoft.com/office/drawing/2014/main" id="{FD06BD56-89F5-C425-8035-A4A8C8BC70E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921171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D6701-480B-9318-557C-8C7CA1AB27B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E7C9521-D2AE-A75E-BD78-02573918A8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2217060-9472-1B70-318D-3C80D569E77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51594CB-6154-B853-DAE0-9DB68810B76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BF11114-C46B-469B-EC79-2C08AAE857F6}"/>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Blood Pressure vs FBS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4B531DF6-691A-17BD-5D4F-B9D49F609B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826" y="2759946"/>
            <a:ext cx="4171664" cy="33241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A80C24E-C637-D955-FC8D-89242174E77E}"/>
              </a:ext>
            </a:extLst>
          </p:cNvPr>
          <p:cNvSpPr txBox="1"/>
          <p:nvPr/>
        </p:nvSpPr>
        <p:spPr>
          <a:xfrm>
            <a:off x="421078" y="3212976"/>
            <a:ext cx="3720442" cy="1631216"/>
          </a:xfrm>
          <a:prstGeom prst="rect">
            <a:avLst/>
          </a:prstGeom>
          <a:noFill/>
        </p:spPr>
        <p:txBody>
          <a:bodyPr wrap="square" rtlCol="0">
            <a:spAutoFit/>
          </a:bodyPr>
          <a:lstStyle/>
          <a:p>
            <a:pPr algn="l"/>
            <a:r>
              <a:rPr lang="en-US" sz="2000" dirty="0">
                <a:solidFill>
                  <a:srgbClr val="0C0D03"/>
                </a:solidFill>
                <a:latin typeface="Times New Roman" panose="02020603050405020304" pitchFamily="18" charset="0"/>
                <a:cs typeface="Times New Roman" panose="02020603050405020304" pitchFamily="18" charset="0"/>
              </a:rPr>
              <a:t>This box plot compares resting blood pressure (</a:t>
            </a:r>
            <a:r>
              <a:rPr lang="en-US" sz="2000" dirty="0" err="1">
                <a:solidFill>
                  <a:srgbClr val="0C0D03"/>
                </a:solidFill>
                <a:latin typeface="Times New Roman" panose="02020603050405020304" pitchFamily="18" charset="0"/>
                <a:cs typeface="Times New Roman" panose="02020603050405020304" pitchFamily="18" charset="0"/>
              </a:rPr>
              <a:t>trestbps</a:t>
            </a:r>
            <a:r>
              <a:rPr lang="en-US" sz="2000" dirty="0">
                <a:solidFill>
                  <a:srgbClr val="0C0D03"/>
                </a:solidFill>
                <a:latin typeface="Times New Roman" panose="02020603050405020304" pitchFamily="18" charset="0"/>
                <a:cs typeface="Times New Roman" panose="02020603050405020304" pitchFamily="18" charset="0"/>
              </a:rPr>
              <a:t>) between patients with normal fasting blood sugar and those with elevated fasting blood sugar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C6D5E247-66E1-D429-49C1-EBF3A99ED6F1}"/>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711949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8FBA-F3DD-4FF1-CA9F-CA45439BEE6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C3DEEA2-71CE-6F54-041F-1143B01C28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6B7285E-F5EF-B0AE-D041-41CD457BD74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58192E5-D461-1984-2E1B-468EE52F9711}"/>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D88E953-DD0E-FFB3-2748-25C791EF3A21}"/>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Blood Pressure vs FBS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91700E39-0A9A-F902-1CE1-05E91E76B2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9785" y="2070223"/>
            <a:ext cx="1999869" cy="15935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8AF7C95-9FA5-71E9-12B1-BDEE778AFF48}"/>
              </a:ext>
            </a:extLst>
          </p:cNvPr>
          <p:cNvSpPr txBox="1"/>
          <p:nvPr/>
        </p:nvSpPr>
        <p:spPr>
          <a:xfrm>
            <a:off x="419510" y="3106698"/>
            <a:ext cx="8472971" cy="3477875"/>
          </a:xfrm>
          <a:prstGeom prst="rect">
            <a:avLst/>
          </a:prstGeom>
          <a:noFill/>
        </p:spPr>
        <p:txBody>
          <a:bodyPr wrap="square" rtlCol="0">
            <a:spAutoFit/>
          </a:bodyPr>
          <a:lstStyle/>
          <a:p>
            <a:pPr algn="l"/>
            <a:r>
              <a:rPr lang="en-US" sz="2000" b="1" dirty="0">
                <a:solidFill>
                  <a:srgbClr val="0C0D03"/>
                </a:solidFill>
                <a:latin typeface="Times New Roman" panose="02020603050405020304" pitchFamily="18" charset="0"/>
                <a:cs typeface="Times New Roman" panose="02020603050405020304" pitchFamily="18" charset="0"/>
              </a:rPr>
              <a:t>Key observations:</a:t>
            </a:r>
          </a:p>
          <a:p>
            <a:pPr algn="l"/>
            <a:r>
              <a:rPr lang="en-US" sz="2000" dirty="0">
                <a:solidFill>
                  <a:srgbClr val="0C0D03"/>
                </a:solidFill>
                <a:latin typeface="Times New Roman" panose="02020603050405020304" pitchFamily="18" charset="0"/>
                <a:cs typeface="Times New Roman" panose="02020603050405020304" pitchFamily="18" charset="0"/>
              </a:rPr>
              <a:t>Patients with high fasting blood sugar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 True) tend to have a higher median resting blood pressure.</a:t>
            </a:r>
          </a:p>
          <a:p>
            <a:pPr algn="l"/>
            <a:r>
              <a:rPr lang="en-US" sz="2000" dirty="0">
                <a:solidFill>
                  <a:srgbClr val="0C0D03"/>
                </a:solidFill>
                <a:latin typeface="Times New Roman" panose="02020603050405020304" pitchFamily="18" charset="0"/>
                <a:cs typeface="Times New Roman" panose="02020603050405020304" pitchFamily="18" charset="0"/>
              </a:rPr>
              <a:t>The blood pressure values for the high-FBS group show greater variability.</a:t>
            </a:r>
          </a:p>
          <a:p>
            <a:pPr algn="l"/>
            <a:r>
              <a:rPr lang="en-US" sz="2000" dirty="0">
                <a:solidFill>
                  <a:srgbClr val="0C0D03"/>
                </a:solidFill>
                <a:latin typeface="Times New Roman" panose="02020603050405020304" pitchFamily="18" charset="0"/>
                <a:cs typeface="Times New Roman" panose="02020603050405020304" pitchFamily="18" charset="0"/>
              </a:rPr>
              <a:t>Outliers are present in both groups, indicating unusually high or low blood pressure readings.</a:t>
            </a:r>
          </a:p>
          <a:p>
            <a:pPr algn="l"/>
            <a:r>
              <a:rPr lang="en-US" sz="2000" b="1" dirty="0">
                <a:solidFill>
                  <a:srgbClr val="0C0D03"/>
                </a:solidFill>
                <a:latin typeface="Times New Roman" panose="02020603050405020304" pitchFamily="18" charset="0"/>
                <a:cs typeface="Times New Roman" panose="02020603050405020304" pitchFamily="18" charset="0"/>
              </a:rPr>
              <a:t>Relevance to classification:</a:t>
            </a:r>
            <a:br>
              <a:rPr lang="en-US" sz="2000" dirty="0">
                <a:solidFill>
                  <a:srgbClr val="0C0D03"/>
                </a:solidFill>
                <a:latin typeface="Times New Roman" panose="02020603050405020304" pitchFamily="18" charset="0"/>
                <a:cs typeface="Times New Roman" panose="02020603050405020304" pitchFamily="18" charset="0"/>
              </a:rPr>
            </a:br>
            <a:r>
              <a:rPr lang="en-US" sz="2000" dirty="0">
                <a:solidFill>
                  <a:srgbClr val="0C0D03"/>
                </a:solidFill>
                <a:latin typeface="Times New Roman" panose="02020603050405020304" pitchFamily="18" charset="0"/>
                <a:cs typeface="Times New Roman" panose="02020603050405020304" pitchFamily="18" charset="0"/>
              </a:rPr>
              <a:t>This visualization suggests a relationship between blood sugar levels and blood pressure, both of which are important risk factors for heart disease. Such patterns help the classification model learn how combinations of medical features contribute to the prediction of heart disease.</a:t>
            </a:r>
          </a:p>
        </p:txBody>
      </p:sp>
      <p:pic>
        <p:nvPicPr>
          <p:cNvPr id="6" name="Picture 5">
            <a:extLst>
              <a:ext uri="{FF2B5EF4-FFF2-40B4-BE49-F238E27FC236}">
                <a16:creationId xmlns:a16="http://schemas.microsoft.com/office/drawing/2014/main" id="{D00D3FF9-35D1-8DD9-B1AF-1E86B5A3E9D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7183586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A4E4-D098-E5D6-C500-A7516EEBBAB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2A26B6B-008D-1CE9-2E1F-20FCB46D64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2B67B45-5586-521B-E2B4-5525F70A847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AA610202-CBA8-ED8C-CB2B-99A097C628C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31F8296-8304-30C9-C913-CEB45620C4AC}"/>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Cholesterol vs Heart Rate</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Visualizes relationship between cholesterol and heart rate.</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F449325-DBBA-4E8D-F0F6-0DB9C4986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575" y="3123956"/>
            <a:ext cx="7164777" cy="665084"/>
          </a:xfrm>
          <a:prstGeom prst="rect">
            <a:avLst/>
          </a:prstGeom>
        </p:spPr>
      </p:pic>
      <p:pic>
        <p:nvPicPr>
          <p:cNvPr id="5" name="Picture 4">
            <a:extLst>
              <a:ext uri="{FF2B5EF4-FFF2-40B4-BE49-F238E27FC236}">
                <a16:creationId xmlns:a16="http://schemas.microsoft.com/office/drawing/2014/main" id="{BBFCAA84-D3B4-B799-D8D3-9D9E7CB24F80}"/>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08241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6E153-268A-3F7A-6A68-942B6EFB51D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99B3D44-F7D7-532C-3F39-C4B9F9CF74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4278EEA-0318-0895-DF3B-A2D94B53D1D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A7E8744-ACAF-A4A0-61E0-921931603A20}"/>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E02FDA8-F355-6F99-F1B9-363B61A0AEFC}"/>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086F0697-9F55-0ECA-2CD4-3FE9D3C53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3042" y="2706998"/>
            <a:ext cx="4031448" cy="34567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F9885E5-14D5-9174-C9C3-DFFCD4CD840D}"/>
              </a:ext>
            </a:extLst>
          </p:cNvPr>
          <p:cNvSpPr txBox="1"/>
          <p:nvPr/>
        </p:nvSpPr>
        <p:spPr>
          <a:xfrm>
            <a:off x="419510" y="2983160"/>
            <a:ext cx="4273532" cy="1938992"/>
          </a:xfrm>
          <a:prstGeom prst="rect">
            <a:avLst/>
          </a:prstGeom>
          <a:noFill/>
        </p:spPr>
        <p:txBody>
          <a:bodyPr wrap="square" rtlCol="0">
            <a:spAutoFit/>
          </a:bodyPr>
          <a:lstStyle/>
          <a:p>
            <a:pPr algn="l"/>
            <a:r>
              <a:rPr lang="en-US" sz="2000" dirty="0">
                <a:solidFill>
                  <a:srgbClr val="0C0D03"/>
                </a:solidFill>
                <a:latin typeface="Times New Roman" panose="02020603050405020304" pitchFamily="18" charset="0"/>
                <a:cs typeface="Times New Roman" panose="02020603050405020304" pitchFamily="18" charset="0"/>
              </a:rPr>
              <a:t>This scatter plot shows the relationship between cholesterol level (</a:t>
            </a:r>
            <a:r>
              <a:rPr lang="en-US" sz="2000" dirty="0" err="1">
                <a:solidFill>
                  <a:srgbClr val="0C0D03"/>
                </a:solidFill>
                <a:latin typeface="Times New Roman" panose="02020603050405020304" pitchFamily="18" charset="0"/>
                <a:cs typeface="Times New Roman" panose="02020603050405020304" pitchFamily="18" charset="0"/>
              </a:rPr>
              <a:t>chol</a:t>
            </a:r>
            <a:r>
              <a:rPr lang="en-US" sz="2000" dirty="0">
                <a:solidFill>
                  <a:srgbClr val="0C0D03"/>
                </a:solidFill>
                <a:latin typeface="Times New Roman" panose="02020603050405020304" pitchFamily="18" charset="0"/>
                <a:cs typeface="Times New Roman" panose="02020603050405020304" pitchFamily="18" charset="0"/>
              </a:rPr>
              <a:t>) and maximum heart rate achieved (</a:t>
            </a:r>
            <a:r>
              <a:rPr lang="en-US" sz="2000" dirty="0" err="1">
                <a:solidFill>
                  <a:srgbClr val="0C0D03"/>
                </a:solidFill>
                <a:latin typeface="Times New Roman" panose="02020603050405020304" pitchFamily="18" charset="0"/>
                <a:cs typeface="Times New Roman" panose="02020603050405020304" pitchFamily="18" charset="0"/>
              </a:rPr>
              <a:t>thalach</a:t>
            </a:r>
            <a:r>
              <a:rPr lang="en-US" sz="2000" dirty="0">
                <a:solidFill>
                  <a:srgbClr val="0C0D03"/>
                </a:solidFill>
                <a:latin typeface="Times New Roman" panose="02020603050405020304" pitchFamily="18" charset="0"/>
                <a:cs typeface="Times New Roman" panose="02020603050405020304" pitchFamily="18" charset="0"/>
              </a:rPr>
              <a:t>), with points colored based on the presence of exercise-induced angina (</a:t>
            </a:r>
            <a:r>
              <a:rPr lang="en-US" sz="2000" dirty="0" err="1">
                <a:solidFill>
                  <a:srgbClr val="0C0D03"/>
                </a:solidFill>
                <a:latin typeface="Times New Roman" panose="02020603050405020304" pitchFamily="18" charset="0"/>
                <a:cs typeface="Times New Roman" panose="02020603050405020304" pitchFamily="18" charset="0"/>
              </a:rPr>
              <a:t>exang</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4BE35C86-93CD-6502-41A9-ACF48D87AEF7}"/>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349463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70E5-3961-CE4A-AECD-BB2E680C065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F457127-7943-672F-946B-340A135BA9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C561676-54A0-8486-FF58-C1F472A8421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7C273BE-0644-D857-C3D1-DF19C7454B9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188A83A-8C2A-EAAA-E41C-B39CD38526E8}"/>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Data Visualization (EDA)</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0F76E55-3239-B08D-91FA-2A774071014E}"/>
              </a:ext>
            </a:extLst>
          </p:cNvPr>
          <p:cNvSpPr txBox="1"/>
          <p:nvPr/>
        </p:nvSpPr>
        <p:spPr>
          <a:xfrm>
            <a:off x="429462" y="2651373"/>
            <a:ext cx="8463018" cy="3908762"/>
          </a:xfrm>
          <a:prstGeom prst="rect">
            <a:avLst/>
          </a:prstGeom>
          <a:noFill/>
        </p:spPr>
        <p:txBody>
          <a:bodyPr wrap="square" rtlCol="0">
            <a:spAutoFit/>
          </a:bodyPr>
          <a:lstStyle/>
          <a:p>
            <a:pPr algn="l" rtl="0"/>
            <a:r>
              <a:rPr lang="en-US" sz="2400" b="1" dirty="0">
                <a:solidFill>
                  <a:srgbClr val="0C0D03"/>
                </a:solidFill>
                <a:latin typeface="Times New Roman" panose="02020603050405020304" pitchFamily="18" charset="0"/>
                <a:cs typeface="Times New Roman" panose="02020603050405020304" pitchFamily="18" charset="0"/>
              </a:rPr>
              <a:t>Key observations:</a:t>
            </a:r>
          </a:p>
          <a:p>
            <a:pPr algn="l" rtl="0"/>
            <a:r>
              <a:rPr lang="en-US" sz="2000" dirty="0">
                <a:solidFill>
                  <a:srgbClr val="0C0D03"/>
                </a:solidFill>
                <a:latin typeface="Times New Roman" panose="02020603050405020304" pitchFamily="18" charset="0"/>
                <a:cs typeface="Times New Roman" panose="02020603050405020304" pitchFamily="18" charset="0"/>
              </a:rPr>
              <a:t>Patients without exercise-induced angina (</a:t>
            </a:r>
            <a:r>
              <a:rPr lang="en-US" sz="2000" dirty="0" err="1">
                <a:solidFill>
                  <a:srgbClr val="0C0D03"/>
                </a:solidFill>
                <a:latin typeface="Times New Roman" panose="02020603050405020304" pitchFamily="18" charset="0"/>
                <a:cs typeface="Times New Roman" panose="02020603050405020304" pitchFamily="18" charset="0"/>
              </a:rPr>
              <a:t>exang</a:t>
            </a:r>
            <a:r>
              <a:rPr lang="en-US" sz="2000" dirty="0">
                <a:solidFill>
                  <a:srgbClr val="0C0D03"/>
                </a:solidFill>
                <a:latin typeface="Times New Roman" panose="02020603050405020304" pitchFamily="18" charset="0"/>
                <a:cs typeface="Times New Roman" panose="02020603050405020304" pitchFamily="18" charset="0"/>
              </a:rPr>
              <a:t> = False) generally achieve higher maximum heart rates.</a:t>
            </a:r>
          </a:p>
          <a:p>
            <a:pPr algn="l" rtl="0"/>
            <a:r>
              <a:rPr lang="en-US" sz="2000" dirty="0">
                <a:solidFill>
                  <a:srgbClr val="0C0D03"/>
                </a:solidFill>
                <a:latin typeface="Times New Roman" panose="02020603050405020304" pitchFamily="18" charset="0"/>
                <a:cs typeface="Times New Roman" panose="02020603050405020304" pitchFamily="18" charset="0"/>
              </a:rPr>
              <a:t>Patients with exercise-induced angina (</a:t>
            </a:r>
            <a:r>
              <a:rPr lang="en-US" sz="2000" dirty="0" err="1">
                <a:solidFill>
                  <a:srgbClr val="0C0D03"/>
                </a:solidFill>
                <a:latin typeface="Times New Roman" panose="02020603050405020304" pitchFamily="18" charset="0"/>
                <a:cs typeface="Times New Roman" panose="02020603050405020304" pitchFamily="18" charset="0"/>
              </a:rPr>
              <a:t>exang</a:t>
            </a:r>
            <a:r>
              <a:rPr lang="en-US" sz="2000" dirty="0">
                <a:solidFill>
                  <a:srgbClr val="0C0D03"/>
                </a:solidFill>
                <a:latin typeface="Times New Roman" panose="02020603050405020304" pitchFamily="18" charset="0"/>
                <a:cs typeface="Times New Roman" panose="02020603050405020304" pitchFamily="18" charset="0"/>
              </a:rPr>
              <a:t> = True) tend to have lower </a:t>
            </a:r>
            <a:r>
              <a:rPr lang="en-US" sz="2000" dirty="0" err="1">
                <a:solidFill>
                  <a:srgbClr val="0C0D03"/>
                </a:solidFill>
                <a:latin typeface="Times New Roman" panose="02020603050405020304" pitchFamily="18" charset="0"/>
                <a:cs typeface="Times New Roman" panose="02020603050405020304" pitchFamily="18" charset="0"/>
              </a:rPr>
              <a:t>thalach</a:t>
            </a:r>
            <a:r>
              <a:rPr lang="en-US" sz="2000" dirty="0">
                <a:solidFill>
                  <a:srgbClr val="0C0D03"/>
                </a:solidFill>
                <a:latin typeface="Times New Roman" panose="02020603050405020304" pitchFamily="18" charset="0"/>
                <a:cs typeface="Times New Roman" panose="02020603050405020304" pitchFamily="18" charset="0"/>
              </a:rPr>
              <a:t> values, even at similar cholesterol levels.</a:t>
            </a:r>
          </a:p>
          <a:p>
            <a:pPr algn="l" rtl="0"/>
            <a:r>
              <a:rPr lang="en-US" sz="2000" dirty="0">
                <a:solidFill>
                  <a:srgbClr val="0C0D03"/>
                </a:solidFill>
                <a:latin typeface="Times New Roman" panose="02020603050405020304" pitchFamily="18" charset="0"/>
                <a:cs typeface="Times New Roman" panose="02020603050405020304" pitchFamily="18" charset="0"/>
              </a:rPr>
              <a:t>Cholesterol alone does not show a strong linear relationship with maximum heart rate, indicating that multiple features must be considered together.</a:t>
            </a:r>
          </a:p>
          <a:p>
            <a:pPr algn="l" rtl="0"/>
            <a:r>
              <a:rPr lang="en-US" sz="2400" b="1" dirty="0">
                <a:solidFill>
                  <a:srgbClr val="0C0D03"/>
                </a:solidFill>
                <a:latin typeface="Times New Roman" panose="02020603050405020304" pitchFamily="18" charset="0"/>
                <a:cs typeface="Times New Roman" panose="02020603050405020304" pitchFamily="18" charset="0"/>
              </a:rPr>
              <a:t>Relevance to classification:</a:t>
            </a:r>
            <a:br>
              <a:rPr lang="en-US" sz="2400" b="1" dirty="0">
                <a:solidFill>
                  <a:srgbClr val="0C0D03"/>
                </a:solidFill>
                <a:latin typeface="Times New Roman" panose="02020603050405020304" pitchFamily="18" charset="0"/>
                <a:cs typeface="Times New Roman" panose="02020603050405020304" pitchFamily="18" charset="0"/>
              </a:rPr>
            </a:br>
            <a:r>
              <a:rPr lang="en-US" sz="2000" dirty="0">
                <a:solidFill>
                  <a:srgbClr val="0C0D03"/>
                </a:solidFill>
                <a:latin typeface="Times New Roman" panose="02020603050405020304" pitchFamily="18" charset="0"/>
                <a:cs typeface="Times New Roman" panose="02020603050405020304" pitchFamily="18" charset="0"/>
              </a:rPr>
              <a:t>This visualization highlights how combinations of features (cholesterol, heart rate, and exercise-induced angina) help distinguish between different patient conditions. Such interactions are valuable for classification models like Random Forest, which can capture complex, non-linear relationships in medical data.</a:t>
            </a:r>
          </a:p>
        </p:txBody>
      </p:sp>
      <p:pic>
        <p:nvPicPr>
          <p:cNvPr id="6" name="Picture 5">
            <a:extLst>
              <a:ext uri="{FF2B5EF4-FFF2-40B4-BE49-F238E27FC236}">
                <a16:creationId xmlns:a16="http://schemas.microsoft.com/office/drawing/2014/main" id="{B8D9F2E8-4441-3137-F09D-6911CD68593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5862882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147A3-88D8-388C-D1CE-80E90D8D187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31149E1-399C-9A28-0AC6-483E8FB9F3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56968C0-EA51-7C8A-8F22-14387A3DB76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6A2CB6D-C031-1A36-522C-0AEBA29E339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F52F705-AE1C-43D6-E64F-6BE2A6C90A70}"/>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9A6DA18-733F-E873-ACFE-776CEDEEE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366" y="2333987"/>
            <a:ext cx="5201267" cy="1047561"/>
          </a:xfrm>
          <a:prstGeom prst="rect">
            <a:avLst/>
          </a:prstGeom>
        </p:spPr>
      </p:pic>
      <p:sp>
        <p:nvSpPr>
          <p:cNvPr id="7" name="Rectangle 1">
            <a:extLst>
              <a:ext uri="{FF2B5EF4-FFF2-40B4-BE49-F238E27FC236}">
                <a16:creationId xmlns:a16="http://schemas.microsoft.com/office/drawing/2014/main" id="{130B162C-C7D5-2DEA-E9C9-3E1558C7E50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r>
              <a:rPr kumimoji="0" lang="en-US" altLang="en-US" sz="1000" b="0" i="0" u="none" strike="noStrike" cap="none" normalizeH="0" baseline="0" dirty="0" err="1">
                <a:ln>
                  <a:noFill/>
                </a:ln>
                <a:solidFill>
                  <a:schemeClr val="tx1"/>
                </a:solidFill>
                <a:effectLst/>
                <a:latin typeface="Arial Unicode MS"/>
              </a:rPr>
              <a:t>tmp</a:t>
            </a:r>
            <a:r>
              <a:rPr kumimoji="0" lang="en-US" altLang="en-US" sz="1000" b="0" i="0" u="none" strike="noStrike" cap="none" normalizeH="0" baseline="0" dirty="0">
                <a:ln>
                  <a:noFill/>
                </a:ln>
                <a:solidFill>
                  <a:schemeClr val="tx1"/>
                </a:solidFill>
                <a:effectLst/>
                <a:latin typeface="Arial Unicode MS"/>
              </a:rPr>
              <a:t>/ipython-input-659379015.py:2: </a:t>
            </a:r>
            <a:r>
              <a:rPr kumimoji="0" lang="en-US" altLang="en-US" sz="1000" b="0" i="0" u="none" strike="noStrike" cap="none" normalizeH="0" baseline="0" dirty="0" err="1">
                <a:ln>
                  <a:noFill/>
                </a:ln>
                <a:solidFill>
                  <a:schemeClr val="tx1"/>
                </a:solidFill>
                <a:effectLst/>
                <a:latin typeface="Arial Unicode MS"/>
              </a:rPr>
              <a:t>FutureWarning</a:t>
            </a:r>
            <a:r>
              <a:rPr kumimoji="0" lang="en-US" altLang="en-US" sz="1000" b="0" i="0" u="none" strike="noStrike" cap="none" normalizeH="0" baseline="0" dirty="0">
                <a:ln>
                  <a:noFill/>
                </a:ln>
                <a:solidFill>
                  <a:schemeClr val="tx1"/>
                </a:solidFill>
                <a:effectLst/>
                <a:latin typeface="Arial Unicode MS"/>
              </a:rPr>
              <a:t>: Passing `palette` without assigning `hue` is deprecated and will be removed in v0.14.0. Assign the `x` variable to `hue` and set `legend=False` for the same effect. </a:t>
            </a:r>
            <a:r>
              <a:rPr kumimoji="0" lang="en-US" altLang="en-US" sz="1000" b="0" i="0" u="none" strike="noStrike" cap="none" normalizeH="0" baseline="0" dirty="0" err="1">
                <a:ln>
                  <a:noFill/>
                </a:ln>
                <a:solidFill>
                  <a:schemeClr val="tx1"/>
                </a:solidFill>
                <a:effectLst/>
                <a:latin typeface="Arial Unicode MS"/>
              </a:rPr>
              <a:t>sns.countplot</a:t>
            </a:r>
            <a:r>
              <a:rPr kumimoji="0" lang="en-US" altLang="en-US" sz="1000" b="0" i="0" u="none" strike="noStrike" cap="none" normalizeH="0" baseline="0" dirty="0">
                <a:ln>
                  <a:noFill/>
                </a:ln>
                <a:solidFill>
                  <a:schemeClr val="tx1"/>
                </a:solidFill>
                <a:effectLst/>
                <a:latin typeface="Arial Unicode MS"/>
              </a:rPr>
              <a:t>(x='</a:t>
            </a:r>
            <a:r>
              <a:rPr kumimoji="0" lang="en-US" altLang="en-US" sz="1000" b="0" i="0" u="none" strike="noStrike" cap="none" normalizeH="0" baseline="0" dirty="0" err="1">
                <a:ln>
                  <a:noFill/>
                </a:ln>
                <a:solidFill>
                  <a:schemeClr val="tx1"/>
                </a:solidFill>
                <a:effectLst/>
                <a:latin typeface="Arial Unicode MS"/>
              </a:rPr>
              <a:t>thal</a:t>
            </a:r>
            <a:r>
              <a:rPr kumimoji="0" lang="en-US" altLang="en-US" sz="1000" b="0" i="0" u="none" strike="noStrike" cap="none" normalizeH="0" baseline="0" dirty="0">
                <a:ln>
                  <a:noFill/>
                </a:ln>
                <a:solidFill>
                  <a:schemeClr val="tx1"/>
                </a:solidFill>
                <a:effectLst/>
                <a:latin typeface="Arial Unicode MS"/>
              </a:rPr>
              <a:t>', palette='magma', data=</a:t>
            </a:r>
            <a:r>
              <a:rPr kumimoji="0" lang="en-US" altLang="en-US" sz="1000" b="0" i="0" u="none" strike="noStrike" cap="none" normalizeH="0" baseline="0" dirty="0" err="1">
                <a:ln>
                  <a:noFill/>
                </a:ln>
                <a:solidFill>
                  <a:schemeClr val="tx1"/>
                </a:solidFill>
                <a:effectLst/>
                <a:latin typeface="Arial Unicode MS"/>
              </a:rPr>
              <a:t>df</a:t>
            </a:r>
            <a:r>
              <a:rPr kumimoji="0" lang="en-US" altLang="en-US" sz="1000" b="0" i="0" u="none" strike="noStrike" cap="none" normalizeH="0" baseline="0" dirty="0">
                <a:ln>
                  <a:noFill/>
                </a:ln>
                <a:solidFill>
                  <a:schemeClr val="tx1"/>
                </a:solidFill>
                <a:effectLst/>
                <a:latin typeface="Arial Unicode MS"/>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73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a:extLst>
              <a:ext uri="{FF2B5EF4-FFF2-40B4-BE49-F238E27FC236}">
                <a16:creationId xmlns:a16="http://schemas.microsoft.com/office/drawing/2014/main" id="{38A902FD-1506-88FA-1274-7FDFEA079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1813" y="3438128"/>
            <a:ext cx="3620372" cy="2884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9BAE99D-A081-ABBC-9208-6F77DA22B0A1}"/>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5143060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D736-8EA0-41C2-56E2-67332AB1D6C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A856CC8-C7EA-AC43-3DD1-E1247D6795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E6C273C-F904-B2F4-3137-60E78A5F901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A164B89-5C11-0EAF-104A-3CEE7BE8FC1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B8FF492-96E4-61EE-13E1-0A9D41E51947}"/>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ts val="3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15:Count of Thalassemia Types (Count Plot)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6908BAE-E08D-DB61-74D3-BA62E89DEF3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r>
              <a:rPr kumimoji="0" lang="en-US" altLang="en-US" sz="1000" b="0" i="0" u="none" strike="noStrike" cap="none" normalizeH="0" baseline="0" dirty="0" err="1">
                <a:ln>
                  <a:noFill/>
                </a:ln>
                <a:solidFill>
                  <a:schemeClr val="tx1"/>
                </a:solidFill>
                <a:effectLst/>
                <a:latin typeface="Arial Unicode MS"/>
              </a:rPr>
              <a:t>tmp</a:t>
            </a:r>
            <a:r>
              <a:rPr kumimoji="0" lang="en-US" altLang="en-US" sz="1000" b="0" i="0" u="none" strike="noStrike" cap="none" normalizeH="0" baseline="0" dirty="0">
                <a:ln>
                  <a:noFill/>
                </a:ln>
                <a:solidFill>
                  <a:schemeClr val="tx1"/>
                </a:solidFill>
                <a:effectLst/>
                <a:latin typeface="Arial Unicode MS"/>
              </a:rPr>
              <a:t>/ipython-input-659379015.py:2: </a:t>
            </a:r>
            <a:r>
              <a:rPr kumimoji="0" lang="en-US" altLang="en-US" sz="1000" b="0" i="0" u="none" strike="noStrike" cap="none" normalizeH="0" baseline="0" dirty="0" err="1">
                <a:ln>
                  <a:noFill/>
                </a:ln>
                <a:solidFill>
                  <a:schemeClr val="tx1"/>
                </a:solidFill>
                <a:effectLst/>
                <a:latin typeface="Arial Unicode MS"/>
              </a:rPr>
              <a:t>FutureWarning</a:t>
            </a:r>
            <a:r>
              <a:rPr kumimoji="0" lang="en-US" altLang="en-US" sz="1000" b="0" i="0" u="none" strike="noStrike" cap="none" normalizeH="0" baseline="0" dirty="0">
                <a:ln>
                  <a:noFill/>
                </a:ln>
                <a:solidFill>
                  <a:schemeClr val="tx1"/>
                </a:solidFill>
                <a:effectLst/>
                <a:latin typeface="Arial Unicode MS"/>
              </a:rPr>
              <a:t>: Passing `palette` without assigning `hue` is deprecated and will be removed in v0.14.0. Assign the `x` variable to `hue` and set `legend=False` for the same effect. </a:t>
            </a:r>
            <a:r>
              <a:rPr kumimoji="0" lang="en-US" altLang="en-US" sz="1000" b="0" i="0" u="none" strike="noStrike" cap="none" normalizeH="0" baseline="0" dirty="0" err="1">
                <a:ln>
                  <a:noFill/>
                </a:ln>
                <a:solidFill>
                  <a:schemeClr val="tx1"/>
                </a:solidFill>
                <a:effectLst/>
                <a:latin typeface="Arial Unicode MS"/>
              </a:rPr>
              <a:t>sns.countplot</a:t>
            </a:r>
            <a:r>
              <a:rPr kumimoji="0" lang="en-US" altLang="en-US" sz="1000" b="0" i="0" u="none" strike="noStrike" cap="none" normalizeH="0" baseline="0" dirty="0">
                <a:ln>
                  <a:noFill/>
                </a:ln>
                <a:solidFill>
                  <a:schemeClr val="tx1"/>
                </a:solidFill>
                <a:effectLst/>
                <a:latin typeface="Arial Unicode MS"/>
              </a:rPr>
              <a:t>(x='</a:t>
            </a:r>
            <a:r>
              <a:rPr kumimoji="0" lang="en-US" altLang="en-US" sz="1000" b="0" i="0" u="none" strike="noStrike" cap="none" normalizeH="0" baseline="0" dirty="0" err="1">
                <a:ln>
                  <a:noFill/>
                </a:ln>
                <a:solidFill>
                  <a:schemeClr val="tx1"/>
                </a:solidFill>
                <a:effectLst/>
                <a:latin typeface="Arial Unicode MS"/>
              </a:rPr>
              <a:t>thal</a:t>
            </a:r>
            <a:r>
              <a:rPr kumimoji="0" lang="en-US" altLang="en-US" sz="1000" b="0" i="0" u="none" strike="noStrike" cap="none" normalizeH="0" baseline="0" dirty="0">
                <a:ln>
                  <a:noFill/>
                </a:ln>
                <a:solidFill>
                  <a:schemeClr val="tx1"/>
                </a:solidFill>
                <a:effectLst/>
                <a:latin typeface="Arial Unicode MS"/>
              </a:rPr>
              <a:t>', palette='magma', data=</a:t>
            </a:r>
            <a:r>
              <a:rPr kumimoji="0" lang="en-US" altLang="en-US" sz="1000" b="0" i="0" u="none" strike="noStrike" cap="none" normalizeH="0" baseline="0" dirty="0" err="1">
                <a:ln>
                  <a:noFill/>
                </a:ln>
                <a:solidFill>
                  <a:schemeClr val="tx1"/>
                </a:solidFill>
                <a:effectLst/>
                <a:latin typeface="Arial Unicode MS"/>
              </a:rPr>
              <a:t>df</a:t>
            </a:r>
            <a:r>
              <a:rPr kumimoji="0" lang="en-US" altLang="en-US" sz="1000" b="0" i="0" u="none" strike="noStrike" cap="none" normalizeH="0" baseline="0" dirty="0">
                <a:ln>
                  <a:noFill/>
                </a:ln>
                <a:solidFill>
                  <a:schemeClr val="tx1"/>
                </a:solidFill>
                <a:effectLst/>
                <a:latin typeface="Arial Unicode MS"/>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73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a:extLst>
              <a:ext uri="{FF2B5EF4-FFF2-40B4-BE49-F238E27FC236}">
                <a16:creationId xmlns:a16="http://schemas.microsoft.com/office/drawing/2014/main" id="{BF9BFA08-E853-5BF3-61CF-85658BA06D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9599" y="3905944"/>
            <a:ext cx="3016523" cy="24037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66684C7-9DBE-329F-55C1-DC45D1AB2009}"/>
              </a:ext>
            </a:extLst>
          </p:cNvPr>
          <p:cNvSpPr txBox="1"/>
          <p:nvPr/>
        </p:nvSpPr>
        <p:spPr>
          <a:xfrm>
            <a:off x="419510" y="2789541"/>
            <a:ext cx="5463046" cy="3754874"/>
          </a:xfrm>
          <a:prstGeom prst="rect">
            <a:avLst/>
          </a:prstGeom>
          <a:noFill/>
        </p:spPr>
        <p:txBody>
          <a:bodyPr wrap="square" rtlCol="0">
            <a:spAutoFit/>
          </a:bodyPr>
          <a:lstStyle/>
          <a:p>
            <a:pPr lvl="1" algn="l" rtl="0"/>
            <a:r>
              <a:rPr lang="en-US" sz="2000" dirty="0">
                <a:solidFill>
                  <a:srgbClr val="0C0D03"/>
                </a:solidFill>
                <a:latin typeface="Times New Roman" panose="02020603050405020304" pitchFamily="18" charset="0"/>
                <a:cs typeface="Times New Roman" panose="02020603050405020304" pitchFamily="18" charset="0"/>
              </a:rPr>
              <a:t>This chart displays the frequency distribution of thalassemia (</a:t>
            </a:r>
            <a:r>
              <a:rPr lang="en-US" sz="2000" dirty="0" err="1">
                <a:solidFill>
                  <a:srgbClr val="0C0D03"/>
                </a:solidFill>
                <a:latin typeface="Times New Roman" panose="02020603050405020304" pitchFamily="18" charset="0"/>
                <a:cs typeface="Times New Roman" panose="02020603050405020304" pitchFamily="18" charset="0"/>
              </a:rPr>
              <a:t>thal</a:t>
            </a:r>
            <a:r>
              <a:rPr lang="en-US" sz="2000" dirty="0">
                <a:solidFill>
                  <a:srgbClr val="0C0D03"/>
                </a:solidFill>
                <a:latin typeface="Times New Roman" panose="02020603050405020304" pitchFamily="18" charset="0"/>
                <a:cs typeface="Times New Roman" panose="02020603050405020304" pitchFamily="18" charset="0"/>
              </a:rPr>
              <a:t>) categories in the heart disease dataset.</a:t>
            </a:r>
          </a:p>
          <a:p>
            <a:pPr algn="l" rtl="0"/>
            <a:r>
              <a:rPr lang="en-US" sz="2000" b="1" dirty="0">
                <a:solidFill>
                  <a:srgbClr val="0C0D03"/>
                </a:solidFill>
                <a:latin typeface="Times New Roman" panose="02020603050405020304" pitchFamily="18" charset="0"/>
                <a:cs typeface="Times New Roman" panose="02020603050405020304" pitchFamily="18" charset="0"/>
              </a:rPr>
              <a:t>Key observations:</a:t>
            </a:r>
          </a:p>
          <a:p>
            <a:pPr lvl="1" algn="l" rtl="0"/>
            <a:r>
              <a:rPr lang="en-US" sz="2000" dirty="0">
                <a:solidFill>
                  <a:srgbClr val="0C0D03"/>
                </a:solidFill>
                <a:latin typeface="Times New Roman" panose="02020603050405020304" pitchFamily="18" charset="0"/>
                <a:cs typeface="Times New Roman" panose="02020603050405020304" pitchFamily="18" charset="0"/>
              </a:rPr>
              <a:t>The normal thalassemia category is the most frequent in the dataset.</a:t>
            </a:r>
          </a:p>
          <a:p>
            <a:pPr lvl="1" algn="l" rtl="0"/>
            <a:r>
              <a:rPr lang="en-US" sz="2000" dirty="0">
                <a:solidFill>
                  <a:srgbClr val="0C0D03"/>
                </a:solidFill>
                <a:latin typeface="Times New Roman" panose="02020603050405020304" pitchFamily="18" charset="0"/>
                <a:cs typeface="Times New Roman" panose="02020603050405020304" pitchFamily="18" charset="0"/>
              </a:rPr>
              <a:t>Reversible defect and fixed defect cases appear less frequently.</a:t>
            </a:r>
          </a:p>
          <a:p>
            <a:pPr lvl="1" algn="l" rtl="0"/>
            <a:r>
              <a:rPr lang="en-US" sz="2000" dirty="0">
                <a:solidFill>
                  <a:srgbClr val="0C0D03"/>
                </a:solidFill>
                <a:latin typeface="Times New Roman" panose="02020603050405020304" pitchFamily="18" charset="0"/>
                <a:cs typeface="Times New Roman" panose="02020603050405020304" pitchFamily="18" charset="0"/>
              </a:rPr>
              <a:t>A small number of cases fall into other categories, indicating class imbalance among thalassemia types.</a:t>
            </a:r>
          </a:p>
          <a:p>
            <a:endParaRPr lang="en-US" dirty="0"/>
          </a:p>
        </p:txBody>
      </p:sp>
      <p:pic>
        <p:nvPicPr>
          <p:cNvPr id="6" name="Picture 5">
            <a:extLst>
              <a:ext uri="{FF2B5EF4-FFF2-40B4-BE49-F238E27FC236}">
                <a16:creationId xmlns:a16="http://schemas.microsoft.com/office/drawing/2014/main" id="{B83A0205-8372-1418-94DF-D35C0AEF424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883189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39AF4-03B4-98D9-FD37-02A601033A6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821F810-EABD-5F69-2C1A-BA60830CB9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0D40768-B227-FEB8-D7DF-734F2F31E71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DC303BFE-8D19-FB7A-A9F0-42CE332994D3}"/>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B927CE0-D438-BB6C-EDD0-51869C57A86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 Count of Thalassemia Types (Count Plot)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B0213196-0D60-9F8B-6F75-93F57C3B50B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r>
              <a:rPr kumimoji="0" lang="en-US" altLang="en-US" sz="1000" b="0" i="0" u="none" strike="noStrike" cap="none" normalizeH="0" baseline="0" dirty="0" err="1">
                <a:ln>
                  <a:noFill/>
                </a:ln>
                <a:solidFill>
                  <a:schemeClr val="tx1"/>
                </a:solidFill>
                <a:effectLst/>
                <a:latin typeface="Arial Unicode MS"/>
              </a:rPr>
              <a:t>tmp</a:t>
            </a:r>
            <a:r>
              <a:rPr kumimoji="0" lang="en-US" altLang="en-US" sz="1000" b="0" i="0" u="none" strike="noStrike" cap="none" normalizeH="0" baseline="0" dirty="0">
                <a:ln>
                  <a:noFill/>
                </a:ln>
                <a:solidFill>
                  <a:schemeClr val="tx1"/>
                </a:solidFill>
                <a:effectLst/>
                <a:latin typeface="Arial Unicode MS"/>
              </a:rPr>
              <a:t>/ipython-input-659379015.py:2: </a:t>
            </a:r>
            <a:r>
              <a:rPr kumimoji="0" lang="en-US" altLang="en-US" sz="1000" b="0" i="0" u="none" strike="noStrike" cap="none" normalizeH="0" baseline="0" dirty="0" err="1">
                <a:ln>
                  <a:noFill/>
                </a:ln>
                <a:solidFill>
                  <a:schemeClr val="tx1"/>
                </a:solidFill>
                <a:effectLst/>
                <a:latin typeface="Arial Unicode MS"/>
              </a:rPr>
              <a:t>FutureWarning</a:t>
            </a:r>
            <a:r>
              <a:rPr kumimoji="0" lang="en-US" altLang="en-US" sz="1000" b="0" i="0" u="none" strike="noStrike" cap="none" normalizeH="0" baseline="0" dirty="0">
                <a:ln>
                  <a:noFill/>
                </a:ln>
                <a:solidFill>
                  <a:schemeClr val="tx1"/>
                </a:solidFill>
                <a:effectLst/>
                <a:latin typeface="Arial Unicode MS"/>
              </a:rPr>
              <a:t>: Passing `palette` without assigning `hue` is deprecated and will be removed in v0.14.0. Assign the `x` variable to `hue` and set `legend=False` for the same effect. </a:t>
            </a:r>
            <a:r>
              <a:rPr kumimoji="0" lang="en-US" altLang="en-US" sz="1000" b="0" i="0" u="none" strike="noStrike" cap="none" normalizeH="0" baseline="0" dirty="0" err="1">
                <a:ln>
                  <a:noFill/>
                </a:ln>
                <a:solidFill>
                  <a:schemeClr val="tx1"/>
                </a:solidFill>
                <a:effectLst/>
                <a:latin typeface="Arial Unicode MS"/>
              </a:rPr>
              <a:t>sns.countplot</a:t>
            </a:r>
            <a:r>
              <a:rPr kumimoji="0" lang="en-US" altLang="en-US" sz="1000" b="0" i="0" u="none" strike="noStrike" cap="none" normalizeH="0" baseline="0" dirty="0">
                <a:ln>
                  <a:noFill/>
                </a:ln>
                <a:solidFill>
                  <a:schemeClr val="tx1"/>
                </a:solidFill>
                <a:effectLst/>
                <a:latin typeface="Arial Unicode MS"/>
              </a:rPr>
              <a:t>(x='</a:t>
            </a:r>
            <a:r>
              <a:rPr kumimoji="0" lang="en-US" altLang="en-US" sz="1000" b="0" i="0" u="none" strike="noStrike" cap="none" normalizeH="0" baseline="0" dirty="0" err="1">
                <a:ln>
                  <a:noFill/>
                </a:ln>
                <a:solidFill>
                  <a:schemeClr val="tx1"/>
                </a:solidFill>
                <a:effectLst/>
                <a:latin typeface="Arial Unicode MS"/>
              </a:rPr>
              <a:t>thal</a:t>
            </a:r>
            <a:r>
              <a:rPr kumimoji="0" lang="en-US" altLang="en-US" sz="1000" b="0" i="0" u="none" strike="noStrike" cap="none" normalizeH="0" baseline="0" dirty="0">
                <a:ln>
                  <a:noFill/>
                </a:ln>
                <a:solidFill>
                  <a:schemeClr val="tx1"/>
                </a:solidFill>
                <a:effectLst/>
                <a:latin typeface="Arial Unicode MS"/>
              </a:rPr>
              <a:t>', palette='magma', data=</a:t>
            </a:r>
            <a:r>
              <a:rPr kumimoji="0" lang="en-US" altLang="en-US" sz="1000" b="0" i="0" u="none" strike="noStrike" cap="none" normalizeH="0" baseline="0" dirty="0" err="1">
                <a:ln>
                  <a:noFill/>
                </a:ln>
                <a:solidFill>
                  <a:schemeClr val="tx1"/>
                </a:solidFill>
                <a:effectLst/>
                <a:latin typeface="Arial Unicode MS"/>
              </a:rPr>
              <a:t>df</a:t>
            </a:r>
            <a:r>
              <a:rPr kumimoji="0" lang="en-US" altLang="en-US" sz="1000" b="0" i="0" u="none" strike="noStrike" cap="none" normalizeH="0" baseline="0" dirty="0">
                <a:ln>
                  <a:noFill/>
                </a:ln>
                <a:solidFill>
                  <a:schemeClr val="tx1"/>
                </a:solidFill>
                <a:effectLst/>
                <a:latin typeface="Arial Unicode MS"/>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73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a:extLst>
              <a:ext uri="{FF2B5EF4-FFF2-40B4-BE49-F238E27FC236}">
                <a16:creationId xmlns:a16="http://schemas.microsoft.com/office/drawing/2014/main" id="{CD87A8E5-34CB-9C7A-21BE-796058C6D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9220" y="3288677"/>
            <a:ext cx="3016523" cy="24037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47818B1-7551-CC1A-846E-C162761427D1}"/>
              </a:ext>
            </a:extLst>
          </p:cNvPr>
          <p:cNvSpPr txBox="1"/>
          <p:nvPr/>
        </p:nvSpPr>
        <p:spPr>
          <a:xfrm>
            <a:off x="419510" y="2789541"/>
            <a:ext cx="5592650" cy="2831544"/>
          </a:xfrm>
          <a:prstGeom prst="rect">
            <a:avLst/>
          </a:prstGeom>
          <a:noFill/>
        </p:spPr>
        <p:txBody>
          <a:bodyPr wrap="square" rtlCol="0">
            <a:spAutoFit/>
          </a:bodyPr>
          <a:lstStyle/>
          <a:p>
            <a:pPr algn="l" rtl="0"/>
            <a:r>
              <a:rPr lang="en-US" sz="2000" b="1" dirty="0">
                <a:solidFill>
                  <a:srgbClr val="0C0D03"/>
                </a:solidFill>
                <a:latin typeface="Times New Roman" panose="02020603050405020304" pitchFamily="18" charset="0"/>
                <a:cs typeface="Times New Roman" panose="02020603050405020304" pitchFamily="18" charset="0"/>
              </a:rPr>
              <a:t>Relevance to classification:</a:t>
            </a:r>
            <a:br>
              <a:rPr lang="en-US" sz="2000" dirty="0">
                <a:solidFill>
                  <a:srgbClr val="0C0D03"/>
                </a:solidFill>
                <a:latin typeface="Times New Roman" panose="02020603050405020304" pitchFamily="18" charset="0"/>
                <a:cs typeface="Times New Roman" panose="02020603050405020304" pitchFamily="18" charset="0"/>
              </a:rPr>
            </a:br>
            <a:r>
              <a:rPr lang="en-US" sz="2000" dirty="0">
                <a:solidFill>
                  <a:srgbClr val="0C0D03"/>
                </a:solidFill>
                <a:latin typeface="Times New Roman" panose="02020603050405020304" pitchFamily="18" charset="0"/>
                <a:cs typeface="Times New Roman" panose="02020603050405020304" pitchFamily="18" charset="0"/>
              </a:rPr>
              <a:t>Thalassemia type is an important clinical feature related to heart disease risk. </a:t>
            </a:r>
          </a:p>
          <a:p>
            <a:pPr algn="l" rtl="0"/>
            <a:r>
              <a:rPr lang="en-US" sz="2000" dirty="0">
                <a:solidFill>
                  <a:srgbClr val="0C0D03"/>
                </a:solidFill>
                <a:latin typeface="Times New Roman" panose="02020603050405020304" pitchFamily="18" charset="0"/>
                <a:cs typeface="Times New Roman" panose="02020603050405020304" pitchFamily="18" charset="0"/>
              </a:rPr>
              <a:t>Understanding its distribution helps the classification model learn how different thalassemia conditions contribute to heart disease prediction and highlights potential class imbalance that the model must handle.</a:t>
            </a:r>
          </a:p>
          <a:p>
            <a:endParaRPr lang="en-US" dirty="0"/>
          </a:p>
        </p:txBody>
      </p:sp>
      <p:pic>
        <p:nvPicPr>
          <p:cNvPr id="6" name="Picture 5">
            <a:extLst>
              <a:ext uri="{FF2B5EF4-FFF2-40B4-BE49-F238E27FC236}">
                <a16:creationId xmlns:a16="http://schemas.microsoft.com/office/drawing/2014/main" id="{E50D8D07-223A-DFFF-17E3-F5C28F7F3F30}"/>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6184785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E28A0-5219-3FFC-E85B-F187BF1FAB9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C3053F1-BDC0-C854-B129-95E2B4AB1D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65EE591-C6BB-1531-7B0D-9EF52EE722F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2049975-FA08-E9CE-048E-23BCB65E6238}"/>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BA26D92-3E57-C810-12A8-91E693B85F1F}"/>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sns.barplot</a:t>
            </a:r>
            <a:r>
              <a:rPr lang="en-US" sz="2000" b="1" dirty="0">
                <a:solidFill>
                  <a:srgbClr val="0C0D03"/>
                </a:solidFill>
                <a:latin typeface="Times New Roman" panose="02020603050405020304" pitchFamily="18" charset="0"/>
                <a:cs typeface="Times New Roman" panose="02020603050405020304" pitchFamily="18" charset="0"/>
              </a:rPr>
              <a:t>() is a Seaborn function used to create a bar chart that shows the relationship between two variables: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One categorical variable (x-axis)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One numerical variable (y-axis)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By default, it shows the mean (average) of the numerical variable for each category.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CF5978D-63DF-2520-7652-F095F917D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8"/>
            <a:ext cx="8141616" cy="748245"/>
          </a:xfrm>
          <a:prstGeom prst="rect">
            <a:avLst/>
          </a:prstGeom>
        </p:spPr>
      </p:pic>
      <p:pic>
        <p:nvPicPr>
          <p:cNvPr id="5" name="Picture 4">
            <a:extLst>
              <a:ext uri="{FF2B5EF4-FFF2-40B4-BE49-F238E27FC236}">
                <a16:creationId xmlns:a16="http://schemas.microsoft.com/office/drawing/2014/main" id="{9B3885BB-E742-652C-9474-B4C40B94CF92}"/>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321147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30048-6006-D292-682F-8A2AC939341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1D77FDC-9872-1904-4852-91E8C2B004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0901ED0-0572-4A1C-A793-A82B86B9168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7E72F93-C0AD-D70A-7931-30D0B27038B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99AAB8E-0A11-9A6A-00D7-1212D9085B84}"/>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x='</a:t>
            </a:r>
            <a:r>
              <a:rPr lang="en-US" sz="2000" dirty="0" err="1">
                <a:solidFill>
                  <a:srgbClr val="0C0D03"/>
                </a:solidFill>
                <a:latin typeface="Times New Roman" panose="02020603050405020304" pitchFamily="18" charset="0"/>
                <a:cs typeface="Times New Roman" panose="02020603050405020304" pitchFamily="18" charset="0"/>
              </a:rPr>
              <a:t>fbs’</a:t>
            </a: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 Fasting Blood </a:t>
            </a:r>
            <a:r>
              <a:rPr lang="en-US" sz="2000" dirty="0" err="1">
                <a:solidFill>
                  <a:srgbClr val="0C0D03"/>
                </a:solidFill>
                <a:latin typeface="Times New Roman" panose="02020603050405020304" pitchFamily="18" charset="0"/>
                <a:cs typeface="Times New Roman" panose="02020603050405020304" pitchFamily="18" charset="0"/>
              </a:rPr>
              <a:t>SugarThis</a:t>
            </a:r>
            <a:r>
              <a:rPr lang="en-US" sz="2000" dirty="0">
                <a:solidFill>
                  <a:srgbClr val="0C0D03"/>
                </a:solidFill>
                <a:latin typeface="Times New Roman" panose="02020603050405020304" pitchFamily="18" charset="0"/>
                <a:cs typeface="Times New Roman" panose="02020603050405020304" pitchFamily="18" charset="0"/>
              </a:rPr>
              <a:t> is a categorical variable: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0 → Normal fasting blood sugar</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1 → High fasting blood sugar</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These categories appear on the x-axis..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87E76C7-7B0D-CA77-05A6-7A2FE3750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8"/>
            <a:ext cx="8141616" cy="748245"/>
          </a:xfrm>
          <a:prstGeom prst="rect">
            <a:avLst/>
          </a:prstGeom>
        </p:spPr>
      </p:pic>
      <p:pic>
        <p:nvPicPr>
          <p:cNvPr id="5" name="Picture 4">
            <a:extLst>
              <a:ext uri="{FF2B5EF4-FFF2-40B4-BE49-F238E27FC236}">
                <a16:creationId xmlns:a16="http://schemas.microsoft.com/office/drawing/2014/main" id="{E448F1D2-E45E-9728-DB94-94451C010927}"/>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449434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E8BD-0EF8-3588-A13F-3167384E658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DD10854-3580-CA83-F7F7-56CAC00F91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DE53F96-E511-2182-FBC4-56DB02B26C0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3B2CA72-6742-B7C1-5938-7AFFA0ABEAA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5217A99-E8CA-5333-1738-9792F4A52523}"/>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y='</a:t>
            </a:r>
            <a:r>
              <a:rPr lang="en-US" sz="2000" b="1" dirty="0" err="1">
                <a:solidFill>
                  <a:srgbClr val="0C0D03"/>
                </a:solidFill>
                <a:latin typeface="Times New Roman" panose="02020603050405020304" pitchFamily="18" charset="0"/>
                <a:cs typeface="Times New Roman" panose="02020603050405020304" pitchFamily="18" charset="0"/>
              </a:rPr>
              <a:t>chol</a:t>
            </a:r>
            <a:r>
              <a:rPr lang="en-US" sz="2000" b="1" dirty="0">
                <a:solidFill>
                  <a:srgbClr val="0C0D03"/>
                </a:solidFill>
                <a:latin typeface="Times New Roman" panose="02020603050405020304" pitchFamily="18" charset="0"/>
                <a:cs typeface="Times New Roman" panose="02020603050405020304" pitchFamily="18" charset="0"/>
              </a:rPr>
              <a:t>’</a:t>
            </a:r>
          </a:p>
          <a:p>
            <a:pPr lvl="1" algn="just" rtl="0" fontAlgn="base">
              <a:lnSpc>
                <a:spcPts val="3000"/>
              </a:lnSpc>
              <a:spcBef>
                <a:spcPct val="0"/>
              </a:spcBef>
              <a:spcAft>
                <a:spcPct val="0"/>
              </a:spcAft>
            </a:pPr>
            <a:r>
              <a:rPr lang="en-US" sz="2000" dirty="0" err="1">
                <a:solidFill>
                  <a:srgbClr val="0C0D03"/>
                </a:solidFill>
                <a:latin typeface="Times New Roman" panose="02020603050405020304" pitchFamily="18" charset="0"/>
                <a:cs typeface="Times New Roman" panose="02020603050405020304" pitchFamily="18" charset="0"/>
              </a:rPr>
              <a:t>chol</a:t>
            </a:r>
            <a:r>
              <a:rPr lang="en-US" sz="2000" dirty="0">
                <a:solidFill>
                  <a:srgbClr val="0C0D03"/>
                </a:solidFill>
                <a:latin typeface="Times New Roman" panose="02020603050405020304" pitchFamily="18" charset="0"/>
                <a:cs typeface="Times New Roman" panose="02020603050405020304" pitchFamily="18" charset="0"/>
              </a:rPr>
              <a:t> = Serum cholesterol level</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This is a numerical variable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The average cholesterol is plotted on the y-axis.</a:t>
            </a: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5ABFC2D-FCAF-03B2-2BAA-1F3DCEB41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8"/>
            <a:ext cx="8141616" cy="748245"/>
          </a:xfrm>
          <a:prstGeom prst="rect">
            <a:avLst/>
          </a:prstGeom>
        </p:spPr>
      </p:pic>
      <p:pic>
        <p:nvPicPr>
          <p:cNvPr id="5" name="Picture 4">
            <a:extLst>
              <a:ext uri="{FF2B5EF4-FFF2-40B4-BE49-F238E27FC236}">
                <a16:creationId xmlns:a16="http://schemas.microsoft.com/office/drawing/2014/main" id="{3BA8F364-0C38-6825-E3F7-9EB4B173CCA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80554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98BAF-5C2C-7778-AD7D-C3B4267B46D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0822435-65C7-9EB8-5F8A-7AB546E8CA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6BDE2F3-AA36-4115-7D94-932B7FE1F9D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653303D-C4C2-37A3-ADB3-99B6C9A3229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EF978B1-3FE9-DF97-EDDB-AF3890F2E2D3}"/>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a:t>
            </a:r>
            <a:r>
              <a:rPr lang="en-US" sz="2000" b="1" dirty="0" err="1">
                <a:solidFill>
                  <a:srgbClr val="0C0D03"/>
                </a:solidFill>
                <a:latin typeface="Times New Roman" panose="02020603050405020304" pitchFamily="18" charset="0"/>
                <a:cs typeface="Times New Roman" panose="02020603050405020304" pitchFamily="18" charset="0"/>
              </a:rPr>
              <a:t>df</a:t>
            </a:r>
            <a:endParaRPr lang="en-US" sz="2000" b="1" dirty="0">
              <a:solidFill>
                <a:srgbClr val="0C0D03"/>
              </a:solidFill>
              <a:latin typeface="Times New Roman" panose="02020603050405020304" pitchFamily="18" charset="0"/>
              <a:cs typeface="Times New Roman" panose="02020603050405020304" pitchFamily="18" charset="0"/>
            </a:endParaRPr>
          </a:p>
          <a:p>
            <a:pPr lvl="1" algn="just" rtl="0" fontAlgn="base">
              <a:lnSpc>
                <a:spcPts val="3000"/>
              </a:lnSpc>
              <a:spcBef>
                <a:spcPct val="0"/>
              </a:spcBef>
              <a:spcAft>
                <a:spcPct val="0"/>
              </a:spcAft>
            </a:pPr>
            <a:r>
              <a:rPr lang="en-US" sz="2000" dirty="0" err="1">
                <a:solidFill>
                  <a:srgbClr val="0C0D03"/>
                </a:solidFill>
                <a:latin typeface="Times New Roman" panose="02020603050405020304" pitchFamily="18" charset="0"/>
                <a:cs typeface="Times New Roman" panose="02020603050405020304" pitchFamily="18" charset="0"/>
              </a:rPr>
              <a:t>df</a:t>
            </a:r>
            <a:r>
              <a:rPr lang="en-US" sz="2000" dirty="0">
                <a:solidFill>
                  <a:srgbClr val="0C0D03"/>
                </a:solidFill>
                <a:latin typeface="Times New Roman" panose="02020603050405020304" pitchFamily="18" charset="0"/>
                <a:cs typeface="Times New Roman" panose="02020603050405020304" pitchFamily="18" charset="0"/>
              </a:rPr>
              <a:t> is the pandas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containing the dataset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Seaborn takes data directly from this table</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No need to manually extract columns</a:t>
            </a: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F765C6A-B231-AF08-83D2-2BA3E6BF4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8"/>
            <a:ext cx="8141616" cy="748245"/>
          </a:xfrm>
          <a:prstGeom prst="rect">
            <a:avLst/>
          </a:prstGeom>
        </p:spPr>
      </p:pic>
      <p:pic>
        <p:nvPicPr>
          <p:cNvPr id="5" name="Picture 4">
            <a:extLst>
              <a:ext uri="{FF2B5EF4-FFF2-40B4-BE49-F238E27FC236}">
                <a16:creationId xmlns:a16="http://schemas.microsoft.com/office/drawing/2014/main" id="{64A23C70-CB4C-85CC-9E5B-942F1A58454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360474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8CAF2-53E0-0BBB-FC05-F901AD2128B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F173ADB-BFFB-D3CE-362B-D69839B07C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14EC879-6ECD-93DF-8512-A8F90562A7F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2E9C2B2-A891-536E-6981-B7B8B98C48D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E86F899-5BBF-30FA-F74F-0D43A26949D0}"/>
              </a:ext>
            </a:extLst>
          </p:cNvPr>
          <p:cNvSpPr/>
          <p:nvPr/>
        </p:nvSpPr>
        <p:spPr bwMode="auto">
          <a:xfrm>
            <a:off x="251520" y="2234915"/>
            <a:ext cx="8640960"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palette='Set3’ :</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Defines the color theme of the bars</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Set3 is a predefined color palette in Seaborn</a:t>
            </a: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Improves visual clarity and aesthetics.</a:t>
            </a:r>
          </a:p>
          <a:p>
            <a:pPr marL="0" marR="0" indent="0" algn="just" defTabSz="914400" rtl="0" eaLnBrk="1" fontAlgn="base" latinLnBrk="0" hangingPunct="1">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This bar plot shows:</a:t>
            </a:r>
          </a:p>
          <a:p>
            <a:pPr lvl="1" algn="just" rtl="0" fontAlgn="base">
              <a:spcBef>
                <a:spcPct val="0"/>
              </a:spcBef>
              <a:spcAft>
                <a:spcPct val="0"/>
              </a:spcAft>
            </a:pPr>
            <a:r>
              <a:rPr lang="en-US" sz="1850" dirty="0">
                <a:solidFill>
                  <a:srgbClr val="0C0D03"/>
                </a:solidFill>
                <a:latin typeface="Times New Roman" panose="02020603050405020304" pitchFamily="18" charset="0"/>
                <a:cs typeface="Times New Roman" panose="02020603050405020304" pitchFamily="18" charset="0"/>
              </a:rPr>
              <a:t>The average cholesterol level for each fasting blood sugar group (normal vs high).</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Each bar = one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category</a:t>
            </a:r>
          </a:p>
          <a:p>
            <a:pPr lvl="1" algn="just" rtl="0" fontAlgn="base">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Height of bar = mean cholesterol value</a:t>
            </a:r>
          </a:p>
        </p:txBody>
      </p:sp>
      <p:pic>
        <p:nvPicPr>
          <p:cNvPr id="9" name="Picture 8">
            <a:extLst>
              <a:ext uri="{FF2B5EF4-FFF2-40B4-BE49-F238E27FC236}">
                <a16:creationId xmlns:a16="http://schemas.microsoft.com/office/drawing/2014/main" id="{116AA90D-873A-D1D2-544F-0B2A2CCA4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10109"/>
            <a:ext cx="8141616" cy="618892"/>
          </a:xfrm>
          <a:prstGeom prst="rect">
            <a:avLst/>
          </a:prstGeom>
        </p:spPr>
      </p:pic>
      <p:pic>
        <p:nvPicPr>
          <p:cNvPr id="5" name="Picture 4">
            <a:extLst>
              <a:ext uri="{FF2B5EF4-FFF2-40B4-BE49-F238E27FC236}">
                <a16:creationId xmlns:a16="http://schemas.microsoft.com/office/drawing/2014/main" id="{9E3EC3D9-A123-1988-993A-F6220A043D52}"/>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2930663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04541-B8AA-19EB-0A60-FD1F5C8FF5D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66AA084-B645-0E15-6D54-4F1E26158B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EF7C418-B634-589E-F0D9-61F3362057E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7D25517-75BA-8108-FCE8-15CD46CA329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10B8CEA-2B65-114F-3890-9171A4677684}"/>
              </a:ext>
            </a:extLst>
          </p:cNvPr>
          <p:cNvSpPr/>
          <p:nvPr/>
        </p:nvSpPr>
        <p:spPr bwMode="auto">
          <a:xfrm>
            <a:off x="251520" y="2234915"/>
            <a:ext cx="8640960"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A1CF3E22-5194-9F12-162B-9F4AB55328A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/tmp/ipython-input-1329050775.py:2: FutureWarning: Passing `palette` without assigning `hue` is deprecated and will be removed in v0.14.0. Assign the `x` variable to `hue` and set `legend=False` for the same effect. sns.barplot(x='fbs', y='chol', data=df, palette='Set3')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273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122" name="Picture 2">
            <a:extLst>
              <a:ext uri="{FF2B5EF4-FFF2-40B4-BE49-F238E27FC236}">
                <a16:creationId xmlns:a16="http://schemas.microsoft.com/office/drawing/2014/main" id="{B98AF43E-3AFE-518E-BCA3-FEAD7B7C86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477" y="2234915"/>
            <a:ext cx="3796003" cy="30248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B837966-4AD8-A999-B42C-1550EDA15692}"/>
              </a:ext>
            </a:extLst>
          </p:cNvPr>
          <p:cNvSpPr txBox="1"/>
          <p:nvPr/>
        </p:nvSpPr>
        <p:spPr>
          <a:xfrm>
            <a:off x="282503" y="2810109"/>
            <a:ext cx="4915838" cy="2523768"/>
          </a:xfrm>
          <a:prstGeom prst="rect">
            <a:avLst/>
          </a:prstGeom>
          <a:noFill/>
        </p:spPr>
        <p:txBody>
          <a:bodyPr wrap="square" rtlCol="0">
            <a:spAutoFit/>
          </a:bodyPr>
          <a:lstStyle/>
          <a:p>
            <a:pPr algn="l" rtl="0"/>
            <a:r>
              <a:rPr lang="en-US" sz="2000" dirty="0">
                <a:solidFill>
                  <a:srgbClr val="0C0D03"/>
                </a:solidFill>
                <a:latin typeface="Times New Roman" panose="02020603050405020304" pitchFamily="18" charset="0"/>
                <a:cs typeface="Times New Roman" panose="02020603050405020304" pitchFamily="18" charset="0"/>
              </a:rPr>
              <a:t>This bar chart illustrates the average cholesterol level (</a:t>
            </a:r>
            <a:r>
              <a:rPr lang="en-US" sz="2000" dirty="0" err="1">
                <a:solidFill>
                  <a:srgbClr val="0C0D03"/>
                </a:solidFill>
                <a:latin typeface="Times New Roman" panose="02020603050405020304" pitchFamily="18" charset="0"/>
                <a:cs typeface="Times New Roman" panose="02020603050405020304" pitchFamily="18" charset="0"/>
              </a:rPr>
              <a:t>chol</a:t>
            </a:r>
            <a:r>
              <a:rPr lang="en-US" sz="2000" dirty="0">
                <a:solidFill>
                  <a:srgbClr val="0C0D03"/>
                </a:solidFill>
                <a:latin typeface="Times New Roman" panose="02020603050405020304" pitchFamily="18" charset="0"/>
                <a:cs typeface="Times New Roman" panose="02020603050405020304" pitchFamily="18" charset="0"/>
              </a:rPr>
              <a:t>) of patients grouped by their fasting blood sugar status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a:t>
            </a:r>
          </a:p>
          <a:p>
            <a:pPr algn="l" rtl="0"/>
            <a:r>
              <a:rPr lang="en-US" sz="2000" dirty="0">
                <a:solidFill>
                  <a:srgbClr val="0C0D03"/>
                </a:solidFill>
                <a:latin typeface="Times New Roman" panose="02020603050405020304" pitchFamily="18" charset="0"/>
                <a:cs typeface="Times New Roman" panose="02020603050405020304" pitchFamily="18" charset="0"/>
              </a:rPr>
              <a:t>The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variable indicates whether a patient’s fasting blood sugar level is higher than the clinical threshold (typically &gt;120 mg/dL).</a:t>
            </a:r>
          </a:p>
          <a:p>
            <a:pPr algn="l" rtl="0"/>
            <a:endParaRPr lang="en-US" sz="2000" dirty="0">
              <a:solidFill>
                <a:srgbClr val="0C0D03"/>
              </a:solidFill>
              <a:latin typeface="Times New Roman" panose="02020603050405020304" pitchFamily="18" charset="0"/>
              <a:cs typeface="Times New Roman" panose="02020603050405020304" pitchFamily="18" charset="0"/>
            </a:endParaRPr>
          </a:p>
          <a:p>
            <a:pPr algn="l" rtl="0"/>
            <a:endParaRPr lang="en-US" dirty="0"/>
          </a:p>
        </p:txBody>
      </p:sp>
      <p:pic>
        <p:nvPicPr>
          <p:cNvPr id="7" name="Picture 6">
            <a:extLst>
              <a:ext uri="{FF2B5EF4-FFF2-40B4-BE49-F238E27FC236}">
                <a16:creationId xmlns:a16="http://schemas.microsoft.com/office/drawing/2014/main" id="{9AF0FF44-C2FB-6DF4-4226-54E56A7D2A6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03153662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011C-4836-3188-DA86-4ED86D67474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ED2B9E9-0E25-1D25-634C-E81F487F5F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31C0052-C724-7964-988D-9A21FB281F6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C9870A53-ED96-5874-F9C8-BDABB88CDC3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2E0A3EF-F1D6-A571-3EAA-DF65FB8A929A}"/>
              </a:ext>
            </a:extLst>
          </p:cNvPr>
          <p:cNvSpPr/>
          <p:nvPr/>
        </p:nvSpPr>
        <p:spPr bwMode="auto">
          <a:xfrm>
            <a:off x="251520" y="2234915"/>
            <a:ext cx="8640960"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EACD5CC-0F32-9E5F-4519-7C25369FE4F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/tmp/ipython-input-1329050775.py:2: FutureWarning: Passing `palette` without assigning `hue` is deprecated and will be removed in v0.14.0. Assign the `x` variable to `hue` and set `legend=False` for the same effect. sns.barplot(x='fbs', y='chol', data=df, palette='Set3')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273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122" name="Picture 2">
            <a:extLst>
              <a:ext uri="{FF2B5EF4-FFF2-40B4-BE49-F238E27FC236}">
                <a16:creationId xmlns:a16="http://schemas.microsoft.com/office/drawing/2014/main" id="{D2ED3BB6-8D13-C5C1-218C-A03EA0C17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477" y="2234915"/>
            <a:ext cx="3796003" cy="30248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D3EC180-1B22-66F9-5EC9-B3856BE792E2}"/>
              </a:ext>
            </a:extLst>
          </p:cNvPr>
          <p:cNvSpPr txBox="1"/>
          <p:nvPr/>
        </p:nvSpPr>
        <p:spPr>
          <a:xfrm>
            <a:off x="282503" y="2810109"/>
            <a:ext cx="4915838" cy="3447098"/>
          </a:xfrm>
          <a:prstGeom prst="rect">
            <a:avLst/>
          </a:prstGeom>
          <a:noFill/>
        </p:spPr>
        <p:txBody>
          <a:bodyPr wrap="square" rtlCol="0">
            <a:spAutoFit/>
          </a:bodyPr>
          <a:lstStyle/>
          <a:p>
            <a:pPr algn="l" rtl="0"/>
            <a:r>
              <a:rPr lang="en-US" sz="2000" b="1" dirty="0">
                <a:solidFill>
                  <a:srgbClr val="0C0D03"/>
                </a:solidFill>
                <a:latin typeface="Times New Roman" panose="02020603050405020304" pitchFamily="18" charset="0"/>
                <a:cs typeface="Times New Roman" panose="02020603050405020304" pitchFamily="18" charset="0"/>
              </a:rPr>
              <a:t>Description of the Chart:</a:t>
            </a:r>
          </a:p>
          <a:p>
            <a:pPr algn="l" rtl="0"/>
            <a:r>
              <a:rPr lang="en-US" sz="2000" dirty="0">
                <a:solidFill>
                  <a:srgbClr val="0C0D03"/>
                </a:solidFill>
                <a:latin typeface="Times New Roman" panose="02020603050405020304" pitchFamily="18" charset="0"/>
                <a:cs typeface="Times New Roman" panose="02020603050405020304" pitchFamily="18" charset="0"/>
              </a:rPr>
              <a:t>The x-axis represents fasting blood sugar categories:</a:t>
            </a:r>
          </a:p>
          <a:p>
            <a:pPr lvl="1" algn="l" rtl="0"/>
            <a:r>
              <a:rPr lang="en-US" sz="2000" dirty="0">
                <a:solidFill>
                  <a:srgbClr val="0C0D03"/>
                </a:solidFill>
                <a:latin typeface="Times New Roman" panose="02020603050405020304" pitchFamily="18" charset="0"/>
                <a:cs typeface="Times New Roman" panose="02020603050405020304" pitchFamily="18" charset="0"/>
              </a:rPr>
              <a:t>False (0) → Normal fasting blood sugar</a:t>
            </a:r>
          </a:p>
          <a:p>
            <a:pPr lvl="1" algn="l" rtl="0"/>
            <a:r>
              <a:rPr lang="en-US" sz="2000" dirty="0">
                <a:solidFill>
                  <a:srgbClr val="0C0D03"/>
                </a:solidFill>
                <a:latin typeface="Times New Roman" panose="02020603050405020304" pitchFamily="18" charset="0"/>
                <a:cs typeface="Times New Roman" panose="02020603050405020304" pitchFamily="18" charset="0"/>
              </a:rPr>
              <a:t>True (1) → Elevated fasting blood sugar</a:t>
            </a:r>
          </a:p>
          <a:p>
            <a:pPr algn="l" rtl="0"/>
            <a:r>
              <a:rPr lang="en-US" sz="2000" dirty="0">
                <a:solidFill>
                  <a:srgbClr val="0C0D03"/>
                </a:solidFill>
                <a:latin typeface="Times New Roman" panose="02020603050405020304" pitchFamily="18" charset="0"/>
                <a:cs typeface="Times New Roman" panose="02020603050405020304" pitchFamily="18" charset="0"/>
              </a:rPr>
              <a:t>The y-axis shows the mean cholesterol level for each group.</a:t>
            </a:r>
          </a:p>
          <a:p>
            <a:pPr algn="l" rtl="0"/>
            <a:r>
              <a:rPr lang="en-US" sz="2000" dirty="0">
                <a:solidFill>
                  <a:srgbClr val="0C0D03"/>
                </a:solidFill>
                <a:latin typeface="Times New Roman" panose="02020603050405020304" pitchFamily="18" charset="0"/>
                <a:cs typeface="Times New Roman" panose="02020603050405020304" pitchFamily="18" charset="0"/>
              </a:rPr>
              <a:t>The vertical black lines on each bar represent confidence intervals, indicating the variability of cholesterol values within each group.</a:t>
            </a:r>
          </a:p>
          <a:p>
            <a:pPr algn="l" rtl="0"/>
            <a:endParaRPr lang="en-US" dirty="0"/>
          </a:p>
        </p:txBody>
      </p:sp>
      <p:pic>
        <p:nvPicPr>
          <p:cNvPr id="7" name="Picture 6">
            <a:extLst>
              <a:ext uri="{FF2B5EF4-FFF2-40B4-BE49-F238E27FC236}">
                <a16:creationId xmlns:a16="http://schemas.microsoft.com/office/drawing/2014/main" id="{64E88961-5CEB-9CC4-09C7-D1E23BA831E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7492046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8156-9B97-A56A-F95E-F18B51FA52B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BF1865F-9A22-5ADC-367A-A0027E3719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010E08E-9BFD-CC32-6DCB-B2A39CC3D45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239FD46-2483-636B-C23E-82F36B5784A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C552C05-6980-9D9F-9EC7-777F46D9943B}"/>
              </a:ext>
            </a:extLst>
          </p:cNvPr>
          <p:cNvSpPr/>
          <p:nvPr/>
        </p:nvSpPr>
        <p:spPr bwMode="auto">
          <a:xfrm>
            <a:off x="251520" y="2234915"/>
            <a:ext cx="8640960"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DCB8D050-B2D9-1373-EA72-0204578DE78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/tmp/ipython-input-1329050775.py:2: FutureWarning: Passing `palette` without assigning `hue` is deprecated and will be removed in v0.14.0. Assign the `x` variable to `hue` and set `legend=False` for the same effect. sns.barplot(x='fbs', y='chol', data=df, palette='Set3')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273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1981D37-1993-A0D6-CA99-89FE33616737}"/>
              </a:ext>
            </a:extLst>
          </p:cNvPr>
          <p:cNvSpPr txBox="1"/>
          <p:nvPr/>
        </p:nvSpPr>
        <p:spPr>
          <a:xfrm>
            <a:off x="395536" y="2702623"/>
            <a:ext cx="8609977" cy="3139321"/>
          </a:xfrm>
          <a:prstGeom prst="rect">
            <a:avLst/>
          </a:prstGeom>
          <a:noFill/>
        </p:spPr>
        <p:txBody>
          <a:bodyPr wrap="square" rtlCol="0">
            <a:spAutoFit/>
          </a:bodyPr>
          <a:lstStyle/>
          <a:p>
            <a:pPr algn="l" rtl="0"/>
            <a:endParaRPr lang="en-US" sz="2000" dirty="0">
              <a:solidFill>
                <a:srgbClr val="0C0D03"/>
              </a:solidFill>
              <a:latin typeface="Times New Roman" panose="02020603050405020304" pitchFamily="18" charset="0"/>
              <a:cs typeface="Times New Roman" panose="02020603050405020304" pitchFamily="18" charset="0"/>
            </a:endParaRPr>
          </a:p>
          <a:p>
            <a:pPr algn="l" rtl="0"/>
            <a:r>
              <a:rPr lang="en-US" sz="2000" b="1" dirty="0">
                <a:solidFill>
                  <a:srgbClr val="0C0D03"/>
                </a:solidFill>
                <a:latin typeface="Times New Roman" panose="02020603050405020304" pitchFamily="18" charset="0"/>
                <a:cs typeface="Times New Roman" panose="02020603050405020304" pitchFamily="18" charset="0"/>
              </a:rPr>
              <a:t>Key Observations:</a:t>
            </a:r>
          </a:p>
          <a:p>
            <a:pPr algn="l" rtl="0"/>
            <a:r>
              <a:rPr lang="en-US" sz="2000" dirty="0">
                <a:solidFill>
                  <a:srgbClr val="0C0D03"/>
                </a:solidFill>
                <a:latin typeface="Times New Roman" panose="02020603050405020304" pitchFamily="18" charset="0"/>
                <a:cs typeface="Times New Roman" panose="02020603050405020304" pitchFamily="18" charset="0"/>
              </a:rPr>
              <a:t>Patients with elevated fasting blood sugar (</a:t>
            </a:r>
            <a:r>
              <a:rPr lang="en-US" sz="2000" dirty="0" err="1">
                <a:solidFill>
                  <a:srgbClr val="0C0D03"/>
                </a:solidFill>
                <a:latin typeface="Times New Roman" panose="02020603050405020304" pitchFamily="18" charset="0"/>
                <a:cs typeface="Times New Roman" panose="02020603050405020304" pitchFamily="18" charset="0"/>
              </a:rPr>
              <a:t>fbs</a:t>
            </a:r>
            <a:r>
              <a:rPr lang="en-US" sz="2000" dirty="0">
                <a:solidFill>
                  <a:srgbClr val="0C0D03"/>
                </a:solidFill>
                <a:latin typeface="Times New Roman" panose="02020603050405020304" pitchFamily="18" charset="0"/>
                <a:cs typeface="Times New Roman" panose="02020603050405020304" pitchFamily="18" charset="0"/>
              </a:rPr>
              <a:t> = True) tend to have a slightly higher average cholesterol level compared to those with normal fasting blood sugar.</a:t>
            </a:r>
          </a:p>
          <a:p>
            <a:pPr algn="l" rtl="0"/>
            <a:r>
              <a:rPr lang="en-US" sz="2000" dirty="0">
                <a:solidFill>
                  <a:srgbClr val="0C0D03"/>
                </a:solidFill>
                <a:latin typeface="Times New Roman" panose="02020603050405020304" pitchFamily="18" charset="0"/>
                <a:cs typeface="Times New Roman" panose="02020603050405020304" pitchFamily="18" charset="0"/>
              </a:rPr>
              <a:t>Although the difference is not extremely large, it suggests a positive association between high blood sugar and higher cholesterol levels.</a:t>
            </a:r>
          </a:p>
          <a:p>
            <a:pPr algn="l" rtl="0"/>
            <a:r>
              <a:rPr lang="en-US" sz="2000" dirty="0">
                <a:solidFill>
                  <a:srgbClr val="0C0D03"/>
                </a:solidFill>
                <a:latin typeface="Times New Roman" panose="02020603050405020304" pitchFamily="18" charset="0"/>
                <a:cs typeface="Times New Roman" panose="02020603050405020304" pitchFamily="18" charset="0"/>
              </a:rPr>
              <a:t>The overlap in confidence intervals indicates that cholesterol alone may not fully separate the two groups.</a:t>
            </a:r>
          </a:p>
          <a:p>
            <a:pPr algn="l" rtl="0"/>
            <a:endParaRPr lang="en-US" dirty="0"/>
          </a:p>
        </p:txBody>
      </p:sp>
      <p:pic>
        <p:nvPicPr>
          <p:cNvPr id="7" name="Picture 6">
            <a:extLst>
              <a:ext uri="{FF2B5EF4-FFF2-40B4-BE49-F238E27FC236}">
                <a16:creationId xmlns:a16="http://schemas.microsoft.com/office/drawing/2014/main" id="{63A352E2-F1E7-25A8-DB41-65C0AA2DFA0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98356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A2E8-FA98-73BB-7445-43CA8358961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C02CDCD-A2BD-3D75-463D-A1054C7C2A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BB67AD1-B512-3031-7AEC-9A9815E8F0E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01EE265-5CC1-DD82-E793-C585BF464044}"/>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:15</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8336B9E-8546-D79C-9BDD-DDD10703F172}"/>
              </a:ext>
            </a:extLst>
          </p:cNvPr>
          <p:cNvSpPr/>
          <p:nvPr/>
        </p:nvSpPr>
        <p:spPr bwMode="auto">
          <a:xfrm>
            <a:off x="251520" y="2234915"/>
            <a:ext cx="8640960"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15:</a:t>
            </a: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1304BD2-E0F5-E32F-03E5-6B305CE6CAD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/tmp/ipython-input-1329050775.py:2: FutureWarning: Passing `palette` without assigning `hue` is deprecated and will be removed in v0.14.0. Assign the `x` variable to `hue` and set `legend=False` for the same effect. sns.barplot(x='fbs', y='chol', data=df, palette='Set3')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273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32078D0-C6D0-A47F-30E5-0AD2C0265F45}"/>
              </a:ext>
            </a:extLst>
          </p:cNvPr>
          <p:cNvSpPr txBox="1"/>
          <p:nvPr/>
        </p:nvSpPr>
        <p:spPr>
          <a:xfrm>
            <a:off x="282503" y="2810109"/>
            <a:ext cx="8609977" cy="2523768"/>
          </a:xfrm>
          <a:prstGeom prst="rect">
            <a:avLst/>
          </a:prstGeom>
          <a:noFill/>
        </p:spPr>
        <p:txBody>
          <a:bodyPr wrap="square" rtlCol="0">
            <a:spAutoFit/>
          </a:bodyPr>
          <a:lstStyle/>
          <a:p>
            <a:pPr algn="l" rtl="0"/>
            <a:r>
              <a:rPr lang="en-US" sz="2000" b="1" dirty="0">
                <a:solidFill>
                  <a:srgbClr val="0C0D03"/>
                </a:solidFill>
                <a:latin typeface="Times New Roman" panose="02020603050405020304" pitchFamily="18" charset="0"/>
                <a:cs typeface="Times New Roman" panose="02020603050405020304" pitchFamily="18" charset="0"/>
              </a:rPr>
              <a:t>Relevance to Classification:</a:t>
            </a:r>
          </a:p>
          <a:p>
            <a:pPr algn="l" rtl="0"/>
            <a:r>
              <a:rPr lang="en-US" sz="2000" dirty="0">
                <a:solidFill>
                  <a:srgbClr val="0C0D03"/>
                </a:solidFill>
                <a:latin typeface="Times New Roman" panose="02020603050405020304" pitchFamily="18" charset="0"/>
                <a:cs typeface="Times New Roman" panose="02020603050405020304" pitchFamily="18" charset="0"/>
              </a:rPr>
              <a:t>This visualization highlights the relationship between fasting blood sugar and cholesterol, both of which are known cardiovascular risk factors. While neither feature alone may be sufficient to predict heart disease, their combined effect can improve the performance of a classification model such as Random Forest. This supports the use of multiple clinical features together to achieve more accurate heart disease prediction.</a:t>
            </a:r>
          </a:p>
          <a:p>
            <a:pPr algn="l" rtl="0"/>
            <a:endParaRPr lang="en-US" dirty="0"/>
          </a:p>
        </p:txBody>
      </p:sp>
      <p:pic>
        <p:nvPicPr>
          <p:cNvPr id="7" name="Picture 6">
            <a:extLst>
              <a:ext uri="{FF2B5EF4-FFF2-40B4-BE49-F238E27FC236}">
                <a16:creationId xmlns:a16="http://schemas.microsoft.com/office/drawing/2014/main" id="{BB9B9B80-9CFB-FBA8-A74B-7EC51483A21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4955587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DD11A-16E9-B0FC-3FE9-6DD24F7A68F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B35A269-DECF-08DA-5AD6-DECE5165CB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B532A51-FA02-AC76-22D0-915CBECDC7C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57D6197-E369-88F9-C583-A7E7E7E96E11}"/>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D530398-1ACE-B95C-1FB7-43089E3F6B00}"/>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 Boolean to Numeric Conversion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Converts Boolean values to numeric form for ML models.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9722995-BF54-3D80-2B80-14FB5F54B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521" y="2810109"/>
            <a:ext cx="6887823" cy="1090284"/>
          </a:xfrm>
          <a:prstGeom prst="rect">
            <a:avLst/>
          </a:prstGeom>
        </p:spPr>
      </p:pic>
      <p:pic>
        <p:nvPicPr>
          <p:cNvPr id="5" name="Picture 4">
            <a:extLst>
              <a:ext uri="{FF2B5EF4-FFF2-40B4-BE49-F238E27FC236}">
                <a16:creationId xmlns:a16="http://schemas.microsoft.com/office/drawing/2014/main" id="{DD7C31BA-E5FB-177E-3750-99E7AE6B120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691071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9705A-FA7D-1A32-1A66-F798356B0AA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4570717-27A5-AA0E-4F65-263AA125A8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22E1615-EAD1-7E22-2CD9-18E887F8A89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62236517-7C63-2F1B-21C8-7E01517AB49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E4AB4DC-13CF-97A2-888F-FC836063E768}"/>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countplot</a:t>
            </a:r>
            <a:r>
              <a:rPr lang="en-US" sz="2000" dirty="0">
                <a:solidFill>
                  <a:srgbClr val="0C0D03"/>
                </a:solidFill>
                <a:latin typeface="Times New Roman" panose="02020603050405020304" pitchFamily="18" charset="0"/>
                <a:cs typeface="Times New Roman" panose="02020603050405020304" pitchFamily="18" charset="0"/>
              </a:rPr>
              <a:t> shows the number of observations (counts) for each category.</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It is used for categorical data only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err="1">
                <a:solidFill>
                  <a:srgbClr val="0C0D03"/>
                </a:solidFill>
                <a:latin typeface="Times New Roman" panose="02020603050405020304" pitchFamily="18" charset="0"/>
                <a:cs typeface="Times New Roman" panose="02020603050405020304" pitchFamily="18" charset="0"/>
              </a:rPr>
              <a:t>thal</a:t>
            </a:r>
            <a:r>
              <a:rPr lang="en-US" sz="2000" b="1" dirty="0">
                <a:solidFill>
                  <a:srgbClr val="0C0D03"/>
                </a:solidFill>
                <a:latin typeface="Times New Roman" panose="02020603050405020304" pitchFamily="18" charset="0"/>
                <a:cs typeface="Times New Roman" panose="02020603050405020304" pitchFamily="18" charset="0"/>
              </a:rPr>
              <a:t> represents thalassemia / stress test result:</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This is a categorical feature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Values represent different test outcomes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Appears on the x-</a:t>
            </a:r>
            <a:r>
              <a:rPr lang="en-US" sz="2000" b="1" dirty="0" err="1">
                <a:solidFill>
                  <a:srgbClr val="0C0D03"/>
                </a:solidFill>
                <a:latin typeface="Times New Roman" panose="02020603050405020304" pitchFamily="18" charset="0"/>
                <a:cs typeface="Times New Roman" panose="02020603050405020304" pitchFamily="18" charset="0"/>
              </a:rPr>
              <a:t>axi</a:t>
            </a: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FA2E566-0E61-5A55-C87E-766A7365B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950016"/>
            <a:ext cx="7155211" cy="608338"/>
          </a:xfrm>
          <a:prstGeom prst="rect">
            <a:avLst/>
          </a:prstGeom>
        </p:spPr>
      </p:pic>
      <p:pic>
        <p:nvPicPr>
          <p:cNvPr id="5" name="Picture 4">
            <a:extLst>
              <a:ext uri="{FF2B5EF4-FFF2-40B4-BE49-F238E27FC236}">
                <a16:creationId xmlns:a16="http://schemas.microsoft.com/office/drawing/2014/main" id="{242AF134-BB5A-B922-0B78-1141311C1B5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07615242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53380-0AEF-238B-2E29-4C19B99B2DD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6419301-4771-4705-5FAA-D8C96618F1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061B885-F72A-A7D0-2421-0BCE65F2982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DC68933-CB2B-9706-5E2F-FF512C83B29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FDE815A-7573-CC83-4CB1-34FB08B61E84}"/>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hue='sex’ :</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sex divides the data into subgroups: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0 → Female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1 → Male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Bars are split by sex, shown in different colors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a:t>
            </a:r>
            <a:r>
              <a:rPr lang="en-US" sz="2000" b="1" dirty="0" err="1">
                <a:solidFill>
                  <a:srgbClr val="0C0D03"/>
                </a:solidFill>
                <a:latin typeface="Times New Roman" panose="02020603050405020304" pitchFamily="18" charset="0"/>
                <a:cs typeface="Times New Roman" panose="02020603050405020304" pitchFamily="18" charset="0"/>
              </a:rPr>
              <a:t>df</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err="1">
                <a:solidFill>
                  <a:srgbClr val="0C0D03"/>
                </a:solidFill>
                <a:latin typeface="Times New Roman" panose="02020603050405020304" pitchFamily="18" charset="0"/>
                <a:cs typeface="Times New Roman" panose="02020603050405020304" pitchFamily="18" charset="0"/>
              </a:rPr>
              <a:t>df</a:t>
            </a:r>
            <a:r>
              <a:rPr lang="en-US" sz="2000" dirty="0">
                <a:solidFill>
                  <a:srgbClr val="0C0D03"/>
                </a:solidFill>
                <a:latin typeface="Times New Roman" panose="02020603050405020304" pitchFamily="18" charset="0"/>
                <a:cs typeface="Times New Roman" panose="02020603050405020304" pitchFamily="18" charset="0"/>
              </a:rPr>
              <a:t> is the </a:t>
            </a:r>
            <a:r>
              <a:rPr lang="en-US" sz="2000" dirty="0" err="1">
                <a:solidFill>
                  <a:srgbClr val="0C0D03"/>
                </a:solidFill>
                <a:latin typeface="Times New Roman" panose="02020603050405020304" pitchFamily="18" charset="0"/>
                <a:cs typeface="Times New Roman" panose="02020603050405020304" pitchFamily="18" charset="0"/>
              </a:rPr>
              <a:t>DataFrame</a:t>
            </a:r>
            <a:r>
              <a:rPr lang="en-US" sz="2000" dirty="0">
                <a:solidFill>
                  <a:srgbClr val="0C0D03"/>
                </a:solidFill>
                <a:latin typeface="Times New Roman" panose="02020603050405020304" pitchFamily="18" charset="0"/>
                <a:cs typeface="Times New Roman" panose="02020603050405020304" pitchFamily="18" charset="0"/>
              </a:rPr>
              <a:t> containing the dataset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05D3F5C-B9D5-8B74-7D9D-28D52BF5CF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810109"/>
            <a:ext cx="7155211" cy="608338"/>
          </a:xfrm>
          <a:prstGeom prst="rect">
            <a:avLst/>
          </a:prstGeom>
        </p:spPr>
      </p:pic>
      <p:pic>
        <p:nvPicPr>
          <p:cNvPr id="5" name="Picture 4">
            <a:extLst>
              <a:ext uri="{FF2B5EF4-FFF2-40B4-BE49-F238E27FC236}">
                <a16:creationId xmlns:a16="http://schemas.microsoft.com/office/drawing/2014/main" id="{49F61011-D7FE-1F98-B75E-598AE5C21DE3}"/>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214757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AA222-B1AB-3B8E-07BC-49653B7A2B1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6D96E4D-0D3F-FFE9-8E75-DEF5C51C04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4FEAB91-8710-34F9-A866-473FE4720CD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17F4B56-0F1E-FE4C-74D9-797B7240D2A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4B821B5-F4B5-BCF0-FC38-2BF146DE39C7}"/>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palette='Set2’: </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Specifies the color scheme</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Improves readability and presentation quality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34AE80A-C5F6-A5E7-A65A-F6342ADFB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810109"/>
            <a:ext cx="7155211" cy="608338"/>
          </a:xfrm>
          <a:prstGeom prst="rect">
            <a:avLst/>
          </a:prstGeom>
        </p:spPr>
      </p:pic>
      <p:pic>
        <p:nvPicPr>
          <p:cNvPr id="5" name="Picture 4">
            <a:extLst>
              <a:ext uri="{FF2B5EF4-FFF2-40B4-BE49-F238E27FC236}">
                <a16:creationId xmlns:a16="http://schemas.microsoft.com/office/drawing/2014/main" id="{560DE21D-E4AB-C593-48AF-92A65E610FB5}"/>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2019009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6EC55-78BC-4F81-26EC-1594A24F946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2C851FB-E561-A2F8-00F7-5DE2F94957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90500CE-D092-F337-278A-F308981AB10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54C07B7D-5F4F-DB1D-9E8F-B2AC1D556A2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CA21F7E-A0CC-9D49-6474-C4FC97F7C5C1}"/>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146" name="Picture 2">
            <a:extLst>
              <a:ext uri="{FF2B5EF4-FFF2-40B4-BE49-F238E27FC236}">
                <a16:creationId xmlns:a16="http://schemas.microsoft.com/office/drawing/2014/main" id="{B8E4A2CF-769F-5D50-8B7A-09B91A2E7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234915"/>
            <a:ext cx="4993035" cy="39786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13F9611-4CDA-EE60-E485-A283A04C672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250313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BB2CF-664C-51A2-124C-FB86A1BB5B8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BEB55B5-36D3-6EFC-CE48-EA4D9289BE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84BD6DD-26CF-5703-F705-26C1362D815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1B59459-B5A8-DB25-0C78-23F7A813D2C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8986EE6-29BE-59BC-9DEF-DDA529F2B33D}"/>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Adding a Title : </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Adds a descriptive title to the graph</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Clearly explains what the visualization represents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Titles are essential in academic plots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603B50B-FB50-192D-8464-4831E55E0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2810109"/>
            <a:ext cx="6048672" cy="664868"/>
          </a:xfrm>
          <a:prstGeom prst="rect">
            <a:avLst/>
          </a:prstGeom>
        </p:spPr>
      </p:pic>
      <p:pic>
        <p:nvPicPr>
          <p:cNvPr id="5" name="Picture 4">
            <a:extLst>
              <a:ext uri="{FF2B5EF4-FFF2-40B4-BE49-F238E27FC236}">
                <a16:creationId xmlns:a16="http://schemas.microsoft.com/office/drawing/2014/main" id="{4530D9EF-2158-094D-C435-8E1766AA1AB3}"/>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863765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4A92D-047C-BEDC-6B45-7AB477F5C4D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A9C48E6-5FF9-7720-8C16-FB4B39F54F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D072FD8-F008-8E93-1051-4451B27ACBF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8CC19A2-C494-9635-A57B-7A6E0BCD0B78}"/>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D21A37B-8D9A-2D4E-A090-1A041DAE6352}"/>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Labeling the Axes: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X-axis → Thal categories</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Y-axis → Number of patients in each category</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Axis labels improve interpretability.</a:t>
            </a:r>
          </a:p>
        </p:txBody>
      </p:sp>
      <p:pic>
        <p:nvPicPr>
          <p:cNvPr id="6" name="Picture 5">
            <a:extLst>
              <a:ext uri="{FF2B5EF4-FFF2-40B4-BE49-F238E27FC236}">
                <a16:creationId xmlns:a16="http://schemas.microsoft.com/office/drawing/2014/main" id="{3867838F-14AF-5F6C-B039-D4230B694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755784"/>
            <a:ext cx="5232610" cy="802570"/>
          </a:xfrm>
          <a:prstGeom prst="rect">
            <a:avLst/>
          </a:prstGeom>
        </p:spPr>
      </p:pic>
      <p:pic>
        <p:nvPicPr>
          <p:cNvPr id="5" name="Picture 4">
            <a:extLst>
              <a:ext uri="{FF2B5EF4-FFF2-40B4-BE49-F238E27FC236}">
                <a16:creationId xmlns:a16="http://schemas.microsoft.com/office/drawing/2014/main" id="{5384F7B7-DF0F-2454-A486-A4C90B84047A}"/>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378583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A4EE-C250-FD72-91F8-EE41C2E284B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08224F0-C60B-BEF5-226A-CF22D72E63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5B23DA2-5FD5-60DE-9C45-5AA90376A91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FE84E18-C797-C813-9512-DE1E9BC2207D}"/>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EF14A76-F679-354B-970B-BF73313002A2}"/>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Adding a Legend:</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Displays a legend showing:</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Male vs Female categories</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Helps distinguish the colored bars</a:t>
            </a:r>
          </a:p>
        </p:txBody>
      </p:sp>
      <p:pic>
        <p:nvPicPr>
          <p:cNvPr id="7" name="Picture 6">
            <a:extLst>
              <a:ext uri="{FF2B5EF4-FFF2-40B4-BE49-F238E27FC236}">
                <a16:creationId xmlns:a16="http://schemas.microsoft.com/office/drawing/2014/main" id="{C89CE2D8-4C7F-9746-BCFF-0E13BBB8B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841521"/>
            <a:ext cx="5616624" cy="741819"/>
          </a:xfrm>
          <a:prstGeom prst="rect">
            <a:avLst/>
          </a:prstGeom>
        </p:spPr>
      </p:pic>
      <p:pic>
        <p:nvPicPr>
          <p:cNvPr id="5" name="Picture 4">
            <a:extLst>
              <a:ext uri="{FF2B5EF4-FFF2-40B4-BE49-F238E27FC236}">
                <a16:creationId xmlns:a16="http://schemas.microsoft.com/office/drawing/2014/main" id="{27DDEFC2-8E79-41C3-4A1A-0B7EC3D851D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1124712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3DB0-21D1-E0C5-75B1-ED5D70E546C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2AC66F2-FC5F-EBB0-EEDF-06D5478240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2B00042-8C99-92EF-3121-1E2D2502110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367D2FFD-D079-3470-AC7B-9A227A02937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:16</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DCD7786-2EB1-FF51-F635-B652669614C5}"/>
              </a:ext>
            </a:extLst>
          </p:cNvPr>
          <p:cNvSpPr/>
          <p:nvPr/>
        </p:nvSpPr>
        <p:spPr bwMode="auto">
          <a:xfrm>
            <a:off x="419510" y="2234915"/>
            <a:ext cx="831332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16:</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Displaying the Plot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Explanation: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Renders the plot on the screen</a:t>
            </a:r>
          </a:p>
          <a:p>
            <a:pPr lvl="1" algn="just" rtl="0" fontAlgn="base">
              <a:lnSpc>
                <a:spcPts val="3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Without this line, the graph may not appear</a:t>
            </a:r>
          </a:p>
        </p:txBody>
      </p:sp>
      <p:pic>
        <p:nvPicPr>
          <p:cNvPr id="6" name="Picture 5">
            <a:extLst>
              <a:ext uri="{FF2B5EF4-FFF2-40B4-BE49-F238E27FC236}">
                <a16:creationId xmlns:a16="http://schemas.microsoft.com/office/drawing/2014/main" id="{9CDFAE62-A7C4-5187-2C8E-7DF962FA8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840589"/>
            <a:ext cx="5184576" cy="779635"/>
          </a:xfrm>
          <a:prstGeom prst="rect">
            <a:avLst/>
          </a:prstGeom>
        </p:spPr>
      </p:pic>
      <p:pic>
        <p:nvPicPr>
          <p:cNvPr id="5" name="Picture 4">
            <a:extLst>
              <a:ext uri="{FF2B5EF4-FFF2-40B4-BE49-F238E27FC236}">
                <a16:creationId xmlns:a16="http://schemas.microsoft.com/office/drawing/2014/main" id="{00238C6E-ABEC-EF3C-AC8B-EC0D241862C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2947324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1DE6-9DC5-2475-EA63-074B9B67E0D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35D1FA5-FFE5-7839-5397-C2DBDBD2AA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1695D78-DEE2-4862-2D4D-66DD89F3D0D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03629F6-E752-8BF1-F584-FBD1C38EA7F7}"/>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:17</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4F8E272-449D-9C46-0694-135156324DF0}"/>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17: Correlation Heatmap</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Explanation: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Shows correlation between important numerical features.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Helps identify strong relationships.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Purpose:</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Feature understanding before classification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9EFCE15-FF46-2DE9-86B2-969C1E122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930198"/>
            <a:ext cx="8458773" cy="930850"/>
          </a:xfrm>
          <a:prstGeom prst="rect">
            <a:avLst/>
          </a:prstGeom>
        </p:spPr>
      </p:pic>
      <p:pic>
        <p:nvPicPr>
          <p:cNvPr id="5" name="Picture 4">
            <a:extLst>
              <a:ext uri="{FF2B5EF4-FFF2-40B4-BE49-F238E27FC236}">
                <a16:creationId xmlns:a16="http://schemas.microsoft.com/office/drawing/2014/main" id="{3A2770ED-0D93-0B61-CBAD-A87FA005F68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4129481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4520-3BEC-8EB9-1409-DDDB622EE1F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C0E5B44-52B2-4621-9BB2-B1E06D7233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58EE1FB-0245-94C9-6772-9C2312E3FE0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58F8E10-8AF8-317B-28EB-6E405B6B8AEE}"/>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:17</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E3F9D75-FC10-D811-49EA-DEB15AE2094A}"/>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17: Correlation Heatmap</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D34E6FF6-F41E-E22B-E523-E193474F9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179" y="2427142"/>
            <a:ext cx="4187986" cy="381959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3897F21-1B66-EA1E-49FF-83E9B97E706A}"/>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76349741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98BEB-1C21-4FF0-BF8C-60EB9207E81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BF362C4-A510-3C3B-397E-3409A5D8D5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F379878-DED7-384D-C5B0-5A593B19528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2BF84E0-8739-740B-9572-F8B0E8E50481}"/>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:18</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D5A3CC0-5E43-B6BC-099E-15D6A92B435B}"/>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18: STEP 18: Define Features and Target (Classification Setup)</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this considers: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y → class label (0 = no disease, 1 = disease)</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X → medical features used for prediction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B0793FA-6CA0-A00E-C8E0-469BEC8EB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440" y="2852936"/>
            <a:ext cx="5801535" cy="1819529"/>
          </a:xfrm>
          <a:prstGeom prst="rect">
            <a:avLst/>
          </a:prstGeom>
        </p:spPr>
      </p:pic>
      <p:pic>
        <p:nvPicPr>
          <p:cNvPr id="5" name="Picture 4">
            <a:extLst>
              <a:ext uri="{FF2B5EF4-FFF2-40B4-BE49-F238E27FC236}">
                <a16:creationId xmlns:a16="http://schemas.microsoft.com/office/drawing/2014/main" id="{BF678F96-22B7-2938-862E-B0FB48A89B3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9755354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4D7F8-813B-99F1-9794-EB9F9B157BB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24F7FFF-9A8A-C3B6-4B9E-711B2B07A9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56580EB-8384-269B-B71A-196B84663D0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1405EF11-787B-4646-535A-AED4DC9D2D0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:18</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A6BD642-5756-FC9E-F9F9-6781889948E2}"/>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19: Train–Test Split</a:t>
            </a:r>
          </a:p>
          <a:p>
            <a:pPr marL="0" marR="0" indent="0" algn="just" defTabSz="914400" rtl="0" eaLnBrk="1" fontAlgn="base" latinLnBrk="0" hangingPunct="1">
              <a:lnSpc>
                <a:spcPts val="3000"/>
              </a:lnSpc>
              <a:spcBef>
                <a:spcPct val="0"/>
              </a:spcBef>
              <a:spcAft>
                <a:spcPct val="0"/>
              </a:spcAft>
              <a:buClrTx/>
              <a:buSzTx/>
              <a:buFontTx/>
              <a:buNone/>
              <a:tabLst/>
            </a:pPr>
            <a:endParaRPr lang="en-US" sz="24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this considers: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70% training data</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30% testing data</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stratify=y keeps class balance</a:t>
            </a:r>
          </a:p>
          <a:p>
            <a:pPr marL="0" marR="0" indent="0" algn="just" defTabSz="914400" rtl="0" eaLnBrk="1" fontAlgn="base" latinLnBrk="0" hangingPunct="1">
              <a:lnSpc>
                <a:spcPts val="3000"/>
              </a:lnSpc>
              <a:spcBef>
                <a:spcPct val="0"/>
              </a:spcBef>
              <a:spcAft>
                <a:spcPct val="0"/>
              </a:spcAft>
              <a:buClrTx/>
              <a:buSzTx/>
              <a:buFontTx/>
              <a:buNone/>
              <a:tabLst/>
            </a:pPr>
            <a:endParaRPr lang="en-US" sz="24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 </a:t>
            </a:r>
            <a:r>
              <a:rPr lang="en-US" sz="2400" b="1" dirty="0" err="1">
                <a:solidFill>
                  <a:srgbClr val="0C0D03"/>
                </a:solidFill>
                <a:latin typeface="Times New Roman" panose="02020603050405020304" pitchFamily="18" charset="0"/>
                <a:cs typeface="Times New Roman" panose="02020603050405020304" pitchFamily="18" charset="0"/>
              </a:rPr>
              <a:t>Purpose:</a:t>
            </a:r>
            <a:r>
              <a:rPr lang="en-US" sz="2400" dirty="0" err="1">
                <a:solidFill>
                  <a:srgbClr val="0C0D03"/>
                </a:solidFill>
                <a:latin typeface="Times New Roman" panose="02020603050405020304" pitchFamily="18" charset="0"/>
                <a:cs typeface="Times New Roman" panose="02020603050405020304" pitchFamily="18" charset="0"/>
              </a:rPr>
              <a:t>To</a:t>
            </a:r>
            <a:r>
              <a:rPr lang="en-US" sz="2400" dirty="0">
                <a:solidFill>
                  <a:srgbClr val="0C0D03"/>
                </a:solidFill>
                <a:latin typeface="Times New Roman" panose="02020603050405020304" pitchFamily="18" charset="0"/>
                <a:cs typeface="Times New Roman" panose="02020603050405020304" pitchFamily="18" charset="0"/>
              </a:rPr>
              <a:t> evaluate the model on unseen data</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065939-7E43-C6DD-0B2F-26E462855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1960" y="2234915"/>
            <a:ext cx="4384675" cy="2732713"/>
          </a:xfrm>
          <a:prstGeom prst="rect">
            <a:avLst/>
          </a:prstGeom>
        </p:spPr>
      </p:pic>
      <p:pic>
        <p:nvPicPr>
          <p:cNvPr id="5" name="Picture 4">
            <a:extLst>
              <a:ext uri="{FF2B5EF4-FFF2-40B4-BE49-F238E27FC236}">
                <a16:creationId xmlns:a16="http://schemas.microsoft.com/office/drawing/2014/main" id="{EDD4CD6A-37CC-5286-2610-886E59052F8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0399849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A917C-E262-90D0-5C48-0FB85B3CAE7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F835B53-7B98-969F-589A-330278088D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4616A7F-48A0-E34B-5FC3-861B26DC63E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D1A232C-FC11-7DB9-299E-0B7CBCA1E21A}"/>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:20</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B8CFFDA-F190-2DD8-9F10-D50BB6429AFC}"/>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20: Feature Scaling (Recommended)</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this considers: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Different feature scales (e.g., age vs cholesterol)</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Improves model stability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B23483F-27FD-4395-6A13-F8C6057C4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162" y="2959536"/>
            <a:ext cx="7627254" cy="1752848"/>
          </a:xfrm>
          <a:prstGeom prst="rect">
            <a:avLst/>
          </a:prstGeom>
        </p:spPr>
      </p:pic>
      <p:pic>
        <p:nvPicPr>
          <p:cNvPr id="5" name="Picture 4">
            <a:extLst>
              <a:ext uri="{FF2B5EF4-FFF2-40B4-BE49-F238E27FC236}">
                <a16:creationId xmlns:a16="http://schemas.microsoft.com/office/drawing/2014/main" id="{EF3219E0-90AE-33BA-0DDF-4A5C5BE7929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2243164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6B2EC-23D7-8962-6507-F4687CDB52A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E5CFB77-CDBD-B9FA-932F-D8E9A361CC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7688781-C365-8B38-6872-B7A655D94B3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8C23775-0A22-8B6F-2956-B716D89556FB}"/>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:21</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3FE0E17-61EE-A7C3-179B-A313E3BA7867}"/>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21: Model Training (Random Forest Classifier)</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this considers: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Ensemble learning</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Reduces overfitting</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Suitable for medical classification</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This is the actual classification model.</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C6D1C16-78B8-4590-54D2-742B868654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383" y="2871749"/>
            <a:ext cx="3724455" cy="3168352"/>
          </a:xfrm>
          <a:prstGeom prst="rect">
            <a:avLst/>
          </a:prstGeom>
        </p:spPr>
      </p:pic>
      <p:pic>
        <p:nvPicPr>
          <p:cNvPr id="5" name="Picture 4">
            <a:extLst>
              <a:ext uri="{FF2B5EF4-FFF2-40B4-BE49-F238E27FC236}">
                <a16:creationId xmlns:a16="http://schemas.microsoft.com/office/drawing/2014/main" id="{704E2976-E634-FFBB-D3E8-2FF0BA819596}"/>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6998737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9E52A-3381-4219-1243-B5B7BCFB742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FDCD2BA-E123-E636-EBCE-E8B70E41C8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1AF0D70-AC0F-5532-5266-1DE7D980D4E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08B04914-DE98-3BFC-A848-88CAE1091575}"/>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0FEFD85-BC5B-BA5F-7178-1EAE2FCB65BF}"/>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22: Prediction</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What this does: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Predicts heart disease class for test patients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33D8842-9FF0-C945-2C57-54021CB15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161" y="2832205"/>
            <a:ext cx="6719105" cy="956835"/>
          </a:xfrm>
          <a:prstGeom prst="rect">
            <a:avLst/>
          </a:prstGeom>
        </p:spPr>
      </p:pic>
      <p:pic>
        <p:nvPicPr>
          <p:cNvPr id="5" name="Picture 4">
            <a:extLst>
              <a:ext uri="{FF2B5EF4-FFF2-40B4-BE49-F238E27FC236}">
                <a16:creationId xmlns:a16="http://schemas.microsoft.com/office/drawing/2014/main" id="{59E0AF97-4199-B934-34B4-FD3F4BFAE91C}"/>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2251904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DC02-54CA-3EDE-C0FB-C938C33D70C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E7FE3F0-068F-15C2-11AD-CB91AE25E3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3766045-27D2-D1AF-187B-3DF71991DEC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2AA3AF95-493F-4750-E105-E768B74EAC6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49B5A5D-0AFB-33A3-8BF4-995E71A20067}"/>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23: Model Evaluation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Accuracy:</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Accuracy shows how many predictions were correct</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Model Accuracy: 0.8840579710144928</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F5B167-EC60-E684-E1A1-AB4530C8A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706" y="3148177"/>
            <a:ext cx="5863486" cy="1774081"/>
          </a:xfrm>
          <a:prstGeom prst="rect">
            <a:avLst/>
          </a:prstGeom>
        </p:spPr>
      </p:pic>
      <p:pic>
        <p:nvPicPr>
          <p:cNvPr id="5" name="Picture 4">
            <a:extLst>
              <a:ext uri="{FF2B5EF4-FFF2-40B4-BE49-F238E27FC236}">
                <a16:creationId xmlns:a16="http://schemas.microsoft.com/office/drawing/2014/main" id="{EF1A3CE9-BC38-42BA-E721-64DC0357F12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9973770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80FF2-864A-9FBB-AB05-67345D4ED69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16DDACF-25AA-0159-A13F-414C978797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AA8A575-3405-ED39-0570-4CB7A847609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910CF9F-C7C9-16C5-76AA-C37EB810D3E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2C31A2A-D7B7-3FF9-5C57-CD787C424ECE}"/>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23: Model Evaluation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Confusion Matrix:</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Explains:</a:t>
            </a:r>
          </a:p>
          <a:p>
            <a:pPr marL="0" marR="0" indent="0" algn="just" defTabSz="914400" rtl="0" eaLnBrk="1" fontAlgn="base" latinLnBrk="0" hangingPunct="1">
              <a:lnSpc>
                <a:spcPts val="3000"/>
              </a:lnSpc>
              <a:spcBef>
                <a:spcPct val="0"/>
              </a:spcBef>
              <a:spcAft>
                <a:spcPct val="0"/>
              </a:spcAft>
              <a:buClrTx/>
              <a:buSzTx/>
              <a:buFontTx/>
              <a:buNone/>
              <a:tabLst/>
            </a:pPr>
            <a:r>
              <a:rPr lang="en-US" sz="2400" dirty="0">
                <a:solidFill>
                  <a:srgbClr val="0C0D03"/>
                </a:solidFill>
                <a:latin typeface="Times New Roman" panose="02020603050405020304" pitchFamily="18" charset="0"/>
                <a:cs typeface="Times New Roman" panose="02020603050405020304" pitchFamily="18" charset="0"/>
              </a:rPr>
              <a:t>True Positives-True Negatives-False Positives-False Negatives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769E395-CE57-2297-5430-73854221D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161" y="3281723"/>
            <a:ext cx="5789263" cy="1803461"/>
          </a:xfrm>
          <a:prstGeom prst="rect">
            <a:avLst/>
          </a:prstGeom>
        </p:spPr>
      </p:pic>
      <p:pic>
        <p:nvPicPr>
          <p:cNvPr id="5" name="Picture 4">
            <a:extLst>
              <a:ext uri="{FF2B5EF4-FFF2-40B4-BE49-F238E27FC236}">
                <a16:creationId xmlns:a16="http://schemas.microsoft.com/office/drawing/2014/main" id="{C568CB64-F945-EE77-321A-1C44546CC8B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916809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7EFE3-2693-8F0B-2309-7FC4D9E8E9D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8952138-E13C-2E9D-635B-D7A2A68B31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77A5E34-7DC6-956D-BC42-319C72EF11D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A00C794-3F9F-0095-37F5-CD4C3242210C}"/>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8E53C28-642F-538B-F05F-877C7501567F}"/>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23: Model Evaluation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Confusion Matrix:</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fr-FR" sz="2400" b="1" dirty="0">
                <a:solidFill>
                  <a:srgbClr val="0C0D03"/>
                </a:solidFill>
                <a:latin typeface="Times New Roman" panose="02020603050405020304" pitchFamily="18" charset="0"/>
                <a:cs typeface="Times New Roman" panose="02020603050405020304" pitchFamily="18" charset="0"/>
              </a:rPr>
              <a:t>Confusion Matrix: [[104  19] </a:t>
            </a:r>
          </a:p>
          <a:p>
            <a:pPr marL="0" marR="0" indent="0" algn="just" defTabSz="914400" rtl="0" eaLnBrk="1" fontAlgn="base" latinLnBrk="0" hangingPunct="1">
              <a:lnSpc>
                <a:spcPts val="3000"/>
              </a:lnSpc>
              <a:spcBef>
                <a:spcPct val="0"/>
              </a:spcBef>
              <a:spcAft>
                <a:spcPct val="0"/>
              </a:spcAft>
              <a:buClrTx/>
              <a:buSzTx/>
              <a:buFontTx/>
              <a:buNone/>
              <a:tabLst/>
            </a:pPr>
            <a:r>
              <a:rPr lang="fr-FR" sz="2400" b="1" dirty="0">
                <a:solidFill>
                  <a:srgbClr val="0C0D03"/>
                </a:solidFill>
                <a:latin typeface="Times New Roman" panose="02020603050405020304" pitchFamily="18" charset="0"/>
                <a:cs typeface="Times New Roman" panose="02020603050405020304" pitchFamily="18" charset="0"/>
              </a:rPr>
              <a:t>                                 [ 13 140]]</a:t>
            </a: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958C57C-93C0-49DB-8654-B06D4775195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929548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737BA-25D6-8CE3-9873-3F097F164EE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7F97521-96B6-485C-07E4-4F085AE851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8D43E47-AA7F-0C94-A375-C529330F21B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F413722D-A7E1-636F-B043-5D389DDEC036}"/>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69F9431-CBF7-DEA5-2BD4-6DBDB910ECBB}"/>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23: Model Evaluation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Classification Report (Recommended)</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Includes: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Precision</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Recall</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F1-score</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C438262-BE4F-5A02-603A-8853F3038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162" y="3135981"/>
            <a:ext cx="6705601" cy="1468381"/>
          </a:xfrm>
          <a:prstGeom prst="rect">
            <a:avLst/>
          </a:prstGeom>
        </p:spPr>
      </p:pic>
      <p:pic>
        <p:nvPicPr>
          <p:cNvPr id="5" name="Picture 4">
            <a:extLst>
              <a:ext uri="{FF2B5EF4-FFF2-40B4-BE49-F238E27FC236}">
                <a16:creationId xmlns:a16="http://schemas.microsoft.com/office/drawing/2014/main" id="{9CA0B0FB-5BA4-D755-5528-150074483C63}"/>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0586692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E85A-1822-D8E8-A775-190F61F0934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7736302-161A-D59A-1F81-41C2FEE3DC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1BBCA7A-3397-702B-29B3-9B8E67000F6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EBB79388-08EC-DF5C-0053-BACB64D2D622}"/>
              </a:ext>
            </a:extLst>
          </p:cNvPr>
          <p:cNvSpPr txBox="1"/>
          <p:nvPr/>
        </p:nvSpPr>
        <p:spPr>
          <a:xfrm>
            <a:off x="1259632" y="1197622"/>
            <a:ext cx="7632848" cy="1323439"/>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Predicting Heart Disease Using Machine Learning</a:t>
            </a:r>
          </a:p>
          <a:p>
            <a:pPr algn="ctr"/>
            <a:r>
              <a:rPr lang="en-US" sz="2800" b="1" dirty="0">
                <a:solidFill>
                  <a:srgbClr val="0C0D03"/>
                </a:solidFill>
                <a:latin typeface="Times New Roman" panose="02020603050405020304" pitchFamily="18" charset="0"/>
                <a:cs typeface="Times New Roman" panose="02020603050405020304" pitchFamily="18" charset="0"/>
              </a:rPr>
              <a:t>Step :22</a:t>
            </a:r>
          </a:p>
          <a:p>
            <a:pPr algn="ctr"/>
            <a:endParaRPr lang="en-US" sz="2800" b="1" dirty="0">
              <a:solidFill>
                <a:srgbClr val="0C0D03"/>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DD8BAB7-DCB2-1D67-6742-5B04279EB395}"/>
              </a:ext>
            </a:extLst>
          </p:cNvPr>
          <p:cNvSpPr/>
          <p:nvPr/>
        </p:nvSpPr>
        <p:spPr bwMode="auto">
          <a:xfrm>
            <a:off x="251520" y="2234915"/>
            <a:ext cx="8481318" cy="407473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23: Model Evaluation</a:t>
            </a:r>
          </a:p>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Classification Report (Recommended)</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DBC4988-AB04-7F81-99B8-6E6A09FD4D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3212976"/>
            <a:ext cx="7400070" cy="2736304"/>
          </a:xfrm>
          <a:prstGeom prst="rect">
            <a:avLst/>
          </a:prstGeom>
        </p:spPr>
      </p:pic>
      <p:pic>
        <p:nvPicPr>
          <p:cNvPr id="5" name="Picture 4">
            <a:extLst>
              <a:ext uri="{FF2B5EF4-FFF2-40B4-BE49-F238E27FC236}">
                <a16:creationId xmlns:a16="http://schemas.microsoft.com/office/drawing/2014/main" id="{B8B36117-941E-BB1A-3C13-57BF520E48A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264372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17F56-6D8E-EFA4-B839-519277C4EA9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EE751E4-0D4C-AA53-CA44-C8433C41B3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50C80C8-B853-A73A-B78F-CE8B6CEE98DF}"/>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4</a:t>
            </a:r>
          </a:p>
        </p:txBody>
      </p:sp>
      <p:sp>
        <p:nvSpPr>
          <p:cNvPr id="3" name="TextBox 2">
            <a:extLst>
              <a:ext uri="{FF2B5EF4-FFF2-40B4-BE49-F238E27FC236}">
                <a16:creationId xmlns:a16="http://schemas.microsoft.com/office/drawing/2014/main" id="{C1BC811A-1C23-26A0-050F-8F50B1CC2DE3}"/>
              </a:ext>
            </a:extLst>
          </p:cNvPr>
          <p:cNvSpPr txBox="1"/>
          <p:nvPr/>
        </p:nvSpPr>
        <p:spPr>
          <a:xfrm>
            <a:off x="755576" y="2828835"/>
            <a:ext cx="7632848" cy="2123658"/>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Summery,conclusions and</a:t>
            </a:r>
          </a:p>
          <a:p>
            <a:pPr algn="ctr"/>
            <a:r>
              <a:rPr lang="en-US" sz="4400" b="1" dirty="0">
                <a:solidFill>
                  <a:srgbClr val="0C0D03"/>
                </a:solidFill>
                <a:latin typeface="Times New Roman" panose="02020603050405020304" pitchFamily="18" charset="0"/>
                <a:cs typeface="Times New Roman" panose="02020603050405020304" pitchFamily="18" charset="0"/>
              </a:rPr>
              <a:t>recommendations</a:t>
            </a:r>
          </a:p>
          <a:p>
            <a:pPr algn="ctr"/>
            <a:r>
              <a:rPr lang="en-US" sz="4400" b="1" dirty="0">
                <a:solidFill>
                  <a:srgbClr val="0C0D03"/>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C50AD242-678F-7D55-1500-B40B3B193F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937787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40C8F-1E6E-5E2D-A2CB-2004A90E9EA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014BDCB-C35B-7B6E-F619-30E63D94E6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E96ECD8-2799-E16B-FE45-0D11528784C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C331E7B-9D7D-9C19-5D01-7C4F2D2A283C}"/>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Advantages: </a:t>
            </a:r>
          </a:p>
        </p:txBody>
      </p:sp>
      <p:sp>
        <p:nvSpPr>
          <p:cNvPr id="4" name="Rectangle: Rounded Corners 3">
            <a:extLst>
              <a:ext uri="{FF2B5EF4-FFF2-40B4-BE49-F238E27FC236}">
                <a16:creationId xmlns:a16="http://schemas.microsoft.com/office/drawing/2014/main" id="{702BFE15-8D2E-4B6E-4496-EB17F828C405}"/>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Mining Based Methods are cost-effective and efficient</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Helps in identifying criminal suspects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Helps in predicting the risk of diseases</a:t>
            </a:r>
          </a:p>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Helps Banks and Financial Institutions to identify defaulters so that they may approve Cards, Loan, etc.</a:t>
            </a:r>
          </a:p>
        </p:txBody>
      </p:sp>
      <p:pic>
        <p:nvPicPr>
          <p:cNvPr id="5" name="Picture 4">
            <a:extLst>
              <a:ext uri="{FF2B5EF4-FFF2-40B4-BE49-F238E27FC236}">
                <a16:creationId xmlns:a16="http://schemas.microsoft.com/office/drawing/2014/main" id="{39DDC352-6498-423F-4935-7FE502AD1B6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2528180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CBB6-BDFE-44CE-9495-5DDCC90647D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C5AC443-1284-1341-29FB-B2A33BC386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7EC9237-3883-5AAF-E791-1BBA47BD240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ACB185A-E485-C82C-FD6F-6FB2D5CEBFD1}"/>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Disadvantages: </a:t>
            </a:r>
          </a:p>
        </p:txBody>
      </p:sp>
      <p:sp>
        <p:nvSpPr>
          <p:cNvPr id="4" name="Rectangle: Rounded Corners 3">
            <a:extLst>
              <a:ext uri="{FF2B5EF4-FFF2-40B4-BE49-F238E27FC236}">
                <a16:creationId xmlns:a16="http://schemas.microsoft.com/office/drawing/2014/main" id="{98AC902A-00EC-1D08-9C42-51E1D5A9F1F1}"/>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Privacy: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r>
              <a:rPr lang="en-US" sz="2000" dirty="0">
                <a:solidFill>
                  <a:srgbClr val="0C0D03"/>
                </a:solidFill>
                <a:latin typeface="Times New Roman" panose="02020603050405020304" pitchFamily="18" charset="0"/>
                <a:cs typeface="Times New Roman" panose="02020603050405020304" pitchFamily="18" charset="0"/>
              </a:rPr>
              <a:t>When the data is either are chances that a company may give some information about their customers to other vendors or use this information for their profit. </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Accuracy Problem: </a:t>
            </a:r>
            <a:r>
              <a:rPr lang="en-US" sz="2000" dirty="0">
                <a:solidFill>
                  <a:srgbClr val="0C0D03"/>
                </a:solidFill>
                <a:latin typeface="Times New Roman" panose="02020603050405020304" pitchFamily="18" charset="0"/>
                <a:cs typeface="Times New Roman" panose="02020603050405020304" pitchFamily="18" charset="0"/>
              </a:rPr>
              <a:t>Selection of Accurate model must be there in order to get the best accuracy and result. </a:t>
            </a:r>
          </a:p>
        </p:txBody>
      </p:sp>
      <p:pic>
        <p:nvPicPr>
          <p:cNvPr id="5" name="Picture 4">
            <a:extLst>
              <a:ext uri="{FF2B5EF4-FFF2-40B4-BE49-F238E27FC236}">
                <a16:creationId xmlns:a16="http://schemas.microsoft.com/office/drawing/2014/main" id="{9BBEBA56-3411-7E78-2A61-6DB79942934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331393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713F-99A1-6101-BC2D-81896542C8E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6A6C66A-809A-69B2-8612-B2EA23F47A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9D02523-A5BC-07F6-A076-DE1E6E78803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1094E8-2D41-B16B-1335-688054818025}"/>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APPLICATIONS: </a:t>
            </a:r>
          </a:p>
        </p:txBody>
      </p:sp>
      <p:sp>
        <p:nvSpPr>
          <p:cNvPr id="4" name="Rectangle: Rounded Corners 3">
            <a:extLst>
              <a:ext uri="{FF2B5EF4-FFF2-40B4-BE49-F238E27FC236}">
                <a16:creationId xmlns:a16="http://schemas.microsoft.com/office/drawing/2014/main" id="{0D7B19A5-D66F-D298-D0CB-51A2A0090021}"/>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 Marketing and Retailing</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Manufacturing</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Telecommunication Industry</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Intrusion Detection</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Education System</a:t>
            </a:r>
          </a:p>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Fraud Detection</a:t>
            </a: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92FEEB-0C13-85CC-9120-394B74AA52D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2439422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2004-DCB6-83A7-9B88-F56099CB17C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2EA6A71-3BD7-B5D1-74D4-9046256C12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DE6621D-FD4A-3C4C-7075-A99B9EE4F8C0}"/>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5</a:t>
            </a:r>
            <a:endPar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A2954E4-D40F-67BC-CBF7-0DE97263145F}"/>
              </a:ext>
            </a:extLst>
          </p:cNvPr>
          <p:cNvSpPr txBox="1"/>
          <p:nvPr/>
        </p:nvSpPr>
        <p:spPr>
          <a:xfrm>
            <a:off x="755576" y="2828835"/>
            <a:ext cx="7632848" cy="1446550"/>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References</a:t>
            </a:r>
          </a:p>
          <a:p>
            <a:pPr algn="ctr"/>
            <a:r>
              <a:rPr lang="en-US" sz="4400" b="1" dirty="0">
                <a:solidFill>
                  <a:srgbClr val="0C0D03"/>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B97D81CD-9161-3B4C-717F-A0767D294DA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3261407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19F0-E73C-40B2-4D1B-9430DCF7839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7BF8C67-65D6-D657-E208-5F0889C032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83C70CE-7882-FA16-E4CE-29D305A54E7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5</a:t>
            </a:r>
          </a:p>
        </p:txBody>
      </p:sp>
      <p:sp>
        <p:nvSpPr>
          <p:cNvPr id="4" name="Rectangle: Rounded Corners 3">
            <a:extLst>
              <a:ext uri="{FF2B5EF4-FFF2-40B4-BE49-F238E27FC236}">
                <a16:creationId xmlns:a16="http://schemas.microsoft.com/office/drawing/2014/main" id="{40F7D133-6AF6-764E-F14C-BAFE39170F5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1.GeeksforGeeks. (n.d.). Classification in data mining. </a:t>
            </a:r>
            <a:r>
              <a:rPr lang="en-US" sz="2000" dirty="0">
                <a:solidFill>
                  <a:srgbClr val="0C0D03"/>
                </a:solidFill>
                <a:latin typeface="Times New Roman" panose="02020603050405020304" pitchFamily="18" charset="0"/>
                <a:cs typeface="Times New Roman" panose="02020603050405020304" pitchFamily="18" charset="0"/>
                <a:hlinkClick r:id="rId2"/>
              </a:rPr>
              <a:t>https://www.geeksforgeeks.org/machine-learning/classification-in-data-mining/</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2. Waskom, M. L. (2021). Seaborn: Statistical data visualization. Journal of Open Source Software, 6(60), 3021.</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hlinkClick r:id="rId3"/>
              </a:rPr>
              <a:t>https://doi.org/10.21105/joss.03021</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3. Hunter, J. D. (2007). Matplotlib: A 2D graphics environment. Computing in Science &amp; Engineering, 9(3), 90–95.</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hlinkClick r:id="rId4"/>
              </a:rPr>
              <a:t>https://doi.org/10.1109/MCSE.2007.55</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4. Kaggle. (2024). Kaggle: Your machine learning and data science community.</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hlinkClick r:id="rId5"/>
              </a:rPr>
              <a:t>https://www.kaggle.com</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5045F44-5485-57F8-3A28-AF5B8C2EEA1A}"/>
              </a:ext>
            </a:extLst>
          </p:cNvPr>
          <p:cNvPicPr>
            <a:picLocks noChangeAspect="1"/>
          </p:cNvPicPr>
          <p:nvPr/>
        </p:nvPicPr>
        <p:blipFill>
          <a:blip r:embed="rId6">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686473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58679-D1F3-07F6-B11A-41917812482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90B4476-3260-49DB-F775-DA83927DF4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9E82CDE-7DB7-0F45-D027-703C2012F71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5</a:t>
            </a:r>
          </a:p>
        </p:txBody>
      </p:sp>
      <p:sp>
        <p:nvSpPr>
          <p:cNvPr id="4" name="Rectangle: Rounded Corners 3">
            <a:extLst>
              <a:ext uri="{FF2B5EF4-FFF2-40B4-BE49-F238E27FC236}">
                <a16:creationId xmlns:a16="http://schemas.microsoft.com/office/drawing/2014/main" id="{2C3BA637-EA8B-EE2F-5091-23FBB953145B}"/>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5. Redwan Karim Sony. (2020). Heart disease dataset [Data set]. Kaggle.</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hlinkClick r:id="rId2"/>
              </a:rPr>
              <a:t>https://www.kaggle.com/datasets/redwankarimsony/heart-disease-data</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6.</a:t>
            </a:r>
            <a:r>
              <a:rPr lang="fr-FR" sz="2000" dirty="0">
                <a:solidFill>
                  <a:srgbClr val="0C0D03"/>
                </a:solidFill>
                <a:latin typeface="Times New Roman" panose="02020603050405020304" pitchFamily="18" charset="0"/>
                <a:cs typeface="Times New Roman" panose="02020603050405020304" pitchFamily="18" charset="0"/>
              </a:rPr>
              <a:t> </a:t>
            </a:r>
            <a:r>
              <a:rPr lang="fr-FR" sz="2000" dirty="0" err="1">
                <a:solidFill>
                  <a:srgbClr val="0C0D03"/>
                </a:solidFill>
                <a:latin typeface="Times New Roman" panose="02020603050405020304" pitchFamily="18" charset="0"/>
                <a:cs typeface="Times New Roman" panose="02020603050405020304" pitchFamily="18" charset="0"/>
              </a:rPr>
              <a:t>OpenAI</a:t>
            </a:r>
            <a:r>
              <a:rPr lang="fr-FR" sz="2000" dirty="0">
                <a:solidFill>
                  <a:srgbClr val="0C0D03"/>
                </a:solidFill>
                <a:latin typeface="Times New Roman" panose="02020603050405020304" pitchFamily="18" charset="0"/>
                <a:cs typeface="Times New Roman" panose="02020603050405020304" pitchFamily="18" charset="0"/>
              </a:rPr>
              <a:t>. (2023). </a:t>
            </a:r>
            <a:r>
              <a:rPr lang="fr-FR" sz="2000" dirty="0" err="1">
                <a:solidFill>
                  <a:srgbClr val="0C0D03"/>
                </a:solidFill>
                <a:latin typeface="Times New Roman" panose="02020603050405020304" pitchFamily="18" charset="0"/>
                <a:cs typeface="Times New Roman" panose="02020603050405020304" pitchFamily="18" charset="0"/>
              </a:rPr>
              <a:t>ChatGPT</a:t>
            </a:r>
            <a:r>
              <a:rPr lang="fr-FR" sz="2000" dirty="0">
                <a:solidFill>
                  <a:srgbClr val="0C0D03"/>
                </a:solidFill>
                <a:latin typeface="Times New Roman" panose="02020603050405020304" pitchFamily="18" charset="0"/>
                <a:cs typeface="Times New Roman" panose="02020603050405020304" pitchFamily="18" charset="0"/>
              </a:rPr>
              <a:t> (GPT-4 version) [Large </a:t>
            </a:r>
            <a:r>
              <a:rPr lang="fr-FR" sz="2000" dirty="0" err="1">
                <a:solidFill>
                  <a:srgbClr val="0C0D03"/>
                </a:solidFill>
                <a:latin typeface="Times New Roman" panose="02020603050405020304" pitchFamily="18" charset="0"/>
                <a:cs typeface="Times New Roman" panose="02020603050405020304" pitchFamily="18" charset="0"/>
              </a:rPr>
              <a:t>language</a:t>
            </a:r>
            <a:r>
              <a:rPr lang="fr-FR" sz="2000" dirty="0">
                <a:solidFill>
                  <a:srgbClr val="0C0D03"/>
                </a:solidFill>
                <a:latin typeface="Times New Roman" panose="02020603050405020304" pitchFamily="18" charset="0"/>
                <a:cs typeface="Times New Roman" panose="02020603050405020304" pitchFamily="18" charset="0"/>
              </a:rPr>
              <a:t> model]. </a:t>
            </a:r>
            <a:r>
              <a:rPr lang="fr-FR" sz="2000" dirty="0">
                <a:solidFill>
                  <a:srgbClr val="0C0D03"/>
                </a:solidFill>
                <a:latin typeface="Times New Roman" panose="02020603050405020304" pitchFamily="18" charset="0"/>
                <a:cs typeface="Times New Roman" panose="02020603050405020304" pitchFamily="18" charset="0"/>
                <a:hlinkClick r:id="rId3"/>
              </a:rPr>
              <a:t>https://chat.openai.com/</a:t>
            </a:r>
            <a:endParaRPr lang="fr-FR"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fr-FR" sz="2000" dirty="0">
                <a:solidFill>
                  <a:srgbClr val="0C0D03"/>
                </a:solidFill>
                <a:latin typeface="Times New Roman" panose="02020603050405020304" pitchFamily="18" charset="0"/>
                <a:cs typeface="Times New Roman" panose="02020603050405020304" pitchFamily="18" charset="0"/>
              </a:rPr>
              <a:t>7. </a:t>
            </a:r>
            <a:r>
              <a:rPr lang="en-US" sz="2000" dirty="0">
                <a:solidFill>
                  <a:srgbClr val="0C0D03"/>
                </a:solidFill>
                <a:latin typeface="Times New Roman" panose="02020603050405020304" pitchFamily="18" charset="0"/>
                <a:cs typeface="Times New Roman" panose="02020603050405020304" pitchFamily="18" charset="0"/>
              </a:rPr>
              <a:t>NumPy Developers. (n.d.). What is NumPy? NumPy documentation. </a:t>
            </a:r>
            <a:r>
              <a:rPr lang="en-US" sz="2000" dirty="0">
                <a:solidFill>
                  <a:srgbClr val="0C0D03"/>
                </a:solidFill>
                <a:latin typeface="Times New Roman" panose="02020603050405020304" pitchFamily="18" charset="0"/>
                <a:cs typeface="Times New Roman" panose="02020603050405020304" pitchFamily="18" charset="0"/>
                <a:hlinkClick r:id="rId4"/>
              </a:rPr>
              <a:t>https://numpy.org/doc/stable/user/whatisnumpy.html</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8. </a:t>
            </a:r>
            <a:r>
              <a:rPr lang="en-US" sz="2000" dirty="0" err="1">
                <a:solidFill>
                  <a:srgbClr val="0C0D03"/>
                </a:solidFill>
                <a:latin typeface="Times New Roman" panose="02020603050405020304" pitchFamily="18" charset="0"/>
                <a:cs typeface="Times New Roman" panose="02020603050405020304" pitchFamily="18" charset="0"/>
              </a:rPr>
              <a:t>GeeksforGeeks</a:t>
            </a:r>
            <a:r>
              <a:rPr lang="en-US" sz="2000" dirty="0">
                <a:solidFill>
                  <a:srgbClr val="0C0D03"/>
                </a:solidFill>
                <a:latin typeface="Times New Roman" panose="02020603050405020304" pitchFamily="18" charset="0"/>
                <a:cs typeface="Times New Roman" panose="02020603050405020304" pitchFamily="18" charset="0"/>
              </a:rPr>
              <a:t>. (2025, December 5). Pandas introduction. </a:t>
            </a:r>
            <a:r>
              <a:rPr lang="en-US" sz="2000" dirty="0" err="1">
                <a:solidFill>
                  <a:srgbClr val="0C0D03"/>
                </a:solidFill>
                <a:latin typeface="Times New Roman" panose="02020603050405020304" pitchFamily="18" charset="0"/>
                <a:cs typeface="Times New Roman" panose="02020603050405020304" pitchFamily="18" charset="0"/>
              </a:rPr>
              <a:t>GeeksforGeeks</a:t>
            </a:r>
            <a:r>
              <a:rPr lang="en-US" sz="2000" dirty="0">
                <a:solidFill>
                  <a:srgbClr val="0C0D03"/>
                </a:solidFill>
                <a:latin typeface="Times New Roman" panose="02020603050405020304" pitchFamily="18" charset="0"/>
                <a:cs typeface="Times New Roman" panose="02020603050405020304" pitchFamily="18" charset="0"/>
              </a:rPr>
              <a:t>. </a:t>
            </a:r>
            <a:r>
              <a:rPr lang="en-US" sz="2000" dirty="0">
                <a:solidFill>
                  <a:srgbClr val="0C0D03"/>
                </a:solidFill>
                <a:latin typeface="Times New Roman" panose="02020603050405020304" pitchFamily="18" charset="0"/>
                <a:cs typeface="Times New Roman" panose="02020603050405020304" pitchFamily="18" charset="0"/>
                <a:hlinkClick r:id="rId5"/>
              </a:rPr>
              <a:t>https://www.geeksforgeeks.org/pandas</a:t>
            </a:r>
            <a:r>
              <a:rPr lang="en-US" sz="2000">
                <a:solidFill>
                  <a:srgbClr val="0C0D03"/>
                </a:solidFill>
                <a:latin typeface="Times New Roman" panose="02020603050405020304" pitchFamily="18" charset="0"/>
                <a:cs typeface="Times New Roman" panose="02020603050405020304" pitchFamily="18" charset="0"/>
                <a:hlinkClick r:id="rId5"/>
              </a:rPr>
              <a:t>/introduction-to-pandas-in-python</a:t>
            </a:r>
            <a:endParaRPr lang="en-US" sz="200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fr-FR"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4CF5A6D-5F24-119F-8967-7E1BBC34CD33}"/>
              </a:ext>
            </a:extLst>
          </p:cNvPr>
          <p:cNvPicPr>
            <a:picLocks noChangeAspect="1"/>
          </p:cNvPicPr>
          <p:nvPr/>
        </p:nvPicPr>
        <p:blipFill>
          <a:blip r:embed="rId6">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53740103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52A4-00A8-18F3-56A8-CD7D1840D06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B06C9D8-96DC-FF6E-F092-F62D9B8E41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D8F367B-F654-3A99-E674-67D51E6862B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5</a:t>
            </a:r>
          </a:p>
        </p:txBody>
      </p:sp>
      <p:sp>
        <p:nvSpPr>
          <p:cNvPr id="4" name="Rectangle: Rounded Corners 3">
            <a:extLst>
              <a:ext uri="{FF2B5EF4-FFF2-40B4-BE49-F238E27FC236}">
                <a16:creationId xmlns:a16="http://schemas.microsoft.com/office/drawing/2014/main" id="{1CF3D45B-C2BB-0692-BFA4-965D973E169A}"/>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9. Pozo Ramos, L. (2025, July 16). </a:t>
            </a:r>
            <a:r>
              <a:rPr lang="en-US" sz="2000" dirty="0" err="1">
                <a:solidFill>
                  <a:srgbClr val="0C0D03"/>
                </a:solidFill>
                <a:latin typeface="Times New Roman" panose="02020603050405020304" pitchFamily="18" charset="0"/>
                <a:cs typeface="Times New Roman" panose="02020603050405020304" pitchFamily="18" charset="0"/>
              </a:rPr>
              <a:t>os</a:t>
            </a:r>
            <a:r>
              <a:rPr lang="en-US" sz="2000" dirty="0">
                <a:solidFill>
                  <a:srgbClr val="0C0D03"/>
                </a:solidFill>
                <a:latin typeface="Times New Roman" panose="02020603050405020304" pitchFamily="18" charset="0"/>
                <a:cs typeface="Times New Roman" panose="02020603050405020304" pitchFamily="18" charset="0"/>
              </a:rPr>
              <a:t> | Python Standard Library (Reference). Real Python. </a:t>
            </a:r>
            <a:r>
              <a:rPr lang="en-US" sz="2000" dirty="0">
                <a:solidFill>
                  <a:srgbClr val="0C0D03"/>
                </a:solidFill>
                <a:latin typeface="Times New Roman" panose="02020603050405020304" pitchFamily="18" charset="0"/>
                <a:cs typeface="Times New Roman" panose="02020603050405020304" pitchFamily="18" charset="0"/>
                <a:hlinkClick r:id="rId2"/>
              </a:rPr>
              <a:t>https://realpython.com/ref/stdlib/os/</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10. Agarwal, G. (2025, April 15). Introduction to Matplotlib using Python for beginners. Analytics Vidhya.</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https://www.analyticsvidhya.com/blog/2021/10/introduction-to-matplotlib-using-python-for-beginners/ Analytics Vidhya</a:t>
            </a: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fr-FR"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081A270-0392-2880-0EF1-5462A03695C7}"/>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085846984"/>
      </p:ext>
    </p:extLst>
  </p:cSld>
  <p:clrMapOvr>
    <a:masterClrMapping/>
  </p:clrMapOvr>
</p:sld>
</file>

<file path=ppt/theme/theme1.xml><?xml version="1.0" encoding="utf-8"?>
<a:theme xmlns:a="http://schemas.openxmlformats.org/drawingml/2006/main" name="mohammadzadeh=biological method">
  <a:themeElements>
    <a:clrScheme name="574TGp_natural_light_ani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fontScheme name="標準報告用">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574TGp_natural_light_ani 1">
        <a:dk1>
          <a:srgbClr val="808080"/>
        </a:dk1>
        <a:lt1>
          <a:srgbClr val="EADCC0"/>
        </a:lt1>
        <a:dk2>
          <a:srgbClr val="F97407"/>
        </a:dk2>
        <a:lt2>
          <a:srgbClr val="E65D00"/>
        </a:lt2>
        <a:accent1>
          <a:srgbClr val="FBCF2D"/>
        </a:accent1>
        <a:accent2>
          <a:srgbClr val="5C8CDA"/>
        </a:accent2>
        <a:accent3>
          <a:srgbClr val="FBBCAA"/>
        </a:accent3>
        <a:accent4>
          <a:srgbClr val="C8BCA4"/>
        </a:accent4>
        <a:accent5>
          <a:srgbClr val="FDE4AD"/>
        </a:accent5>
        <a:accent6>
          <a:srgbClr val="537EC5"/>
        </a:accent6>
        <a:hlink>
          <a:srgbClr val="87D242"/>
        </a:hlink>
        <a:folHlink>
          <a:srgbClr val="DA6478"/>
        </a:folHlink>
      </a:clrScheme>
      <a:clrMap bg1="dk2" tx1="lt1" bg2="dk1" tx2="lt2" accent1="accent1" accent2="accent2" accent3="accent3" accent4="accent4" accent5="accent5" accent6="accent6" hlink="hlink" folHlink="folHlink"/>
    </a:extraClrScheme>
    <a:extraClrScheme>
      <a:clrScheme name="574TGp_natural_light_ani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clrMap bg1="dk2" tx1="lt1" bg2="dk1" tx2="lt2" accent1="accent1" accent2="accent2" accent3="accent3" accent4="accent4" accent5="accent5" accent6="accent6" hlink="hlink" folHlink="folHlink"/>
    </a:extraClrScheme>
    <a:extraClrScheme>
      <a:clrScheme name="574TGp_natural_light_ani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2093</TotalTime>
  <Words>8339</Words>
  <Application>Microsoft Office PowerPoint</Application>
  <PresentationFormat>On-screen Show (4:3)</PresentationFormat>
  <Paragraphs>1398</Paragraphs>
  <Slides>138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138</vt:i4>
      </vt:variant>
    </vt:vector>
  </HeadingPairs>
  <TitlesOfParts>
    <vt:vector size="144" baseType="lpstr">
      <vt:lpstr>SimSun</vt:lpstr>
      <vt:lpstr>Arial</vt:lpstr>
      <vt:lpstr>Arial Unicode MS</vt:lpstr>
      <vt:lpstr>Calibri</vt:lpstr>
      <vt:lpstr>Times New Roman</vt:lpstr>
      <vt:lpstr>mohammadzadeh=biological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محیط زیست</dc:title>
  <dc:creator>MRT Pack 30 DVDs</dc:creator>
  <cp:lastModifiedBy>karnoo</cp:lastModifiedBy>
  <cp:revision>105</cp:revision>
  <dcterms:created xsi:type="dcterms:W3CDTF">2018-12-16T17:55:40Z</dcterms:created>
  <dcterms:modified xsi:type="dcterms:W3CDTF">2025-12-23T20:29:51Z</dcterms:modified>
</cp:coreProperties>
</file>